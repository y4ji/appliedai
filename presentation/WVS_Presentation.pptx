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7C6A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20040" y="0"/>
            <a:ext cx="64008" cy="6858000"/>
          </a:xfrm>
          <a:prstGeom prst="rect">
            <a:avLst/>
          </a:prstGeom>
          <a:solidFill>
            <a:srgbClr val="3FC1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1097280"/>
            <a:ext cx="10058400" cy="45720"/>
          </a:xfrm>
          <a:prstGeom prst="rect">
            <a:avLst/>
          </a:prstGeom>
          <a:solidFill>
            <a:srgbClr val="7C6A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32004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3FC1C9"/>
                </a:solidFill>
              </a:rPr>
              <a:t>MINI DATA SCIENCE PROJECT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234440"/>
            <a:ext cx="105156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 i="0">
                <a:solidFill>
                  <a:srgbClr val="FFFFFF"/>
                </a:solidFill>
              </a:rPr>
              <a:t>Socioeconomic Factors
&amp; Life Satisfaction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3246120"/>
            <a:ext cx="10058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1">
                <a:solidFill>
                  <a:srgbClr val="E0E0E0"/>
                </a:solidFill>
              </a:rPr>
              <a:t>How strongly are income, education, employment, and wealth
associated with life satisfaction?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4206240"/>
            <a:ext cx="10058400" cy="22860"/>
          </a:xfrm>
          <a:prstGeom prst="rect">
            <a:avLst/>
          </a:prstGeom>
          <a:solidFill>
            <a:srgbClr val="3A3D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43434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B0B0B0"/>
                </a:solidFill>
              </a:rPr>
              <a:t>World Values Survey  •  Wave 7 (2017–2020)  •  96,420 Respondents  •  66 Countries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475488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B0B0B0"/>
                </a:solidFill>
              </a:rPr>
              <a:t>Multiple Linear Regression Analysis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7C6A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7C6AF7"/>
                </a:solidFill>
              </a:rPr>
              <a:t>PHASE 1  —  RESEARCH QUESTION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02920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</a:rPr>
              <a:t>What Are We Investigating?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88720"/>
            <a:ext cx="11274552" cy="22860"/>
          </a:xfrm>
          <a:prstGeom prst="rect">
            <a:avLst/>
          </a:prstGeom>
          <a:solidFill>
            <a:srgbClr val="3A3D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325880"/>
            <a:ext cx="11274552" cy="960120"/>
          </a:xfrm>
          <a:prstGeom prst="rect">
            <a:avLst/>
          </a:prstGeom>
          <a:solidFill>
            <a:srgbClr val="1A1D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325880"/>
            <a:ext cx="64008" cy="960120"/>
          </a:xfrm>
          <a:prstGeom prst="rect">
            <a:avLst/>
          </a:prstGeom>
          <a:solidFill>
            <a:srgbClr val="7C6A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389888"/>
            <a:ext cx="107899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 i="1">
                <a:solidFill>
                  <a:srgbClr val="FFFFFF"/>
                </a:solidFill>
              </a:rPr>
              <a:t>“How strongly are income, education, employment, and wealth
associated with life satisfaction?”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2468880"/>
            <a:ext cx="2697480" cy="2103120"/>
          </a:xfrm>
          <a:prstGeom prst="rect">
            <a:avLst/>
          </a:prstGeom>
          <a:solidFill>
            <a:srgbClr val="1A1D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7200" y="2468880"/>
            <a:ext cx="2697480" cy="64008"/>
          </a:xfrm>
          <a:prstGeom prst="rect">
            <a:avLst/>
          </a:prstGeom>
          <a:solidFill>
            <a:srgbClr val="7C6A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66928" y="2542032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7C6AF7"/>
                </a:solidFill>
              </a:rPr>
              <a:t>Income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2926080"/>
            <a:ext cx="24688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0E0E0"/>
                </a:solidFill>
              </a:rPr>
              <a:t>Is higher household income
associated with higher
life satisfaction?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291840" y="2468880"/>
            <a:ext cx="2697480" cy="2103120"/>
          </a:xfrm>
          <a:prstGeom prst="rect">
            <a:avLst/>
          </a:prstGeom>
          <a:solidFill>
            <a:srgbClr val="1A1D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291840" y="2468880"/>
            <a:ext cx="2697480" cy="64008"/>
          </a:xfrm>
          <a:prstGeom prst="rect">
            <a:avLst/>
          </a:prstGeom>
          <a:solidFill>
            <a:srgbClr val="3FC1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401568" y="2542032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3FC1C9"/>
                </a:solidFill>
              </a:rPr>
              <a:t>Education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401568" y="2926080"/>
            <a:ext cx="24688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0E0E0"/>
                </a:solidFill>
              </a:rPr>
              <a:t>Does educational attainment
relate to how satisfied
people report being?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126480" y="2468880"/>
            <a:ext cx="2697480" cy="2103120"/>
          </a:xfrm>
          <a:prstGeom prst="rect">
            <a:avLst/>
          </a:prstGeom>
          <a:solidFill>
            <a:srgbClr val="1A1D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126480" y="2468880"/>
            <a:ext cx="2697480" cy="64008"/>
          </a:xfrm>
          <a:prstGeom prst="rect">
            <a:avLst/>
          </a:prstGeom>
          <a:solidFill>
            <a:srgbClr val="F797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236208" y="2542032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7975A"/>
                </a:solidFill>
              </a:rPr>
              <a:t>Employment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36208" y="2926080"/>
            <a:ext cx="24688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0E0E0"/>
                </a:solidFill>
              </a:rPr>
              <a:t>Does employment status
independently predict
life satisfaction?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961120" y="2468880"/>
            <a:ext cx="2697480" cy="2103120"/>
          </a:xfrm>
          <a:prstGeom prst="rect">
            <a:avLst/>
          </a:prstGeom>
          <a:solidFill>
            <a:srgbClr val="1A1D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961120" y="2468880"/>
            <a:ext cx="2697480" cy="64008"/>
          </a:xfrm>
          <a:prstGeom prst="rect">
            <a:avLst/>
          </a:prstGeom>
          <a:solidFill>
            <a:srgbClr val="5AE6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070848" y="2542032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5AE68A"/>
                </a:solidFill>
              </a:rPr>
              <a:t>Wealth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070848" y="2926080"/>
            <a:ext cx="24688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0E0E0"/>
                </a:solidFill>
              </a:rPr>
              <a:t>Is subjective financial
well-being linked to
overall life satisfaction?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" y="47548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7975A"/>
                </a:solidFill>
              </a:rPr>
              <a:t>⚠  Important: We study ASSOCIATIONS, not causation. This is observational data.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3FC1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3FC1C9"/>
                </a:solidFill>
              </a:rPr>
              <a:t>PHASE 2  —  DATASET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02920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</a:rPr>
              <a:t>World Values Survey — Wave 7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88720"/>
            <a:ext cx="11274552" cy="22860"/>
          </a:xfrm>
          <a:prstGeom prst="rect">
            <a:avLst/>
          </a:prstGeom>
          <a:solidFill>
            <a:srgbClr val="3A3D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325880"/>
            <a:ext cx="2697480" cy="1280160"/>
          </a:xfrm>
          <a:prstGeom prst="rect">
            <a:avLst/>
          </a:prstGeom>
          <a:solidFill>
            <a:srgbClr val="1A1D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389888"/>
            <a:ext cx="2697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7C6AF7"/>
                </a:solidFill>
              </a:rPr>
              <a:t>96,420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965960"/>
            <a:ext cx="2697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B0B0B0"/>
                </a:solidFill>
              </a:rPr>
              <a:t>Respondents
(after cleaning)</a:t>
            </a:r>
          </a:p>
        </p:txBody>
      </p:sp>
      <p:sp>
        <p:nvSpPr>
          <p:cNvPr id="9" name="Rectangle 8"/>
          <p:cNvSpPr/>
          <p:nvPr/>
        </p:nvSpPr>
        <p:spPr>
          <a:xfrm>
            <a:off x="3291840" y="1325880"/>
            <a:ext cx="2697480" cy="1280160"/>
          </a:xfrm>
          <a:prstGeom prst="rect">
            <a:avLst/>
          </a:prstGeom>
          <a:solidFill>
            <a:srgbClr val="1A1D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291840" y="1389888"/>
            <a:ext cx="2697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3FC1C9"/>
                </a:solidFill>
              </a:rPr>
              <a:t>66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91840" y="1965960"/>
            <a:ext cx="2697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B0B0B0"/>
                </a:solidFill>
              </a:rPr>
              <a:t>Countries
&amp; Territories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126480" y="1325880"/>
            <a:ext cx="2697480" cy="1280160"/>
          </a:xfrm>
          <a:prstGeom prst="rect">
            <a:avLst/>
          </a:prstGeom>
          <a:solidFill>
            <a:srgbClr val="1A1D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126480" y="1389888"/>
            <a:ext cx="2697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F7975A"/>
                </a:solidFill>
              </a:rPr>
              <a:t>2017–2020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126480" y="1965960"/>
            <a:ext cx="2697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B0B0B0"/>
                </a:solidFill>
              </a:rPr>
              <a:t>Data Collection
Period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961120" y="1325880"/>
            <a:ext cx="2697480" cy="1280160"/>
          </a:xfrm>
          <a:prstGeom prst="rect">
            <a:avLst/>
          </a:prstGeom>
          <a:solidFill>
            <a:srgbClr val="1A1D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961120" y="1389888"/>
            <a:ext cx="2697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5AE68A"/>
                </a:solidFill>
              </a:rPr>
              <a:t>WVS v6.0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961120" y="1965960"/>
            <a:ext cx="2697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B0B0B0"/>
                </a:solidFill>
              </a:rPr>
              <a:t>Dataset
Version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2743200"/>
            <a:ext cx="11274552" cy="2880360"/>
          </a:xfrm>
          <a:prstGeom prst="rect">
            <a:avLst/>
          </a:prstGeom>
          <a:solidFill>
            <a:srgbClr val="1A1D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94360" y="2788920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3FC1C9"/>
                </a:solidFill>
              </a:rPr>
              <a:t>Role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26080" y="2788920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3FC1C9"/>
                </a:solidFill>
              </a:rPr>
              <a:t>Variable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0" y="2788920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3FC1C9"/>
                </a:solidFill>
              </a:rPr>
              <a:t>WVS Code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686800" y="278892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3FC1C9"/>
                </a:solidFill>
              </a:rPr>
              <a:t>Scale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94360" y="3108960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7C6AF7"/>
                </a:solidFill>
              </a:rPr>
              <a:t>Dependent Variable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926080" y="3108960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0E0E0"/>
                </a:solidFill>
              </a:rPr>
              <a:t>life_satisfaction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0" y="3108960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0E0E0"/>
                </a:solidFill>
              </a:rPr>
              <a:t>Q49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686800" y="310896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0E0E0"/>
                </a:solidFill>
              </a:rPr>
              <a:t>1–10 (1=dissatisfied)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94360" y="3419856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FC1C9"/>
                </a:solidFill>
              </a:rPr>
              <a:t>IV — Income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926080" y="3419856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0E0E0"/>
                </a:solidFill>
              </a:rPr>
              <a:t>income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00800" y="3419856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0E0E0"/>
                </a:solidFill>
              </a:rPr>
              <a:t>Q288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686800" y="3419856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0E0E0"/>
                </a:solidFill>
              </a:rPr>
              <a:t>1–10 (HH income decile)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94360" y="3730752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AE68A"/>
                </a:solidFill>
              </a:rPr>
              <a:t>IV — Education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926080" y="3730752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0E0E0"/>
                </a:solidFill>
              </a:rPr>
              <a:t>education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00800" y="3730752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0E0E0"/>
                </a:solidFill>
              </a:rPr>
              <a:t>Q275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686800" y="3730752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0E0E0"/>
                </a:solidFill>
              </a:rPr>
              <a:t>0–8 (ISCED level)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94360" y="4041648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7975A"/>
                </a:solidFill>
              </a:rPr>
              <a:t>IV — Employment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926080" y="4041648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0E0E0"/>
                </a:solidFill>
              </a:rPr>
              <a:t>employment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400800" y="4041648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0E0E0"/>
                </a:solidFill>
              </a:rPr>
              <a:t>Q279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686800" y="404164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0E0E0"/>
                </a:solidFill>
              </a:rPr>
              <a:t>1–8 (categorical)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94360" y="4352544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AE68A"/>
                </a:solidFill>
              </a:rPr>
              <a:t>Wealth Proxy A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2926080" y="4352544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0E0E0"/>
                </a:solidFill>
              </a:rPr>
              <a:t>social_class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400800" y="4352544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0E0E0"/>
                </a:solidFill>
              </a:rPr>
              <a:t>Q287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686800" y="4352544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0E0E0"/>
                </a:solidFill>
              </a:rPr>
              <a:t>1–5 (subjective class)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94360" y="4663440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AE68A"/>
                </a:solidFill>
              </a:rPr>
              <a:t>Wealth Proxy B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2926080" y="4663440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0E0E0"/>
                </a:solidFill>
              </a:rPr>
              <a:t>financial_satisfaction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400800" y="4663440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0E0E0"/>
                </a:solidFill>
              </a:rPr>
              <a:t>Q50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686800" y="466344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0E0E0"/>
                </a:solidFill>
              </a:rPr>
              <a:t>1–10 (fin. satisfaction)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94360" y="4974336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B0B0"/>
                </a:solidFill>
              </a:rPr>
              <a:t>Control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2926080" y="4974336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0E0E0"/>
                </a:solidFill>
              </a:rPr>
              <a:t>age  /  female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400800" y="4974336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0E0E0"/>
                </a:solidFill>
              </a:rPr>
              <a:t>Q262/Q260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686800" y="4974336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0E0E0"/>
                </a:solidFill>
              </a:rPr>
              <a:t>Continuous / Binary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F797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7975A"/>
                </a:solidFill>
              </a:rPr>
              <a:t>PHASE 3  —  ANALYTICAL APPROACH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02920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</a:rPr>
              <a:t>Multiple Linear Regression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88720"/>
            <a:ext cx="11274552" cy="22860"/>
          </a:xfrm>
          <a:prstGeom prst="rect">
            <a:avLst/>
          </a:prstGeom>
          <a:solidFill>
            <a:srgbClr val="3A3D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325880"/>
            <a:ext cx="11274552" cy="1005840"/>
          </a:xfrm>
          <a:prstGeom prst="rect">
            <a:avLst/>
          </a:prstGeom>
          <a:solidFill>
            <a:srgbClr val="1A1D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325880"/>
            <a:ext cx="64008" cy="1005840"/>
          </a:xfrm>
          <a:prstGeom prst="rect">
            <a:avLst/>
          </a:prstGeom>
          <a:solidFill>
            <a:srgbClr val="F797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463040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1">
                <a:solidFill>
                  <a:srgbClr val="FFFFFF"/>
                </a:solidFill>
              </a:rPr>
              <a:t>Life Satisfaction  =  β₀  +  β₁(Income)  +  β₂(Education)  +  β₃(Employment)  +  β₄(Wealth)  +  ε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2514600"/>
            <a:ext cx="5394960" cy="3291840"/>
          </a:xfrm>
          <a:prstGeom prst="rect">
            <a:avLst/>
          </a:prstGeom>
          <a:solidFill>
            <a:srgbClr val="1A1D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2578608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7975A"/>
                </a:solidFill>
              </a:rPr>
              <a:t>Why Multiple Linear Regression?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3017520"/>
            <a:ext cx="5029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0E0E0"/>
                </a:solidFill>
              </a:rPr>
              <a:t>•  Examine multiple predictors simultaneously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3328416"/>
            <a:ext cx="5029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0E0E0"/>
                </a:solidFill>
              </a:rPr>
              <a:t>•  Hold other variables constant while testing each one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3639312"/>
            <a:ext cx="5029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0E0E0"/>
                </a:solidFill>
              </a:rPr>
              <a:t>•  Quantify strength via standardized coefficients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3950208"/>
            <a:ext cx="5029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0E0E0"/>
                </a:solidFill>
              </a:rPr>
              <a:t>•  Assess overall model fit (R²)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4261104"/>
            <a:ext cx="5029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0E0E0"/>
                </a:solidFill>
              </a:rPr>
              <a:t>•  Standard approach in well-being research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4572000"/>
            <a:ext cx="5029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0E0E0"/>
                </a:solidFill>
              </a:rPr>
              <a:t>•  Life satisfaction (1–10) treated as quasi-continuous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035040" y="2514600"/>
            <a:ext cx="5696712" cy="3291840"/>
          </a:xfrm>
          <a:prstGeom prst="rect">
            <a:avLst/>
          </a:prstGeom>
          <a:solidFill>
            <a:srgbClr val="1A1D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172200" y="2578608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3FC1C9"/>
                </a:solidFill>
              </a:rPr>
              <a:t>What the model tells us: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172200" y="301752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7C6AF7"/>
                </a:solidFill>
              </a:rPr>
              <a:t>■  Direction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138160" y="3017520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0E0E0"/>
                </a:solidFill>
              </a:rPr>
              <a:t>Positive or negative relationship?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172200" y="365760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3FC1C9"/>
                </a:solidFill>
              </a:rPr>
              <a:t>■  Strength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138160" y="3657600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0E0E0"/>
                </a:solidFill>
              </a:rPr>
              <a:t>How large is the association?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172200" y="429768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7975A"/>
                </a:solidFill>
              </a:rPr>
              <a:t>■  Significance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138160" y="4297680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0E0E0"/>
                </a:solidFill>
              </a:rPr>
              <a:t>Is the result unlikely due to chance?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172200" y="493776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5AE68A"/>
                </a:solidFill>
              </a:rPr>
              <a:t>■  Relative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138160" y="4937760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0E0E0"/>
                </a:solidFill>
              </a:rPr>
              <a:t>Which factor is strongest?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" y="59893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7975A"/>
                </a:solidFill>
              </a:rPr>
              <a:t>Key principle:  All conclusions use 'associated with' — NOT 'causes'.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5AE6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5AE68A"/>
                </a:solidFill>
              </a:rPr>
              <a:t>PHASE 4  —  DATA PREPARATION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02920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</a:rPr>
              <a:t>Cleaning the Dataset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88720"/>
            <a:ext cx="11274552" cy="22860"/>
          </a:xfrm>
          <a:prstGeom prst="rect">
            <a:avLst/>
          </a:prstGeom>
          <a:solidFill>
            <a:srgbClr val="3A3D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02920" y="1417320"/>
            <a:ext cx="2011680" cy="1005840"/>
          </a:xfrm>
          <a:prstGeom prst="rect">
            <a:avLst/>
          </a:prstGeom>
          <a:solidFill>
            <a:srgbClr val="1A1D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02920" y="1417320"/>
            <a:ext cx="2011680" cy="54864"/>
          </a:xfrm>
          <a:prstGeom prst="rect">
            <a:avLst/>
          </a:prstGeom>
          <a:solidFill>
            <a:srgbClr val="7C6A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1508760"/>
            <a:ext cx="1874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7C6AF7"/>
                </a:solidFill>
              </a:rPr>
              <a:t>Raw Dataset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1920240"/>
            <a:ext cx="1874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</a:rPr>
              <a:t>97,220 obs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514600" y="1691640"/>
            <a:ext cx="228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B0B0B0"/>
                </a:solidFill>
              </a:rPr>
              <a:t>→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0" y="1417320"/>
            <a:ext cx="2011680" cy="1005840"/>
          </a:xfrm>
          <a:prstGeom prst="rect">
            <a:avLst/>
          </a:prstGeom>
          <a:solidFill>
            <a:srgbClr val="1A1D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743200" y="1417320"/>
            <a:ext cx="2011680" cy="54864"/>
          </a:xfrm>
          <a:prstGeom prst="rect">
            <a:avLst/>
          </a:prstGeom>
          <a:solidFill>
            <a:srgbClr val="3FC1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834640" y="1508760"/>
            <a:ext cx="1874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3FC1C9"/>
                </a:solidFill>
              </a:rPr>
              <a:t>Remove Duplicates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834640" y="1920240"/>
            <a:ext cx="1874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</a:rPr>
              <a:t>−94 obs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54880" y="1691640"/>
            <a:ext cx="228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B0B0B0"/>
                </a:solidFill>
              </a:rPr>
              <a:t>→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983480" y="1417320"/>
            <a:ext cx="2011680" cy="1005840"/>
          </a:xfrm>
          <a:prstGeom prst="rect">
            <a:avLst/>
          </a:prstGeom>
          <a:solidFill>
            <a:srgbClr val="1A1D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983480" y="1417320"/>
            <a:ext cx="2011680" cy="54864"/>
          </a:xfrm>
          <a:prstGeom prst="rect">
            <a:avLst/>
          </a:prstGeom>
          <a:solidFill>
            <a:srgbClr val="F797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74920" y="1508760"/>
            <a:ext cx="1874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7975A"/>
                </a:solidFill>
              </a:rPr>
              <a:t>Fix Missing Values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74920" y="1920240"/>
            <a:ext cx="1874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</a:rPr>
              <a:t>NaN coded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995160" y="1691640"/>
            <a:ext cx="228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B0B0B0"/>
                </a:solidFill>
              </a:rPr>
              <a:t>→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223760" y="1417320"/>
            <a:ext cx="2011680" cy="1005840"/>
          </a:xfrm>
          <a:prstGeom prst="rect">
            <a:avLst/>
          </a:prstGeom>
          <a:solidFill>
            <a:srgbClr val="1A1D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223760" y="1417320"/>
            <a:ext cx="2011680" cy="54864"/>
          </a:xfrm>
          <a:prstGeom prst="rect">
            <a:avLst/>
          </a:prstGeom>
          <a:solidFill>
            <a:srgbClr val="5AE6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315200" y="1508760"/>
            <a:ext cx="1874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5AE68A"/>
                </a:solidFill>
              </a:rPr>
              <a:t>Remove Missing DV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15200" y="1920240"/>
            <a:ext cx="1874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</a:rPr>
              <a:t>−506 obs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235440" y="1691640"/>
            <a:ext cx="228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B0B0B0"/>
                </a:solidFill>
              </a:rPr>
              <a:t>→</a:t>
            </a:r>
          </a:p>
        </p:txBody>
      </p:sp>
      <p:sp>
        <p:nvSpPr>
          <p:cNvPr id="26" name="Rectangle 25"/>
          <p:cNvSpPr/>
          <p:nvPr/>
        </p:nvSpPr>
        <p:spPr>
          <a:xfrm>
            <a:off x="9464040" y="1417320"/>
            <a:ext cx="2011680" cy="1005840"/>
          </a:xfrm>
          <a:prstGeom prst="rect">
            <a:avLst/>
          </a:prstGeom>
          <a:solidFill>
            <a:srgbClr val="7C6A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9464040" y="1417320"/>
            <a:ext cx="2011680" cy="5486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555480" y="1508760"/>
            <a:ext cx="1874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Final Dataset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555480" y="1920240"/>
            <a:ext cx="1874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</a:rPr>
              <a:t>96,420 obs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57200" y="2606040"/>
            <a:ext cx="11274552" cy="3063240"/>
          </a:xfrm>
          <a:prstGeom prst="rect">
            <a:avLst/>
          </a:prstGeom>
          <a:solidFill>
            <a:srgbClr val="1A1D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94360" y="265176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5AE68A"/>
                </a:solidFill>
              </a:rPr>
              <a:t>Key Preparation Decisions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94360" y="3063240"/>
            <a:ext cx="1920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E0E0E0"/>
                </a:solidFill>
              </a:rPr>
              <a:t>Missing values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606040" y="3063240"/>
            <a:ext cx="3840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AE68A"/>
                </a:solidFill>
              </a:rPr>
              <a:t>Listwise deletion at regression stage — No imputation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583680" y="3063240"/>
            <a:ext cx="4937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B0B0B0"/>
                </a:solidFill>
              </a:rPr>
              <a:t>Income is ordinal rank; mean imputation distorts meaning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94360" y="3447288"/>
            <a:ext cx="1920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E0E0E0"/>
                </a:solidFill>
              </a:rPr>
              <a:t>WVS missing codes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606040" y="3447288"/>
            <a:ext cx="3840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AE68A"/>
                </a:solidFill>
              </a:rPr>
              <a:t>Codes −1 to −5, −99999 converted to NaN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583680" y="3447288"/>
            <a:ext cx="4937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B0B0B0"/>
                </a:solidFill>
              </a:rPr>
              <a:t>Standard WVS protocol; not real data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94360" y="3831336"/>
            <a:ext cx="1920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E0E0E0"/>
                </a:solidFill>
              </a:rPr>
              <a:t>Outliers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606040" y="3831336"/>
            <a:ext cx="3840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AE68A"/>
                </a:solidFill>
              </a:rPr>
              <a:t>NONE removed — all IQR flags retained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583680" y="3831336"/>
            <a:ext cx="4937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B0B0B0"/>
                </a:solidFill>
              </a:rPr>
              <a:t>Scale extremes (1, 10) are valid responses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94360" y="4215384"/>
            <a:ext cx="1920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E0E0E0"/>
                </a:solidFill>
              </a:rPr>
              <a:t>Log transform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2606040" y="4215384"/>
            <a:ext cx="3840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AE68A"/>
                </a:solidFill>
              </a:rPr>
              <a:t>NOT applied to income or wealth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583680" y="4215384"/>
            <a:ext cx="4937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B0B0B0"/>
                </a:solidFill>
              </a:rPr>
              <a:t>Ordinal scales — log distorts relative spacings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94360" y="4599432"/>
            <a:ext cx="1920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E0E0E0"/>
                </a:solidFill>
              </a:rPr>
              <a:t>Employment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2606040" y="4599432"/>
            <a:ext cx="3840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AE68A"/>
                </a:solidFill>
              </a:rPr>
              <a:t>One-hot encoded — 8 dummies (ref = full-time)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583680" y="4599432"/>
            <a:ext cx="4937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B0B0B0"/>
                </a:solidFill>
              </a:rPr>
              <a:t>No natural ordering between categories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94360" y="4983480"/>
            <a:ext cx="1920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E0E0E0"/>
                </a:solidFill>
              </a:rPr>
              <a:t>Education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2606040" y="4983480"/>
            <a:ext cx="3840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AE68A"/>
                </a:solidFill>
              </a:rPr>
              <a:t>Treated as ordinal continuous (ISCED 0–8)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583680" y="4983480"/>
            <a:ext cx="4937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B0B0B0"/>
                </a:solidFill>
              </a:rPr>
              <a:t>Ordered scale; linear term standard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7C6A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7C6AF7"/>
                </a:solidFill>
              </a:rPr>
              <a:t>PHASE 4  —  DISTRIBUTIONS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02920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</a:rPr>
              <a:t>Income &amp; Wealth Distributions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88720"/>
            <a:ext cx="11274552" cy="22860"/>
          </a:xfrm>
          <a:prstGeom prst="rect">
            <a:avLst/>
          </a:prstGeom>
          <a:solidFill>
            <a:srgbClr val="3A3D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p4_income_wealth_distribution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25880"/>
            <a:ext cx="11640312" cy="7434149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640080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B0B0B0"/>
                </a:solidFill>
              </a:rPr>
              <a:t>Skewness is minimal for all three variables — no log transformation needed (ordinal scales).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3FC1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3FC1C9"/>
                </a:solidFill>
              </a:rPr>
              <a:t>PHASE 8  — 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02920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</a:rPr>
              <a:t>Life Satisfaction — Our Dependent Variable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88720"/>
            <a:ext cx="11274552" cy="22860"/>
          </a:xfrm>
          <a:prstGeom prst="rect">
            <a:avLst/>
          </a:prstGeom>
          <a:solidFill>
            <a:srgbClr val="3A3D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p8_life_satisfaction_dis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25880"/>
            <a:ext cx="7772400" cy="4196142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8412480" y="1325880"/>
            <a:ext cx="3520440" cy="5166360"/>
          </a:xfrm>
          <a:prstGeom prst="rect">
            <a:avLst/>
          </a:prstGeom>
          <a:solidFill>
            <a:srgbClr val="1A1D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595360" y="150876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3FC1C9"/>
                </a:solidFill>
              </a:rPr>
              <a:t>Mean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149840" y="150876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</a:rPr>
              <a:t>7.06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95360" y="205740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5AE68A"/>
                </a:solidFill>
              </a:rPr>
              <a:t>Median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149840" y="205740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</a:rPr>
              <a:t>7.0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95360" y="260604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7975A"/>
                </a:solidFill>
              </a:rPr>
              <a:t>Std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149840" y="260604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</a:rPr>
              <a:t>2.24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95360" y="315468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7C6AF7"/>
                </a:solidFill>
              </a:rPr>
              <a:t>Scale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149840" y="315468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</a:rPr>
              <a:t>1 – 10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95360" y="370332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B0B0B0"/>
                </a:solidFill>
              </a:rPr>
              <a:t>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149840" y="370332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</a:rPr>
              <a:t>96,420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49640" y="4389120"/>
            <a:ext cx="3200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0E0E0"/>
                </a:solidFill>
              </a:rPr>
              <a:t>Distribution is left-skewed:
most respondents report
moderate-to-high satisfaction.
This is typical in global
well-being surveys.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F797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7975A"/>
                </a:solidFill>
              </a:rPr>
              <a:t>PHASE 8.2  —  REGRESSION RESULTS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02920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</a:rPr>
              <a:t>OLS Regression Model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88720"/>
            <a:ext cx="11274552" cy="22860"/>
          </a:xfrm>
          <a:prstGeom prst="rect">
            <a:avLst/>
          </a:prstGeom>
          <a:solidFill>
            <a:srgbClr val="3A3D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325880"/>
            <a:ext cx="2697480" cy="685800"/>
          </a:xfrm>
          <a:prstGeom prst="rect">
            <a:avLst/>
          </a:prstGeom>
          <a:solidFill>
            <a:srgbClr val="1A1D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371600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B0B0B0"/>
                </a:solidFill>
              </a:rPr>
              <a:t>R²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508760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7C6AF7"/>
                </a:solidFill>
              </a:rPr>
              <a:t>0.320</a:t>
            </a:r>
          </a:p>
        </p:txBody>
      </p:sp>
      <p:sp>
        <p:nvSpPr>
          <p:cNvPr id="9" name="Rectangle 8"/>
          <p:cNvSpPr/>
          <p:nvPr/>
        </p:nvSpPr>
        <p:spPr>
          <a:xfrm>
            <a:off x="3291840" y="1325880"/>
            <a:ext cx="2697480" cy="685800"/>
          </a:xfrm>
          <a:prstGeom prst="rect">
            <a:avLst/>
          </a:prstGeom>
          <a:solidFill>
            <a:srgbClr val="1A1D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383280" y="1371600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B0B0B0"/>
                </a:solidFill>
              </a:rPr>
              <a:t>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83280" y="1508760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3FC1C9"/>
                </a:solidFill>
              </a:rPr>
              <a:t>88,546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126480" y="1325880"/>
            <a:ext cx="2697480" cy="685800"/>
          </a:xfrm>
          <a:prstGeom prst="rect">
            <a:avLst/>
          </a:prstGeom>
          <a:solidFill>
            <a:srgbClr val="1A1D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217920" y="1371600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B0B0B0"/>
                </a:solidFill>
              </a:rPr>
              <a:t>F-stat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17920" y="1508760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7975A"/>
                </a:solidFill>
              </a:rPr>
              <a:t>2,069***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961120" y="1325880"/>
            <a:ext cx="2697480" cy="685800"/>
          </a:xfrm>
          <a:prstGeom prst="rect">
            <a:avLst/>
          </a:prstGeom>
          <a:solidFill>
            <a:srgbClr val="1A1D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052560" y="1371600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B0B0B0"/>
                </a:solidFill>
              </a:rPr>
              <a:t>SE type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052560" y="1508760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5AE68A"/>
                </a:solidFill>
              </a:rPr>
              <a:t>HC3 Robust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2148840"/>
            <a:ext cx="11274552" cy="4343400"/>
          </a:xfrm>
          <a:prstGeom prst="rect">
            <a:avLst/>
          </a:prstGeom>
          <a:solidFill>
            <a:srgbClr val="1A1D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94360" y="2194560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7975A"/>
                </a:solidFill>
              </a:rPr>
              <a:t>Variable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846320" y="2194560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7975A"/>
                </a:solidFill>
              </a:rPr>
              <a:t>β (coef)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040880" y="219456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7975A"/>
                </a:solidFill>
              </a:rPr>
              <a:t>p-value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549640" y="219456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7975A"/>
                </a:solidFill>
              </a:rPr>
              <a:t>95% CI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247120" y="219456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7975A"/>
                </a:solidFill>
              </a:rPr>
              <a:t>Sig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94360" y="2560320"/>
            <a:ext cx="4114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7975A"/>
                </a:solidFill>
              </a:rPr>
              <a:t>Financial satisfaction [wealth B]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846320" y="2560320"/>
            <a:ext cx="2011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0E0E0"/>
                </a:solidFill>
              </a:rPr>
              <a:t>+0.518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040880" y="2560320"/>
            <a:ext cx="1371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0E0E0"/>
                </a:solidFill>
              </a:rPr>
              <a:t>&lt;0.001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549640" y="2560320"/>
            <a:ext cx="2560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0E0E0"/>
                </a:solidFill>
              </a:rPr>
              <a:t>[+0.511, +0.525]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247120" y="2560320"/>
            <a:ext cx="731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***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94360" y="2889504"/>
            <a:ext cx="4114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75A5A"/>
                </a:solidFill>
              </a:rPr>
              <a:t>Employment: unemployed (vs. full-time)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846320" y="2889504"/>
            <a:ext cx="2011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0E0E0"/>
                </a:solidFill>
              </a:rPr>
              <a:t>−0.147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040880" y="2889504"/>
            <a:ext cx="1371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0E0E0"/>
                </a:solidFill>
              </a:rPr>
              <a:t>&lt;0.001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549640" y="2889504"/>
            <a:ext cx="2560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0E0E0"/>
                </a:solidFill>
              </a:rPr>
              <a:t>[−0.204, −0.090]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247120" y="2889504"/>
            <a:ext cx="731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***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94360" y="3218688"/>
            <a:ext cx="4114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75A5A"/>
                </a:solidFill>
              </a:rPr>
              <a:t>Employment: student (vs. full-time)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846320" y="3218688"/>
            <a:ext cx="2011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0E0E0"/>
                </a:solidFill>
              </a:rPr>
              <a:t>−0.078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040880" y="3218688"/>
            <a:ext cx="1371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0E0E0"/>
                </a:solidFill>
              </a:rPr>
              <a:t>0.007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549640" y="3218688"/>
            <a:ext cx="2560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0E0E0"/>
                </a:solidFill>
              </a:rPr>
              <a:t>[−0.134, −0.022]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247120" y="3218688"/>
            <a:ext cx="731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**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94360" y="3547872"/>
            <a:ext cx="4114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5AE68A"/>
                </a:solidFill>
              </a:rPr>
              <a:t>Employment: part-time (vs. full-time)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846320" y="3547872"/>
            <a:ext cx="2011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0E0E0"/>
                </a:solidFill>
              </a:rPr>
              <a:t>+0.064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040880" y="3547872"/>
            <a:ext cx="1371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0E0E0"/>
                </a:solidFill>
              </a:rPr>
              <a:t>0.007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549640" y="3547872"/>
            <a:ext cx="2560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0E0E0"/>
                </a:solidFill>
              </a:rPr>
              <a:t>[+0.018, +0.111]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1247120" y="3547872"/>
            <a:ext cx="731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**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94360" y="3877056"/>
            <a:ext cx="4114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3FC1C9"/>
                </a:solidFill>
              </a:rPr>
              <a:t>Income decile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846320" y="3877056"/>
            <a:ext cx="2011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0E0E0"/>
                </a:solidFill>
              </a:rPr>
              <a:t>+0.011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040880" y="3877056"/>
            <a:ext cx="1371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0E0E0"/>
                </a:solidFill>
              </a:rPr>
              <a:t>0.006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549640" y="3877056"/>
            <a:ext cx="2560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0E0E0"/>
                </a:solidFill>
              </a:rPr>
              <a:t>[+0.003, +0.019]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1247120" y="3877056"/>
            <a:ext cx="731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**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94360" y="4206240"/>
            <a:ext cx="4114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B0B0B0"/>
                </a:solidFill>
              </a:rPr>
              <a:t>Social class [wealth A]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4846320" y="4206240"/>
            <a:ext cx="2011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0E0E0"/>
                </a:solidFill>
              </a:rPr>
              <a:t>−0.017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7040880" y="4206240"/>
            <a:ext cx="1371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0E0E0"/>
                </a:solidFill>
              </a:rPr>
              <a:t>0.046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549640" y="4206240"/>
            <a:ext cx="2560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0E0E0"/>
                </a:solidFill>
              </a:rPr>
              <a:t>[−0.033, −0.000]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1247120" y="4206240"/>
            <a:ext cx="731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*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594360" y="4535424"/>
            <a:ext cx="4114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B0B0B0"/>
                </a:solidFill>
              </a:rPr>
              <a:t>Education (ISCED 0–8)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4846320" y="4535424"/>
            <a:ext cx="2011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0E0E0"/>
                </a:solidFill>
              </a:rPr>
              <a:t>−0.008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7040880" y="4535424"/>
            <a:ext cx="1371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0E0E0"/>
                </a:solidFill>
              </a:rPr>
              <a:t>0.031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8549640" y="4535424"/>
            <a:ext cx="2560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0E0E0"/>
                </a:solidFill>
              </a:rPr>
              <a:t>[−0.014, −0.001]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11247120" y="4535424"/>
            <a:ext cx="731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*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594360" y="4864608"/>
            <a:ext cx="4114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7C6AF7"/>
                </a:solidFill>
              </a:rPr>
              <a:t>Age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4846320" y="4864608"/>
            <a:ext cx="2011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0E0E0"/>
                </a:solidFill>
              </a:rPr>
              <a:t>+0.002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7040880" y="4864608"/>
            <a:ext cx="1371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0E0E0"/>
                </a:solidFill>
              </a:rPr>
              <a:t>&lt;0.001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8549640" y="4864608"/>
            <a:ext cx="2560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0E0E0"/>
                </a:solidFill>
              </a:rPr>
              <a:t>[+0.001, +0.003]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11247120" y="4864608"/>
            <a:ext cx="731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***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594360" y="5193792"/>
            <a:ext cx="4114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7C6AF7"/>
                </a:solidFill>
              </a:rPr>
              <a:t>Female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4846320" y="5193792"/>
            <a:ext cx="2011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0E0E0"/>
                </a:solidFill>
              </a:rPr>
              <a:t>+0.052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7040880" y="5193792"/>
            <a:ext cx="1371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0E0E0"/>
                </a:solidFill>
              </a:rPr>
              <a:t>&lt;0.001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8549640" y="5193792"/>
            <a:ext cx="2560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0E0E0"/>
                </a:solidFill>
              </a:rPr>
              <a:t>[+0.026, +0.079]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11247120" y="5193792"/>
            <a:ext cx="731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***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457200" y="6446520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B0B0B0"/>
                </a:solidFill>
              </a:rPr>
              <a:t>Note: Social class and education show negative signs due to suppression from financial_satisfaction dominating the model. Bivariate associations are positive.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7C6A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7C6AF7"/>
                </a:solidFill>
              </a:rPr>
              <a:t>PHASE 8.3  —  PREDICTOR COMPARISON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02920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</a:rPr>
              <a:t>Which Factor Has the Strongest Association?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88720"/>
            <a:ext cx="11274552" cy="22860"/>
          </a:xfrm>
          <a:prstGeom prst="rect">
            <a:avLst/>
          </a:prstGeom>
          <a:solidFill>
            <a:srgbClr val="3A3D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p8_standardized_coefficien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25880"/>
            <a:ext cx="7315200" cy="4218732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7772400" y="1325880"/>
            <a:ext cx="4251960" cy="5166360"/>
          </a:xfrm>
          <a:prstGeom prst="rect">
            <a:avLst/>
          </a:prstGeom>
          <a:solidFill>
            <a:srgbClr val="1A1D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909560" y="1389888"/>
            <a:ext cx="4023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7C6AF7"/>
                </a:solidFill>
              </a:rPr>
              <a:t>Standardized β Coefficients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909560" y="1783080"/>
            <a:ext cx="39319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B0B0B0"/>
                </a:solidFill>
              </a:rPr>
              <a:t>Allow direct comparison across different scales.
"A 1-SD rise in X is associated with β SD change in life satisfaction."</a:t>
            </a:r>
          </a:p>
        </p:txBody>
      </p:sp>
      <p:sp>
        <p:nvSpPr>
          <p:cNvPr id="10" name="Rectangle 9"/>
          <p:cNvSpPr/>
          <p:nvPr/>
        </p:nvSpPr>
        <p:spPr>
          <a:xfrm>
            <a:off x="7909560" y="2560320"/>
            <a:ext cx="3931920" cy="822960"/>
          </a:xfrm>
          <a:prstGeom prst="rect">
            <a:avLst/>
          </a:prstGeom>
          <a:solidFill>
            <a:srgbClr val="0F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01000" y="2606040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7975A"/>
                </a:solidFill>
              </a:rPr>
              <a:t>#1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12480" y="2606040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Financial satisfaction β = +1.26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12480" y="2944368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B0B0B0"/>
                </a:solidFill>
              </a:rPr>
              <a:t>Dominant by far — 13× income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909560" y="3474720"/>
            <a:ext cx="3931920" cy="822960"/>
          </a:xfrm>
          <a:prstGeom prst="rect">
            <a:avLst/>
          </a:prstGeom>
          <a:solidFill>
            <a:srgbClr val="0F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01000" y="3520440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75A5A"/>
                </a:solidFill>
              </a:rPr>
              <a:t>#2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12480" y="3520440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Unemployed penalty β = −0.15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12480" y="3858768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B0B0B0"/>
                </a:solidFill>
              </a:rPr>
              <a:t>Stronger than income rank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909560" y="4389120"/>
            <a:ext cx="3931920" cy="822960"/>
          </a:xfrm>
          <a:prstGeom prst="rect">
            <a:avLst/>
          </a:prstGeom>
          <a:solidFill>
            <a:srgbClr val="0F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001000" y="4434840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3FC1C9"/>
                </a:solidFill>
              </a:rPr>
              <a:t>#3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12480" y="4434840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Income β = +0.02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12480" y="4773168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B0B0B0"/>
                </a:solidFill>
              </a:rPr>
              <a:t>Positive, modest, significant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909560" y="5303520"/>
            <a:ext cx="3931920" cy="822960"/>
          </a:xfrm>
          <a:prstGeom prst="rect">
            <a:avLst/>
          </a:prstGeom>
          <a:solidFill>
            <a:srgbClr val="0F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001000" y="5349240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B0B0B0"/>
                </a:solidFill>
              </a:rPr>
              <a:t>#4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412480" y="5349240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Education β = −0.015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412480" y="5687568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B0B0B0"/>
                </a:solidFill>
              </a:rPr>
              <a:t>Small direct effect (suppression)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3FC1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3FC1C9"/>
                </a:solidFill>
              </a:rPr>
              <a:t>PHASE 8.6  —  INCOME RELATIONSHIP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02920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</a:rPr>
              <a:t>Income &amp; Wealth vs. Life Satisfaction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88720"/>
            <a:ext cx="11274552" cy="22860"/>
          </a:xfrm>
          <a:prstGeom prst="rect">
            <a:avLst/>
          </a:prstGeom>
          <a:solidFill>
            <a:srgbClr val="3A3D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p8_income_wealth_relationship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25880"/>
            <a:ext cx="11640312" cy="3849689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640080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B0B0B0"/>
                </a:solidFill>
              </a:rPr>
              <a:t>Income range: mean LS = 6.38 (lowest decile) to 8.33 (highest) — a 1.95-point spread on the 10-point scale.    |    Relationship is approximately linear; slight acceleration at higher deciles.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F75A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75A5A"/>
                </a:solidFill>
              </a:rPr>
              <a:t>PHASE 8  —  EMPLOYMENT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02920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</a:rPr>
              <a:t>Employment Status vs. Life Satisfaction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88720"/>
            <a:ext cx="11274552" cy="22860"/>
          </a:xfrm>
          <a:prstGeom prst="rect">
            <a:avLst/>
          </a:prstGeom>
          <a:solidFill>
            <a:srgbClr val="3A3D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p8_employment_vs_lifesatisfac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25880"/>
            <a:ext cx="7955279" cy="4289611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8321040" y="1325880"/>
            <a:ext cx="3703320" cy="5120640"/>
          </a:xfrm>
          <a:prstGeom prst="rect">
            <a:avLst/>
          </a:prstGeom>
          <a:solidFill>
            <a:srgbClr val="1A1D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58200" y="1417320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75A5A"/>
                </a:solidFill>
              </a:rPr>
              <a:t>Key Takeaways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03920" y="1874519"/>
            <a:ext cx="3383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75A5A"/>
                </a:solidFill>
              </a:rPr>
              <a:t>•  Unemployed have the lowest mean LS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03920" y="2350007"/>
            <a:ext cx="3383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7975A"/>
                </a:solidFill>
              </a:rPr>
              <a:t>•  Unemployment β = −0.147 (p&lt;0.001)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03920" y="2825495"/>
            <a:ext cx="3383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•  This is 13× larger than the income β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03920" y="3300983"/>
            <a:ext cx="3383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FC1C9"/>
                </a:solidFill>
              </a:rPr>
              <a:t>•  Effect holds AFTER controlling for income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03920" y="3776471"/>
            <a:ext cx="3383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0E0E0"/>
                </a:solidFill>
              </a:rPr>
              <a:t>•  Suggests employment provides well-being beyond income (purpose, identity, connection)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03920" y="4251959"/>
            <a:ext cx="3383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B0B0"/>
                </a:solidFill>
              </a:rPr>
              <a:t>•  Reverse causality possible — low satisfaction may reduce employment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5AE6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5AE68A"/>
                </a:solidFill>
              </a:rPr>
              <a:t>PHASE 8  —  EDUCATION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02920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</a:rPr>
              <a:t>Education vs. Life Satisfaction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88720"/>
            <a:ext cx="11274552" cy="22860"/>
          </a:xfrm>
          <a:prstGeom prst="rect">
            <a:avLst/>
          </a:prstGeom>
          <a:solidFill>
            <a:srgbClr val="3A3D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p8_education_vs_lifesatisfac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25880"/>
            <a:ext cx="7955279" cy="3623156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8321040" y="1325880"/>
            <a:ext cx="3703320" cy="5120640"/>
          </a:xfrm>
          <a:prstGeom prst="rect">
            <a:avLst/>
          </a:prstGeom>
          <a:solidFill>
            <a:srgbClr val="1A1D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58200" y="1417320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5AE68A"/>
                </a:solidFill>
              </a:rPr>
              <a:t>Key Takeaways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03920" y="1874519"/>
            <a:ext cx="3383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AE68A"/>
                </a:solidFill>
              </a:rPr>
              <a:t>•  Higher education linked to higher LS in raw data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03920" y="2350007"/>
            <a:ext cx="3383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7975A"/>
                </a:solidFill>
              </a:rPr>
              <a:t>•  Bivariate: positive association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03920" y="2825495"/>
            <a:ext cx="3383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•  Controlled β = −0.008 — sign flips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03920" y="3300983"/>
            <a:ext cx="3383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B0B0"/>
                </a:solidFill>
              </a:rPr>
              <a:t>•  This is a suppression effect from financial_satisfaction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03920" y="3776471"/>
            <a:ext cx="3383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FC1C9"/>
                </a:solidFill>
              </a:rPr>
              <a:t>•  Education's effect partly operates through income &amp; social class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03920" y="4251959"/>
            <a:ext cx="3383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0E0E0"/>
                </a:solidFill>
              </a:rPr>
              <a:t>•  Direct effect is real but smaller after controlling other factors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F797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7975A"/>
                </a:solidFill>
              </a:rPr>
              <a:t>PHASE 8  —  WEALTH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02920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</a:rPr>
              <a:t>Wealth (Financial Well-Being) vs. Life Satisfaction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88720"/>
            <a:ext cx="11274552" cy="22860"/>
          </a:xfrm>
          <a:prstGeom prst="rect">
            <a:avLst/>
          </a:prstGeom>
          <a:solidFill>
            <a:srgbClr val="3A3D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p8_wealth_vs_lifesatisfac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25880"/>
            <a:ext cx="7955279" cy="5267604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8321040" y="1325880"/>
            <a:ext cx="3703320" cy="5120640"/>
          </a:xfrm>
          <a:prstGeom prst="rect">
            <a:avLst/>
          </a:prstGeom>
          <a:solidFill>
            <a:srgbClr val="1A1D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58200" y="1417320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7975A"/>
                </a:solidFill>
              </a:rPr>
              <a:t>Key Takeaways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03920" y="1874519"/>
            <a:ext cx="3383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7975A"/>
                </a:solidFill>
              </a:rPr>
              <a:t>•  Strongest predictor in entire model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03920" y="2350007"/>
            <a:ext cx="3383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•  β = +0.518, β_std = +1.26 (p&lt;0.001)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03920" y="2825495"/>
            <a:ext cx="3383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FC1C9"/>
                </a:solidFill>
              </a:rPr>
              <a:t>•  Adding wealth proxies: R² jumps from 0.046 to 0.320 (ΔR²=+0.274)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03920" y="3300983"/>
            <a:ext cx="3383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0E0E0"/>
                </a:solidFill>
              </a:rPr>
              <a:t>•  HOW WELL people feel about finances matters more than their income rank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03920" y="3776471"/>
            <a:ext cx="3383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75A5A"/>
                </a:solidFill>
              </a:rPr>
              <a:t>•  Caution: reverse causality risk — happier people may rate finances better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03920" y="4251959"/>
            <a:ext cx="3383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B0B0"/>
                </a:solidFill>
              </a:rPr>
              <a:t>•  WVS has no direct monetary wealth measure; proxies used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7C6A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7C6AF7"/>
                </a:solidFill>
              </a:rPr>
              <a:t>PHASE 8.7  —  GROUP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02920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</a:rPr>
              <a:t>Life Satisfaction Across Income Quintiles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88720"/>
            <a:ext cx="11274552" cy="22860"/>
          </a:xfrm>
          <a:prstGeom prst="rect">
            <a:avLst/>
          </a:prstGeom>
          <a:solidFill>
            <a:srgbClr val="3A3D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p8_socioeconomic_group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25880"/>
            <a:ext cx="8229600" cy="3571923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8686800" y="1325880"/>
            <a:ext cx="3337560" cy="5120640"/>
          </a:xfrm>
          <a:prstGeom prst="rect">
            <a:avLst/>
          </a:prstGeom>
          <a:solidFill>
            <a:srgbClr val="1A1D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823960" y="1417320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7C6AF7"/>
                </a:solidFill>
              </a:rPr>
              <a:t>ANOVA Results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23960" y="1783080"/>
            <a:ext cx="3108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0E0E0"/>
                </a:solidFill>
              </a:rPr>
              <a:t>F = 999.92,  p &lt; 0.001
All quintile pairs significantly
different (Tukey HSD)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823960" y="2514600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B0B0B0"/>
                </a:solidFill>
              </a:rPr>
              <a:t>Mean LS by Quintile: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869680" y="283464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0E0E0"/>
                </a:solidFill>
              </a:rPr>
              <a:t>Bottom 20%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789920" y="283464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75A5A"/>
                </a:solidFill>
              </a:rPr>
              <a:t>6.42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869680" y="3218688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0E0E0"/>
                </a:solidFill>
              </a:rPr>
              <a:t>20–40%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789920" y="3218688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7975A"/>
                </a:solidFill>
              </a:rPr>
              <a:t>6.64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869680" y="3602736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0E0E0"/>
                </a:solidFill>
              </a:rPr>
              <a:t>40–60%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789920" y="3602736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B0B0B0"/>
                </a:solidFill>
              </a:rPr>
              <a:t>7.18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869680" y="3986784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0E0E0"/>
                </a:solidFill>
              </a:rPr>
              <a:t>60–80%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789920" y="3986784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3FC1C9"/>
                </a:solidFill>
              </a:rPr>
              <a:t>7.61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869680" y="4370832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0E0E0"/>
                </a:solidFill>
              </a:rPr>
              <a:t>Top 20%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789920" y="4370832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5AE68A"/>
                </a:solidFill>
              </a:rPr>
              <a:t>8.12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823960" y="489204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7C6AF7"/>
                </a:solidFill>
              </a:rPr>
              <a:t>Top vs. Bottom gap:
1.70 points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B0B0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B0B0B0"/>
                </a:solidFill>
              </a:rPr>
              <a:t>PHASE 8.5  —  MODEL DIAGNOSTICS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02920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</a:rPr>
              <a:t>Checking Model Assumptions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88720"/>
            <a:ext cx="11274552" cy="22860"/>
          </a:xfrm>
          <a:prstGeom prst="rect">
            <a:avLst/>
          </a:prstGeom>
          <a:solidFill>
            <a:srgbClr val="3A3D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p8_diagnostic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25880"/>
            <a:ext cx="8503920" cy="7083765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8778240" y="1325880"/>
            <a:ext cx="3246120" cy="5120640"/>
          </a:xfrm>
          <a:prstGeom prst="rect">
            <a:avLst/>
          </a:prstGeom>
          <a:solidFill>
            <a:srgbClr val="1A1D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915400" y="1389888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Diagnostic Summary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961120" y="182880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5AE68A"/>
                </a:solidFill>
              </a:rPr>
              <a:t>●  VIF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961120" y="2103120"/>
            <a:ext cx="29260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0E0E0"/>
                </a:solidFill>
              </a:rPr>
              <a:t>All &lt; 2.0 — No multicollinearity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961120" y="2487168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5AE68A"/>
                </a:solidFill>
              </a:rPr>
              <a:t>●  Linearity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961120" y="2761488"/>
            <a:ext cx="29260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0E0E0"/>
                </a:solidFill>
              </a:rPr>
              <a:t>Mild curvature at extremes — acceptable for bounded scale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961120" y="3145536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7975A"/>
                </a:solidFill>
              </a:rPr>
              <a:t>●  Normality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961120" y="3419856"/>
            <a:ext cx="29260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0E0E0"/>
                </a:solidFill>
              </a:rPr>
              <a:t>S-W rejects (large N) — Q-Q visually acceptable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961120" y="3803904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7975A"/>
                </a:solidFill>
              </a:rPr>
              <a:t>●  Homoscedasticity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61120" y="4078224"/>
            <a:ext cx="29260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0E0E0"/>
                </a:solidFill>
              </a:rPr>
              <a:t>Mild heteroscedasticity — addressed by HC3 robust SE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961120" y="4462272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5AE68A"/>
                </a:solidFill>
              </a:rPr>
              <a:t>●  Influence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961120" y="4736592"/>
            <a:ext cx="29260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0E0E0"/>
                </a:solidFill>
              </a:rPr>
              <a:t>N=88,546 — no single influential point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915400" y="5852160"/>
            <a:ext cx="3017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5AE68A"/>
                </a:solidFill>
              </a:rPr>
              <a:t>VERDICT: Assumptions reasonably met for
large-sample survey regression.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F797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7975A"/>
                </a:solidFill>
              </a:rPr>
              <a:t>PHASE 8.9  —  KEY FINDINGS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02920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</a:rPr>
              <a:t>What the Data Tells Us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88720"/>
            <a:ext cx="11274552" cy="22860"/>
          </a:xfrm>
          <a:prstGeom prst="rect">
            <a:avLst/>
          </a:prstGeom>
          <a:solidFill>
            <a:srgbClr val="3A3D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371600"/>
            <a:ext cx="11274552" cy="868680"/>
          </a:xfrm>
          <a:prstGeom prst="rect">
            <a:avLst/>
          </a:prstGeom>
          <a:solidFill>
            <a:srgbClr val="1A1D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371600"/>
            <a:ext cx="457200" cy="868680"/>
          </a:xfrm>
          <a:prstGeom prst="rect">
            <a:avLst/>
          </a:prstGeom>
          <a:solidFill>
            <a:srgbClr val="F797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1554480"/>
            <a:ext cx="320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1435608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7975A"/>
                </a:solidFill>
              </a:rPr>
              <a:t>Financial well-being is the dominant predictor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1810512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0E0E0"/>
                </a:solidFill>
              </a:rPr>
              <a:t>β_std = +1.26  —  Adding wealth proxies raises R² from 0.046 to 0.320 (ΔR² = +0.274)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2313432"/>
            <a:ext cx="11274552" cy="868680"/>
          </a:xfrm>
          <a:prstGeom prst="rect">
            <a:avLst/>
          </a:prstGeom>
          <a:solidFill>
            <a:srgbClr val="1A1D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57200" y="2313432"/>
            <a:ext cx="457200" cy="868680"/>
          </a:xfrm>
          <a:prstGeom prst="rect">
            <a:avLst/>
          </a:prstGeom>
          <a:solidFill>
            <a:srgbClr val="F75A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2920" y="2496312"/>
            <a:ext cx="320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5840" y="237744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75A5A"/>
                </a:solidFill>
              </a:rPr>
              <a:t>Unemployment carries a well-being penalty beyond income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5840" y="2752344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0E0E0"/>
                </a:solidFill>
              </a:rPr>
              <a:t>β = −0.147  —  13× larger than income coefficient  —  independent of income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3255264"/>
            <a:ext cx="11274552" cy="868680"/>
          </a:xfrm>
          <a:prstGeom prst="rect">
            <a:avLst/>
          </a:prstGeom>
          <a:solidFill>
            <a:srgbClr val="1A1D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57200" y="3255264"/>
            <a:ext cx="457200" cy="868680"/>
          </a:xfrm>
          <a:prstGeom prst="rect">
            <a:avLst/>
          </a:prstGeom>
          <a:solidFill>
            <a:srgbClr val="3FC1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2920" y="3438144"/>
            <a:ext cx="320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05840" y="3319272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3FC1C9"/>
                </a:solidFill>
              </a:rPr>
              <a:t>Income is positively but modestly associated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05840" y="3694176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0E0E0"/>
                </a:solidFill>
              </a:rPr>
              <a:t>β = +0.011  —  Mean LS rises 6.38 → 8.33 across income deciles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" y="4197096"/>
            <a:ext cx="11274552" cy="868680"/>
          </a:xfrm>
          <a:prstGeom prst="rect">
            <a:avLst/>
          </a:prstGeom>
          <a:solidFill>
            <a:srgbClr val="1A1D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57200" y="4197096"/>
            <a:ext cx="457200" cy="868680"/>
          </a:xfrm>
          <a:prstGeom prst="rect">
            <a:avLst/>
          </a:prstGeom>
          <a:solidFill>
            <a:srgbClr val="5AE6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02920" y="4379976"/>
            <a:ext cx="320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05840" y="4261104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5AE68A"/>
                </a:solidFill>
              </a:rPr>
              <a:t>Education's direct effect is partially mediated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05840" y="4636008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0E0E0"/>
                </a:solidFill>
              </a:rPr>
              <a:t>Bivariate: positive. Controlled: small (operates via income &amp; social class)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57200" y="5138928"/>
            <a:ext cx="11274552" cy="868680"/>
          </a:xfrm>
          <a:prstGeom prst="rect">
            <a:avLst/>
          </a:prstGeom>
          <a:solidFill>
            <a:srgbClr val="1A1D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457200" y="5138928"/>
            <a:ext cx="457200" cy="868680"/>
          </a:xfrm>
          <a:prstGeom prst="rect">
            <a:avLst/>
          </a:prstGeom>
          <a:solidFill>
            <a:srgbClr val="7C6A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02920" y="5321808"/>
            <a:ext cx="320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05840" y="5202936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7C6AF7"/>
                </a:solidFill>
              </a:rPr>
              <a:t>Socioeconomic factors explain ~32% of variance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05840" y="557784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0E0E0"/>
                </a:solidFill>
              </a:rPr>
              <a:t>R² = 0.320  —  Remaining ~68% = personality, health, relationships, culture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7C6A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20040" y="0"/>
            <a:ext cx="64008" cy="6858000"/>
          </a:xfrm>
          <a:prstGeom prst="rect">
            <a:avLst/>
          </a:prstGeom>
          <a:solidFill>
            <a:srgbClr val="3FC1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4572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3FC1C9"/>
                </a:solidFill>
              </a:rPr>
              <a:t>CONCLUSION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8686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Answering the Research Question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508760"/>
            <a:ext cx="10515600" cy="36576"/>
          </a:xfrm>
          <a:prstGeom prst="rect">
            <a:avLst/>
          </a:prstGeom>
          <a:solidFill>
            <a:srgbClr val="7C6A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645920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1">
                <a:solidFill>
                  <a:srgbClr val="B0B0B0"/>
                </a:solidFill>
              </a:rPr>
              <a:t>“How strongly are income, education, employment, and wealth
associated with life satisfaction?”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2514600"/>
            <a:ext cx="10515600" cy="731520"/>
          </a:xfrm>
          <a:prstGeom prst="rect">
            <a:avLst/>
          </a:prstGeom>
          <a:solidFill>
            <a:srgbClr val="1A1D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2514600"/>
            <a:ext cx="64008" cy="731520"/>
          </a:xfrm>
          <a:prstGeom prst="rect">
            <a:avLst/>
          </a:prstGeom>
          <a:solidFill>
            <a:srgbClr val="F797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2587752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7975A"/>
                </a:solidFill>
              </a:rPr>
              <a:t>WEALTH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286000" y="2587752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+1.26 β_std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023360" y="2587752"/>
            <a:ext cx="6858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0E0E0"/>
                </a:solidFill>
              </a:rPr>
              <a:t>Dominant factor — subjective financial well-being far outweighs income rank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3319272"/>
            <a:ext cx="10515600" cy="731520"/>
          </a:xfrm>
          <a:prstGeom prst="rect">
            <a:avLst/>
          </a:prstGeom>
          <a:solidFill>
            <a:srgbClr val="1A1D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48640" y="3319272"/>
            <a:ext cx="64008" cy="731520"/>
          </a:xfrm>
          <a:prstGeom prst="rect">
            <a:avLst/>
          </a:prstGeom>
          <a:solidFill>
            <a:srgbClr val="F75A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1520" y="3392424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75A5A"/>
                </a:solidFill>
              </a:rPr>
              <a:t>EMPLOYMENT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286000" y="3392424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−0.147 β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023360" y="3392424"/>
            <a:ext cx="6858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0E0E0"/>
                </a:solidFill>
              </a:rPr>
              <a:t>Unemployment penalizes satisfaction independently of income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48640" y="4123944"/>
            <a:ext cx="10515600" cy="731520"/>
          </a:xfrm>
          <a:prstGeom prst="rect">
            <a:avLst/>
          </a:prstGeom>
          <a:solidFill>
            <a:srgbClr val="1A1D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48640" y="4123944"/>
            <a:ext cx="64008" cy="731520"/>
          </a:xfrm>
          <a:prstGeom prst="rect">
            <a:avLst/>
          </a:prstGeom>
          <a:solidFill>
            <a:srgbClr val="3FC1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31520" y="4197096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3FC1C9"/>
                </a:solidFill>
              </a:rPr>
              <a:t>INCOME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286000" y="4197096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+0.023 β_std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023360" y="4197096"/>
            <a:ext cx="6858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0E0E0"/>
                </a:solidFill>
              </a:rPr>
              <a:t>Positively associated but modest; 1.95-point LS spread across deciles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48640" y="4928616"/>
            <a:ext cx="10515600" cy="731520"/>
          </a:xfrm>
          <a:prstGeom prst="rect">
            <a:avLst/>
          </a:prstGeom>
          <a:solidFill>
            <a:srgbClr val="1A1D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548640" y="4928616"/>
            <a:ext cx="64008" cy="731520"/>
          </a:xfrm>
          <a:prstGeom prst="rect">
            <a:avLst/>
          </a:prstGeom>
          <a:solidFill>
            <a:srgbClr val="5AE6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31520" y="5001768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5AE68A"/>
                </a:solidFill>
              </a:rPr>
              <a:t>EDUCATION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286000" y="5001768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Partial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023360" y="5001768"/>
            <a:ext cx="6858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0E0E0"/>
                </a:solidFill>
              </a:rPr>
              <a:t>Direct effect smaller; partly mediated through income &amp; social class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48640" y="5852160"/>
            <a:ext cx="10515600" cy="685800"/>
          </a:xfrm>
          <a:prstGeom prst="rect">
            <a:avLst/>
          </a:prstGeom>
          <a:solidFill>
            <a:srgbClr val="1A1D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85800" y="5961888"/>
            <a:ext cx="10241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E0E0E0"/>
                </a:solidFill>
              </a:rPr>
              <a:t>Together: R² = 0.32 — Socioeconomic factors explain ~32% of life satisfaction. The remaining ~68% lies in personality, health, relationships, culture, and meaning.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F75A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75A5A"/>
                </a:solidFill>
              </a:rPr>
              <a:t>LIMITATIONS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02920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</a:rPr>
              <a:t>What We Cannot Conclude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88720"/>
            <a:ext cx="11274552" cy="22860"/>
          </a:xfrm>
          <a:prstGeom prst="rect">
            <a:avLst/>
          </a:prstGeom>
          <a:solidFill>
            <a:srgbClr val="3A3D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417320"/>
            <a:ext cx="11274552" cy="804672"/>
          </a:xfrm>
          <a:prstGeom prst="rect">
            <a:avLst/>
          </a:prstGeom>
          <a:solidFill>
            <a:srgbClr val="1A1D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417320"/>
            <a:ext cx="64008" cy="804672"/>
          </a:xfrm>
          <a:prstGeom prst="rect">
            <a:avLst/>
          </a:prstGeom>
          <a:solidFill>
            <a:srgbClr val="F75A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481328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75A5A"/>
                </a:solidFill>
              </a:rPr>
              <a:t>No Causation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834640" y="1481328"/>
            <a:ext cx="8686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0E0E0"/>
                </a:solidFill>
              </a:rPr>
              <a:t>This is cross-sectional observational data. We measure associations, not causes. "Higher income causes happiness" cannot be concluded.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2304288"/>
            <a:ext cx="11274552" cy="804672"/>
          </a:xfrm>
          <a:prstGeom prst="rect">
            <a:avLst/>
          </a:prstGeom>
          <a:solidFill>
            <a:srgbClr val="1A1D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57200" y="2304288"/>
            <a:ext cx="64008" cy="804672"/>
          </a:xfrm>
          <a:prstGeom prst="rect">
            <a:avLst/>
          </a:prstGeom>
          <a:solidFill>
            <a:srgbClr val="F797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2368296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7975A"/>
                </a:solidFill>
              </a:rPr>
              <a:t>Reverse Causality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834640" y="2368296"/>
            <a:ext cx="8686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0E0E0"/>
                </a:solidFill>
              </a:rPr>
              <a:t>Financial satisfaction may reflect life satisfaction rather than predict it. Happy people may rate finances more positively.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3191256"/>
            <a:ext cx="11274552" cy="804672"/>
          </a:xfrm>
          <a:prstGeom prst="rect">
            <a:avLst/>
          </a:prstGeom>
          <a:solidFill>
            <a:srgbClr val="1A1D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57200" y="3191256"/>
            <a:ext cx="64008" cy="804672"/>
          </a:xfrm>
          <a:prstGeom prst="rect">
            <a:avLst/>
          </a:prstGeom>
          <a:solidFill>
            <a:srgbClr val="3FC1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" y="3255264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3FC1C9"/>
                </a:solidFill>
              </a:rPr>
              <a:t>Country Effects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834640" y="3255264"/>
            <a:ext cx="8686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0E0E0"/>
                </a:solidFill>
              </a:rPr>
              <a:t>66 countries are pooled without fixed effects. Between-country differences (culture, GDP) are unmodelled.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4078224"/>
            <a:ext cx="11274552" cy="804672"/>
          </a:xfrm>
          <a:prstGeom prst="rect">
            <a:avLst/>
          </a:prstGeom>
          <a:solidFill>
            <a:srgbClr val="1A1D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57200" y="4078224"/>
            <a:ext cx="64008" cy="804672"/>
          </a:xfrm>
          <a:prstGeom prst="rect">
            <a:avLst/>
          </a:prstGeom>
          <a:solidFill>
            <a:srgbClr val="7C6A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0080" y="4142232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7C6AF7"/>
                </a:solidFill>
              </a:rPr>
              <a:t>No Direct Wealth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834640" y="4142232"/>
            <a:ext cx="8686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0E0E0"/>
                </a:solidFill>
              </a:rPr>
              <a:t>WVS Wave 7 has no monetary wealth variable. We used subjective proxies (social class, financial satisfaction).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57200" y="4965192"/>
            <a:ext cx="11274552" cy="804672"/>
          </a:xfrm>
          <a:prstGeom prst="rect">
            <a:avLst/>
          </a:prstGeom>
          <a:solidFill>
            <a:srgbClr val="1A1D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57200" y="4965192"/>
            <a:ext cx="64008" cy="804672"/>
          </a:xfrm>
          <a:prstGeom prst="rect">
            <a:avLst/>
          </a:prstGeom>
          <a:solidFill>
            <a:srgbClr val="B0B0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0080" y="5029200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B0B0B0"/>
                </a:solidFill>
              </a:rPr>
              <a:t>Omitted Variables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834640" y="5029200"/>
            <a:ext cx="8686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0E0E0"/>
                </a:solidFill>
              </a:rPr>
              <a:t>Health and relationships are known strong predictors of well-being but are not in this model.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