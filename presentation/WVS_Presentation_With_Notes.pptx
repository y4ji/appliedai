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are presenting our Mini Data Science Project entitled 'Socioeconomic Factors and Life Satisfaction.'</a:t>
            </a:r>
          </a:p>
          <a:p/>
          <a:p>
            <a:r>
              <a:t>A common assumption is that higher socioeconomic status automatically means higher happiness. In this project, we put that assumption to the test using empirical data from the World Values Survey Wave 7, analyzing over 96,000 individuals across 66 countries through Multiple Linear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research question is: 'How strongly are income, education, employment, and wealth associated with life satisfaction?'</a:t>
            </a:r>
          </a:p>
          <a:p/>
          <a:p>
            <a:r>
              <a:t>We investigate four specific objectives: Income, Education, Employment, and Wealth. Importantly, because we are analyzing observational survey data, we are strictly studying statistical associations, not asserting direct causation.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the World Values Survey Wave 7 (2017–2020), one of the most reputable cross-national surveys globally. After cleaning, our working sample has 96,420 respondents across 66 countries.</a:t>
            </a:r>
          </a:p>
          <a:p/>
          <a:p>
            <a:r>
              <a:t>Dependent variable: Life Satisfaction (1-10).</a:t>
            </a:r>
          </a:p>
          <a:p>
            <a:r>
              <a:t>Predictors: Income decile (1-10), Education (ISCED), Employment (8 categories), and Wealth proxies (Subjective Social Class and Financial Satisfaction), controlling for age and sex.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Multiple Linear Regression (OLS) to estimate the unique association of each socioeconomic predictor while holding all other factors constant.</a:t>
            </a:r>
          </a:p>
          <a:p/>
          <a:p>
            <a:r>
              <a:t>Here is our model formula. To safeguard against heteroscedasticity, all standard errors and hypothesis tests were estimated using HC3 robust standard errors.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preparation was critical. We started with 97,220 raw observations, removed 294 duplicates, and dropped 506 rows where life satisfaction was missing.</a:t>
            </a:r>
          </a:p>
          <a:p/>
          <a:p>
            <a:r>
              <a:t>For predictor missingness, we applied listwise deletion at regression, yielding 88,546 complete cases. We avoided mean imputation because variables like income decile represent ordinal ranks.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inspected key numerical predictor distributions. Income Decile is virtually symmetric (skewness = 0.037), and Financial Satisfaction is mildly left-skewed (skewness = -0.353).</a:t>
            </a:r>
          </a:p>
          <a:p/>
          <a:p>
            <a:r>
              <a:t>We explicitly evaluated log transformations and decided against them because these variables are already bounded, discrete 1-to-10 ordinal scales, not raw currency amounts.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Life Satisfaction has a global mean of 7.06, median of 7.0, and skewness of -0.710. The single most frequent score is 10 (chosen by ~18% of respondents).</a:t>
            </a:r>
          </a:p>
          <a:p/>
          <a:p>
            <a:r>
              <a:t>This is the well-known 'positivity bias' in subjective well-being research, where the majority of people rate themselves in the upper half of the scale.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multiple regression on 88,546 complete cases achieved an R-squared of 0.3201 (32% variance explained).</a:t>
            </a:r>
          </a:p>
          <a:p/>
          <a:p>
            <a:r>
              <a:t>Key coefficients: Financial satisfaction is by far the largest predictor (beta = +0.518, p &lt; 0.001). Income decile is positive and significant (beta = +0.011, p = 0.006). Being unemployed carries a -0.147 penalty (p &lt; 0.001) relative to full-time employment, even after controlling for income.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standardized coefficients (beta_std), Financial Satisfaction (+1.259) is 55 times larger than Income Decile (+0.023). Unemployment penalty is -0.147.</a:t>
            </a:r>
          </a:p>
          <a:p/>
          <a:p>
            <a:r>
              <a:t>The data shows that where you sit on an objective income ladder matters far less than whether you feel your financial resources are adequate for your needs.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life satisfaction rises from 6.38 at Decile 1 to 8.33 at Decile 10 (a ~2 point spread). Quadratic testing shows a small positive term (beta2 = +0.007, p &lt; 0.001), indicating slight upward acceleration rather than a plateau.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Unemployed respondents report the lowest satisfaction (6.29 vs 7.07 for full-time). In controlled regression, the unemployment penalty is -0.147 (p &lt; 0.001).</a:t>
            </a:r>
          </a:p>
          <a:p/>
          <a:p>
            <a:r>
              <a:t>This proves employment provides well-being benefits—purpose, structure, and social connection—beyond the paycheck alone.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Bivariate life satisfaction rises with education (Primary 6.84 to University 7.28). In the controlled regression, the direct effect is -0.008 (p = 0.003).</a:t>
            </a:r>
          </a:p>
          <a:p/>
          <a:p>
            <a:r>
              <a:t>This is mediation: education works through higher income and social class. Once those are controlled, education has no additional direct effect, and the minor negative coefficient is a suppression artifact.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Hierarchical model comparison: Model 1 with objective demographics explains only 4.6% of variance (R2 = 0.046). Adding wealth and financial satisfaction jumps R2 to 32.0% (Delta R2 = +0.274).</a:t>
            </a:r>
          </a:p>
          <a:p/>
          <a:p>
            <a:r>
              <a:t>Subjective financial security contributes nearly 6 times more explanatory power than objective demographics.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One-way ANOVA across income quintiles is highly significant (F = 2244.6, p &lt; 0.001). Post-hoc Tukey HSD shows every quintile differs significantly from every other, with a 1.70 point spread between Q1 (6.42) and Q5 (8.12).</a:t>
            </a:r>
          </a:p>
          <a:p/>
          <a:p>
            <a:r>
              <a:t>However, large within-group spread (std ~2.0) shows income tier alone does not dictate individual happiness.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Diagnostic checks confirmed model integrity: All VIFs &lt; 2.0 (no multicollinearity); Cook's distance &lt; 0.001 (no influential outliers); mild heteroscedasticity fully addressed via HC3 robust standard errors; residuals are symmetric and well-behaved.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core findings: (1) Subjective financial satisfaction dominates (beta_std = 1.26); (2) Unemployment penalizes satisfaction independently of income (-0.147); (3) Income is positive but modest (+0.011); (4) Education is mediated through income/class; (5) Socioeconomics explains 32% of variance, leaving 68% to non-economic factors.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Answering our research question: Wealth (subjective financial adequacy) is the strongest predictor. Employment status matters substantially beyond income. Income is positive but modest. Education operates indirectly.</a:t>
            </a:r>
          </a:p>
          <a:p/>
          <a:p>
            <a:r>
              <a:t>Socioeconomic status matters for 32% of well-being, but personal financial security and purposeful work matter far more than income rank alone.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Cross-sectional observational data (no causation); possible reverse causality for financial satisfaction; proxy measures used for wealth; pooled 66 countries without country fixed effects; omitted variables (health, relationships, personality).</a:t>
            </a:r>
          </a:p>
          <a:p/>
          <a:p>
            <a:r>
              <a:t>Future research could use panel data and multilevel modeling.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4008" cy="6858000"/>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97280"/>
            <a:ext cx="10058400" cy="45720"/>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20040"/>
            <a:ext cx="10972800" cy="457200"/>
          </a:xfrm>
          <a:prstGeom prst="rect">
            <a:avLst/>
          </a:prstGeom>
          <a:noFill/>
        </p:spPr>
        <p:txBody>
          <a:bodyPr wrap="square">
            <a:spAutoFit/>
          </a:bodyPr>
          <a:lstStyle/>
          <a:p>
            <a:pPr algn="l"/>
            <a:r>
              <a:rPr sz="1200" b="1" i="0">
                <a:solidFill>
                  <a:srgbClr val="3FC1C9"/>
                </a:solidFill>
              </a:rPr>
              <a:t>MINI DATA SCIENCE PROJECT</a:t>
            </a:r>
          </a:p>
        </p:txBody>
      </p:sp>
      <p:sp>
        <p:nvSpPr>
          <p:cNvPr id="6" name="TextBox 5"/>
          <p:cNvSpPr txBox="1"/>
          <p:nvPr/>
        </p:nvSpPr>
        <p:spPr>
          <a:xfrm>
            <a:off x="548640" y="1234440"/>
            <a:ext cx="10515600" cy="2011680"/>
          </a:xfrm>
          <a:prstGeom prst="rect">
            <a:avLst/>
          </a:prstGeom>
          <a:noFill/>
        </p:spPr>
        <p:txBody>
          <a:bodyPr wrap="square">
            <a:spAutoFit/>
          </a:bodyPr>
          <a:lstStyle/>
          <a:p>
            <a:pPr algn="l"/>
            <a:r>
              <a:rPr sz="4400" b="1" i="0">
                <a:solidFill>
                  <a:srgbClr val="FFFFFF"/>
                </a:solidFill>
              </a:rPr>
              <a:t>Socioeconomic Factors
&amp; Life Satisfaction</a:t>
            </a:r>
          </a:p>
        </p:txBody>
      </p:sp>
      <p:sp>
        <p:nvSpPr>
          <p:cNvPr id="7" name="TextBox 6"/>
          <p:cNvSpPr txBox="1"/>
          <p:nvPr/>
        </p:nvSpPr>
        <p:spPr>
          <a:xfrm>
            <a:off x="548640" y="3246120"/>
            <a:ext cx="10058400" cy="822960"/>
          </a:xfrm>
          <a:prstGeom prst="rect">
            <a:avLst/>
          </a:prstGeom>
          <a:noFill/>
        </p:spPr>
        <p:txBody>
          <a:bodyPr wrap="square">
            <a:spAutoFit/>
          </a:bodyPr>
          <a:lstStyle/>
          <a:p>
            <a:pPr algn="l"/>
            <a:r>
              <a:rPr sz="1800" b="0" i="1">
                <a:solidFill>
                  <a:srgbClr val="E0E0E0"/>
                </a:solidFill>
              </a:rPr>
              <a:t>How strongly are income, education, employment, and wealth
associated with life satisfaction?</a:t>
            </a:r>
          </a:p>
        </p:txBody>
      </p:sp>
      <p:sp>
        <p:nvSpPr>
          <p:cNvPr id="8" name="Rectangle 7"/>
          <p:cNvSpPr/>
          <p:nvPr/>
        </p:nvSpPr>
        <p:spPr>
          <a:xfrm>
            <a:off x="548640" y="4206240"/>
            <a:ext cx="10058400"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343400"/>
            <a:ext cx="10058400" cy="365760"/>
          </a:xfrm>
          <a:prstGeom prst="rect">
            <a:avLst/>
          </a:prstGeom>
          <a:noFill/>
        </p:spPr>
        <p:txBody>
          <a:bodyPr wrap="square">
            <a:spAutoFit/>
          </a:bodyPr>
          <a:lstStyle/>
          <a:p>
            <a:pPr algn="l"/>
            <a:r>
              <a:rPr sz="1300" b="0" i="0">
                <a:solidFill>
                  <a:srgbClr val="B0B0B0"/>
                </a:solidFill>
              </a:rPr>
              <a:t>World Values Survey  •  Wave 7 (2017–2020)  •  96,420 Respondents  •  66 Countries</a:t>
            </a:r>
          </a:p>
        </p:txBody>
      </p:sp>
      <p:sp>
        <p:nvSpPr>
          <p:cNvPr id="10" name="TextBox 9"/>
          <p:cNvSpPr txBox="1"/>
          <p:nvPr/>
        </p:nvSpPr>
        <p:spPr>
          <a:xfrm>
            <a:off x="548640" y="4754880"/>
            <a:ext cx="10058400" cy="320040"/>
          </a:xfrm>
          <a:prstGeom prst="rect">
            <a:avLst/>
          </a:prstGeom>
          <a:noFill/>
        </p:spPr>
        <p:txBody>
          <a:bodyPr wrap="square">
            <a:spAutoFit/>
          </a:bodyPr>
          <a:lstStyle/>
          <a:p>
            <a:pPr algn="l"/>
            <a:r>
              <a:rPr sz="1300" b="0" i="0">
                <a:solidFill>
                  <a:srgbClr val="B0B0B0"/>
                </a:solidFill>
              </a:rPr>
              <a:t>Multiple Linear Regression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7C6AF7"/>
                </a:solidFill>
              </a:rPr>
              <a:t>PHASE 1  —  RESEARCH QUESTION</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What Are We Investigating?</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1274552" cy="9601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25880"/>
            <a:ext cx="64008" cy="960120"/>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89888"/>
            <a:ext cx="10789920" cy="822960"/>
          </a:xfrm>
          <a:prstGeom prst="rect">
            <a:avLst/>
          </a:prstGeom>
          <a:noFill/>
        </p:spPr>
        <p:txBody>
          <a:bodyPr wrap="square">
            <a:spAutoFit/>
          </a:bodyPr>
          <a:lstStyle/>
          <a:p>
            <a:pPr algn="l"/>
            <a:r>
              <a:rPr sz="1900" b="1" i="1">
                <a:solidFill>
                  <a:srgbClr val="FFFFFF"/>
                </a:solidFill>
              </a:rPr>
              <a:t>“How strongly are income, education, employment, and wealth
associated with life satisfaction?”</a:t>
            </a:r>
          </a:p>
        </p:txBody>
      </p:sp>
      <p:sp>
        <p:nvSpPr>
          <p:cNvPr id="9" name="Rectangle 8"/>
          <p:cNvSpPr/>
          <p:nvPr/>
        </p:nvSpPr>
        <p:spPr>
          <a:xfrm>
            <a:off x="457200" y="2468880"/>
            <a:ext cx="2697480" cy="21031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68880"/>
            <a:ext cx="2697480" cy="64008"/>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542032"/>
            <a:ext cx="2468880" cy="365760"/>
          </a:xfrm>
          <a:prstGeom prst="rect">
            <a:avLst/>
          </a:prstGeom>
          <a:noFill/>
        </p:spPr>
        <p:txBody>
          <a:bodyPr wrap="square">
            <a:spAutoFit/>
          </a:bodyPr>
          <a:lstStyle/>
          <a:p>
            <a:pPr algn="l"/>
            <a:r>
              <a:rPr sz="1500" b="1" i="0">
                <a:solidFill>
                  <a:srgbClr val="7C6AF7"/>
                </a:solidFill>
              </a:rPr>
              <a:t>Income</a:t>
            </a:r>
          </a:p>
        </p:txBody>
      </p:sp>
      <p:sp>
        <p:nvSpPr>
          <p:cNvPr id="12" name="TextBox 11"/>
          <p:cNvSpPr txBox="1"/>
          <p:nvPr/>
        </p:nvSpPr>
        <p:spPr>
          <a:xfrm>
            <a:off x="566928" y="2926080"/>
            <a:ext cx="2468880" cy="1371600"/>
          </a:xfrm>
          <a:prstGeom prst="rect">
            <a:avLst/>
          </a:prstGeom>
          <a:noFill/>
        </p:spPr>
        <p:txBody>
          <a:bodyPr wrap="square">
            <a:spAutoFit/>
          </a:bodyPr>
          <a:lstStyle/>
          <a:p>
            <a:pPr algn="l"/>
            <a:r>
              <a:rPr sz="1200" b="0" i="0">
                <a:solidFill>
                  <a:srgbClr val="E0E0E0"/>
                </a:solidFill>
              </a:rPr>
              <a:t>Is higher household income
associated with higher
life satisfaction?</a:t>
            </a:r>
          </a:p>
        </p:txBody>
      </p:sp>
      <p:sp>
        <p:nvSpPr>
          <p:cNvPr id="13" name="Rectangle 12"/>
          <p:cNvSpPr/>
          <p:nvPr/>
        </p:nvSpPr>
        <p:spPr>
          <a:xfrm>
            <a:off x="3291840" y="2468880"/>
            <a:ext cx="2697480" cy="21031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2468880"/>
            <a:ext cx="2697480" cy="64008"/>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1568" y="2542032"/>
            <a:ext cx="2468880" cy="365760"/>
          </a:xfrm>
          <a:prstGeom prst="rect">
            <a:avLst/>
          </a:prstGeom>
          <a:noFill/>
        </p:spPr>
        <p:txBody>
          <a:bodyPr wrap="square">
            <a:spAutoFit/>
          </a:bodyPr>
          <a:lstStyle/>
          <a:p>
            <a:pPr algn="l"/>
            <a:r>
              <a:rPr sz="1500" b="1" i="0">
                <a:solidFill>
                  <a:srgbClr val="3FC1C9"/>
                </a:solidFill>
              </a:rPr>
              <a:t>Education</a:t>
            </a:r>
          </a:p>
        </p:txBody>
      </p:sp>
      <p:sp>
        <p:nvSpPr>
          <p:cNvPr id="16" name="TextBox 15"/>
          <p:cNvSpPr txBox="1"/>
          <p:nvPr/>
        </p:nvSpPr>
        <p:spPr>
          <a:xfrm>
            <a:off x="3401568" y="2926080"/>
            <a:ext cx="2468880" cy="1371600"/>
          </a:xfrm>
          <a:prstGeom prst="rect">
            <a:avLst/>
          </a:prstGeom>
          <a:noFill/>
        </p:spPr>
        <p:txBody>
          <a:bodyPr wrap="square">
            <a:spAutoFit/>
          </a:bodyPr>
          <a:lstStyle/>
          <a:p>
            <a:pPr algn="l"/>
            <a:r>
              <a:rPr sz="1200" b="0" i="0">
                <a:solidFill>
                  <a:srgbClr val="E0E0E0"/>
                </a:solidFill>
              </a:rPr>
              <a:t>Does educational attainment
relate to how satisfied
people report being?</a:t>
            </a:r>
          </a:p>
        </p:txBody>
      </p:sp>
      <p:sp>
        <p:nvSpPr>
          <p:cNvPr id="17" name="Rectangle 16"/>
          <p:cNvSpPr/>
          <p:nvPr/>
        </p:nvSpPr>
        <p:spPr>
          <a:xfrm>
            <a:off x="6126480" y="2468880"/>
            <a:ext cx="2697480" cy="21031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2468880"/>
            <a:ext cx="2697480" cy="64008"/>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2542032"/>
            <a:ext cx="2468880" cy="365760"/>
          </a:xfrm>
          <a:prstGeom prst="rect">
            <a:avLst/>
          </a:prstGeom>
          <a:noFill/>
        </p:spPr>
        <p:txBody>
          <a:bodyPr wrap="square">
            <a:spAutoFit/>
          </a:bodyPr>
          <a:lstStyle/>
          <a:p>
            <a:pPr algn="l"/>
            <a:r>
              <a:rPr sz="1500" b="1" i="0">
                <a:solidFill>
                  <a:srgbClr val="F7975A"/>
                </a:solidFill>
              </a:rPr>
              <a:t>Employment</a:t>
            </a:r>
          </a:p>
        </p:txBody>
      </p:sp>
      <p:sp>
        <p:nvSpPr>
          <p:cNvPr id="20" name="TextBox 19"/>
          <p:cNvSpPr txBox="1"/>
          <p:nvPr/>
        </p:nvSpPr>
        <p:spPr>
          <a:xfrm>
            <a:off x="6236208" y="2926080"/>
            <a:ext cx="2468880" cy="1371600"/>
          </a:xfrm>
          <a:prstGeom prst="rect">
            <a:avLst/>
          </a:prstGeom>
          <a:noFill/>
        </p:spPr>
        <p:txBody>
          <a:bodyPr wrap="square">
            <a:spAutoFit/>
          </a:bodyPr>
          <a:lstStyle/>
          <a:p>
            <a:pPr algn="l"/>
            <a:r>
              <a:rPr sz="1200" b="0" i="0">
                <a:solidFill>
                  <a:srgbClr val="E0E0E0"/>
                </a:solidFill>
              </a:rPr>
              <a:t>Does employment status
independently predict
life satisfaction?</a:t>
            </a:r>
          </a:p>
        </p:txBody>
      </p:sp>
      <p:sp>
        <p:nvSpPr>
          <p:cNvPr id="21" name="Rectangle 20"/>
          <p:cNvSpPr/>
          <p:nvPr/>
        </p:nvSpPr>
        <p:spPr>
          <a:xfrm>
            <a:off x="8961120" y="2468880"/>
            <a:ext cx="2697480" cy="21031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2468880"/>
            <a:ext cx="2697480" cy="64008"/>
          </a:xfrm>
          <a:prstGeom prst="rect">
            <a:avLst/>
          </a:prstGeom>
          <a:solidFill>
            <a:srgbClr val="5A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70848" y="2542032"/>
            <a:ext cx="2468880" cy="365760"/>
          </a:xfrm>
          <a:prstGeom prst="rect">
            <a:avLst/>
          </a:prstGeom>
          <a:noFill/>
        </p:spPr>
        <p:txBody>
          <a:bodyPr wrap="square">
            <a:spAutoFit/>
          </a:bodyPr>
          <a:lstStyle/>
          <a:p>
            <a:pPr algn="l"/>
            <a:r>
              <a:rPr sz="1500" b="1" i="0">
                <a:solidFill>
                  <a:srgbClr val="5AE68A"/>
                </a:solidFill>
              </a:rPr>
              <a:t>Wealth</a:t>
            </a:r>
          </a:p>
        </p:txBody>
      </p:sp>
      <p:sp>
        <p:nvSpPr>
          <p:cNvPr id="24" name="TextBox 23"/>
          <p:cNvSpPr txBox="1"/>
          <p:nvPr/>
        </p:nvSpPr>
        <p:spPr>
          <a:xfrm>
            <a:off x="9070848" y="2926080"/>
            <a:ext cx="2468880" cy="1371600"/>
          </a:xfrm>
          <a:prstGeom prst="rect">
            <a:avLst/>
          </a:prstGeom>
          <a:noFill/>
        </p:spPr>
        <p:txBody>
          <a:bodyPr wrap="square">
            <a:spAutoFit/>
          </a:bodyPr>
          <a:lstStyle/>
          <a:p>
            <a:pPr algn="l"/>
            <a:r>
              <a:rPr sz="1200" b="0" i="0">
                <a:solidFill>
                  <a:srgbClr val="E0E0E0"/>
                </a:solidFill>
              </a:rPr>
              <a:t>Is subjective financial
well-being linked to
overall life satisfaction?</a:t>
            </a:r>
          </a:p>
        </p:txBody>
      </p:sp>
      <p:sp>
        <p:nvSpPr>
          <p:cNvPr id="25" name="TextBox 24"/>
          <p:cNvSpPr txBox="1"/>
          <p:nvPr/>
        </p:nvSpPr>
        <p:spPr>
          <a:xfrm>
            <a:off x="457200" y="4754880"/>
            <a:ext cx="10972800" cy="365760"/>
          </a:xfrm>
          <a:prstGeom prst="rect">
            <a:avLst/>
          </a:prstGeom>
          <a:noFill/>
        </p:spPr>
        <p:txBody>
          <a:bodyPr wrap="square">
            <a:spAutoFit/>
          </a:bodyPr>
          <a:lstStyle/>
          <a:p>
            <a:pPr algn="l"/>
            <a:r>
              <a:rPr sz="1200" b="1" i="0">
                <a:solidFill>
                  <a:srgbClr val="F7975A"/>
                </a:solidFill>
              </a:rPr>
              <a:t>⚠  Important: We study ASSOCIATIONS, not causation. This is observational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3FC1C9"/>
                </a:solidFill>
              </a:rPr>
              <a:t>PHASE 2  —  DATASET</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World Values Survey — Wave 7</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2697480" cy="128016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89888"/>
            <a:ext cx="2697480" cy="640080"/>
          </a:xfrm>
          <a:prstGeom prst="rect">
            <a:avLst/>
          </a:prstGeom>
          <a:noFill/>
        </p:spPr>
        <p:txBody>
          <a:bodyPr wrap="square">
            <a:spAutoFit/>
          </a:bodyPr>
          <a:lstStyle/>
          <a:p>
            <a:pPr algn="ctr"/>
            <a:r>
              <a:rPr sz="3000" b="1" i="0">
                <a:solidFill>
                  <a:srgbClr val="7C6AF7"/>
                </a:solidFill>
              </a:rPr>
              <a:t>96,420</a:t>
            </a:r>
          </a:p>
        </p:txBody>
      </p:sp>
      <p:sp>
        <p:nvSpPr>
          <p:cNvPr id="8" name="TextBox 7"/>
          <p:cNvSpPr txBox="1"/>
          <p:nvPr/>
        </p:nvSpPr>
        <p:spPr>
          <a:xfrm>
            <a:off x="457200" y="1965960"/>
            <a:ext cx="2697480" cy="548640"/>
          </a:xfrm>
          <a:prstGeom prst="rect">
            <a:avLst/>
          </a:prstGeom>
          <a:noFill/>
        </p:spPr>
        <p:txBody>
          <a:bodyPr wrap="square">
            <a:spAutoFit/>
          </a:bodyPr>
          <a:lstStyle/>
          <a:p>
            <a:pPr algn="ctr"/>
            <a:r>
              <a:rPr sz="1200" b="0" i="0">
                <a:solidFill>
                  <a:srgbClr val="B0B0B0"/>
                </a:solidFill>
              </a:rPr>
              <a:t>Respondents
(after cleaning)</a:t>
            </a:r>
          </a:p>
        </p:txBody>
      </p:sp>
      <p:sp>
        <p:nvSpPr>
          <p:cNvPr id="9" name="Rectangle 8"/>
          <p:cNvSpPr/>
          <p:nvPr/>
        </p:nvSpPr>
        <p:spPr>
          <a:xfrm>
            <a:off x="3291840" y="1325880"/>
            <a:ext cx="2697480" cy="128016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389888"/>
            <a:ext cx="2697480" cy="640080"/>
          </a:xfrm>
          <a:prstGeom prst="rect">
            <a:avLst/>
          </a:prstGeom>
          <a:noFill/>
        </p:spPr>
        <p:txBody>
          <a:bodyPr wrap="square">
            <a:spAutoFit/>
          </a:bodyPr>
          <a:lstStyle/>
          <a:p>
            <a:pPr algn="ctr"/>
            <a:r>
              <a:rPr sz="3000" b="1" i="0">
                <a:solidFill>
                  <a:srgbClr val="3FC1C9"/>
                </a:solidFill>
              </a:rPr>
              <a:t>66</a:t>
            </a:r>
          </a:p>
        </p:txBody>
      </p:sp>
      <p:sp>
        <p:nvSpPr>
          <p:cNvPr id="11" name="TextBox 10"/>
          <p:cNvSpPr txBox="1"/>
          <p:nvPr/>
        </p:nvSpPr>
        <p:spPr>
          <a:xfrm>
            <a:off x="3291840" y="1965960"/>
            <a:ext cx="2697480" cy="548640"/>
          </a:xfrm>
          <a:prstGeom prst="rect">
            <a:avLst/>
          </a:prstGeom>
          <a:noFill/>
        </p:spPr>
        <p:txBody>
          <a:bodyPr wrap="square">
            <a:spAutoFit/>
          </a:bodyPr>
          <a:lstStyle/>
          <a:p>
            <a:pPr algn="ctr"/>
            <a:r>
              <a:rPr sz="1200" b="0" i="0">
                <a:solidFill>
                  <a:srgbClr val="B0B0B0"/>
                </a:solidFill>
              </a:rPr>
              <a:t>Countries
&amp; Territories</a:t>
            </a:r>
          </a:p>
        </p:txBody>
      </p:sp>
      <p:sp>
        <p:nvSpPr>
          <p:cNvPr id="12" name="Rectangle 11"/>
          <p:cNvSpPr/>
          <p:nvPr/>
        </p:nvSpPr>
        <p:spPr>
          <a:xfrm>
            <a:off x="6126480" y="1325880"/>
            <a:ext cx="2697480" cy="128016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1389888"/>
            <a:ext cx="2697480" cy="640080"/>
          </a:xfrm>
          <a:prstGeom prst="rect">
            <a:avLst/>
          </a:prstGeom>
          <a:noFill/>
        </p:spPr>
        <p:txBody>
          <a:bodyPr wrap="square">
            <a:spAutoFit/>
          </a:bodyPr>
          <a:lstStyle/>
          <a:p>
            <a:pPr algn="ctr"/>
            <a:r>
              <a:rPr sz="3000" b="1" i="0">
                <a:solidFill>
                  <a:srgbClr val="F7975A"/>
                </a:solidFill>
              </a:rPr>
              <a:t>2017–2020</a:t>
            </a:r>
          </a:p>
        </p:txBody>
      </p:sp>
      <p:sp>
        <p:nvSpPr>
          <p:cNvPr id="14" name="TextBox 13"/>
          <p:cNvSpPr txBox="1"/>
          <p:nvPr/>
        </p:nvSpPr>
        <p:spPr>
          <a:xfrm>
            <a:off x="6126480" y="1965960"/>
            <a:ext cx="2697480" cy="548640"/>
          </a:xfrm>
          <a:prstGeom prst="rect">
            <a:avLst/>
          </a:prstGeom>
          <a:noFill/>
        </p:spPr>
        <p:txBody>
          <a:bodyPr wrap="square">
            <a:spAutoFit/>
          </a:bodyPr>
          <a:lstStyle/>
          <a:p>
            <a:pPr algn="ctr"/>
            <a:r>
              <a:rPr sz="1200" b="0" i="0">
                <a:solidFill>
                  <a:srgbClr val="B0B0B0"/>
                </a:solidFill>
              </a:rPr>
              <a:t>Data Collection
Period</a:t>
            </a:r>
          </a:p>
        </p:txBody>
      </p:sp>
      <p:sp>
        <p:nvSpPr>
          <p:cNvPr id="15" name="Rectangle 14"/>
          <p:cNvSpPr/>
          <p:nvPr/>
        </p:nvSpPr>
        <p:spPr>
          <a:xfrm>
            <a:off x="8961120" y="1325880"/>
            <a:ext cx="2697480" cy="128016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1389888"/>
            <a:ext cx="2697480" cy="640080"/>
          </a:xfrm>
          <a:prstGeom prst="rect">
            <a:avLst/>
          </a:prstGeom>
          <a:noFill/>
        </p:spPr>
        <p:txBody>
          <a:bodyPr wrap="square">
            <a:spAutoFit/>
          </a:bodyPr>
          <a:lstStyle/>
          <a:p>
            <a:pPr algn="ctr"/>
            <a:r>
              <a:rPr sz="3000" b="1" i="0">
                <a:solidFill>
                  <a:srgbClr val="5AE68A"/>
                </a:solidFill>
              </a:rPr>
              <a:t>WVS v6.0</a:t>
            </a:r>
          </a:p>
        </p:txBody>
      </p:sp>
      <p:sp>
        <p:nvSpPr>
          <p:cNvPr id="17" name="TextBox 16"/>
          <p:cNvSpPr txBox="1"/>
          <p:nvPr/>
        </p:nvSpPr>
        <p:spPr>
          <a:xfrm>
            <a:off x="8961120" y="1965960"/>
            <a:ext cx="2697480" cy="548640"/>
          </a:xfrm>
          <a:prstGeom prst="rect">
            <a:avLst/>
          </a:prstGeom>
          <a:noFill/>
        </p:spPr>
        <p:txBody>
          <a:bodyPr wrap="square">
            <a:spAutoFit/>
          </a:bodyPr>
          <a:lstStyle/>
          <a:p>
            <a:pPr algn="ctr"/>
            <a:r>
              <a:rPr sz="1200" b="0" i="0">
                <a:solidFill>
                  <a:srgbClr val="B0B0B0"/>
                </a:solidFill>
              </a:rPr>
              <a:t>Dataset
Version</a:t>
            </a:r>
          </a:p>
        </p:txBody>
      </p:sp>
      <p:sp>
        <p:nvSpPr>
          <p:cNvPr id="18" name="Rectangle 17"/>
          <p:cNvSpPr/>
          <p:nvPr/>
        </p:nvSpPr>
        <p:spPr>
          <a:xfrm>
            <a:off x="457200" y="2743200"/>
            <a:ext cx="11274552" cy="288036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788920"/>
            <a:ext cx="2194560" cy="274320"/>
          </a:xfrm>
          <a:prstGeom prst="rect">
            <a:avLst/>
          </a:prstGeom>
          <a:noFill/>
        </p:spPr>
        <p:txBody>
          <a:bodyPr wrap="square">
            <a:spAutoFit/>
          </a:bodyPr>
          <a:lstStyle/>
          <a:p>
            <a:pPr algn="l"/>
            <a:r>
              <a:rPr sz="1100" b="1" i="0">
                <a:solidFill>
                  <a:srgbClr val="3FC1C9"/>
                </a:solidFill>
              </a:rPr>
              <a:t>Role</a:t>
            </a:r>
          </a:p>
        </p:txBody>
      </p:sp>
      <p:sp>
        <p:nvSpPr>
          <p:cNvPr id="20" name="TextBox 19"/>
          <p:cNvSpPr txBox="1"/>
          <p:nvPr/>
        </p:nvSpPr>
        <p:spPr>
          <a:xfrm>
            <a:off x="2926080" y="2788920"/>
            <a:ext cx="3291840" cy="274320"/>
          </a:xfrm>
          <a:prstGeom prst="rect">
            <a:avLst/>
          </a:prstGeom>
          <a:noFill/>
        </p:spPr>
        <p:txBody>
          <a:bodyPr wrap="square">
            <a:spAutoFit/>
          </a:bodyPr>
          <a:lstStyle/>
          <a:p>
            <a:pPr algn="l"/>
            <a:r>
              <a:rPr sz="1100" b="1" i="0">
                <a:solidFill>
                  <a:srgbClr val="3FC1C9"/>
                </a:solidFill>
              </a:rPr>
              <a:t>Variable</a:t>
            </a:r>
          </a:p>
        </p:txBody>
      </p:sp>
      <p:sp>
        <p:nvSpPr>
          <p:cNvPr id="21" name="TextBox 20"/>
          <p:cNvSpPr txBox="1"/>
          <p:nvPr/>
        </p:nvSpPr>
        <p:spPr>
          <a:xfrm>
            <a:off x="6400800" y="2788920"/>
            <a:ext cx="2103120" cy="274320"/>
          </a:xfrm>
          <a:prstGeom prst="rect">
            <a:avLst/>
          </a:prstGeom>
          <a:noFill/>
        </p:spPr>
        <p:txBody>
          <a:bodyPr wrap="square">
            <a:spAutoFit/>
          </a:bodyPr>
          <a:lstStyle/>
          <a:p>
            <a:pPr algn="l"/>
            <a:r>
              <a:rPr sz="1100" b="1" i="0">
                <a:solidFill>
                  <a:srgbClr val="3FC1C9"/>
                </a:solidFill>
              </a:rPr>
              <a:t>WVS Code</a:t>
            </a:r>
          </a:p>
        </p:txBody>
      </p:sp>
      <p:sp>
        <p:nvSpPr>
          <p:cNvPr id="22" name="TextBox 21"/>
          <p:cNvSpPr txBox="1"/>
          <p:nvPr/>
        </p:nvSpPr>
        <p:spPr>
          <a:xfrm>
            <a:off x="8686800" y="2788920"/>
            <a:ext cx="2743200" cy="274320"/>
          </a:xfrm>
          <a:prstGeom prst="rect">
            <a:avLst/>
          </a:prstGeom>
          <a:noFill/>
        </p:spPr>
        <p:txBody>
          <a:bodyPr wrap="square">
            <a:spAutoFit/>
          </a:bodyPr>
          <a:lstStyle/>
          <a:p>
            <a:pPr algn="l"/>
            <a:r>
              <a:rPr sz="1100" b="1" i="0">
                <a:solidFill>
                  <a:srgbClr val="3FC1C9"/>
                </a:solidFill>
              </a:rPr>
              <a:t>Scale</a:t>
            </a:r>
          </a:p>
        </p:txBody>
      </p:sp>
      <p:sp>
        <p:nvSpPr>
          <p:cNvPr id="23" name="TextBox 22"/>
          <p:cNvSpPr txBox="1"/>
          <p:nvPr/>
        </p:nvSpPr>
        <p:spPr>
          <a:xfrm>
            <a:off x="594360" y="3108960"/>
            <a:ext cx="2194560" cy="274320"/>
          </a:xfrm>
          <a:prstGeom prst="rect">
            <a:avLst/>
          </a:prstGeom>
          <a:noFill/>
        </p:spPr>
        <p:txBody>
          <a:bodyPr wrap="square">
            <a:spAutoFit/>
          </a:bodyPr>
          <a:lstStyle/>
          <a:p>
            <a:pPr algn="l"/>
            <a:r>
              <a:rPr sz="1100" b="0" i="0">
                <a:solidFill>
                  <a:srgbClr val="7C6AF7"/>
                </a:solidFill>
              </a:rPr>
              <a:t>Dependent Variable</a:t>
            </a:r>
          </a:p>
        </p:txBody>
      </p:sp>
      <p:sp>
        <p:nvSpPr>
          <p:cNvPr id="24" name="TextBox 23"/>
          <p:cNvSpPr txBox="1"/>
          <p:nvPr/>
        </p:nvSpPr>
        <p:spPr>
          <a:xfrm>
            <a:off x="2926080" y="3108960"/>
            <a:ext cx="3291840" cy="274320"/>
          </a:xfrm>
          <a:prstGeom prst="rect">
            <a:avLst/>
          </a:prstGeom>
          <a:noFill/>
        </p:spPr>
        <p:txBody>
          <a:bodyPr wrap="square">
            <a:spAutoFit/>
          </a:bodyPr>
          <a:lstStyle/>
          <a:p>
            <a:pPr algn="l"/>
            <a:r>
              <a:rPr sz="1100" b="0" i="0">
                <a:solidFill>
                  <a:srgbClr val="E0E0E0"/>
                </a:solidFill>
              </a:rPr>
              <a:t>life_satisfaction</a:t>
            </a:r>
          </a:p>
        </p:txBody>
      </p:sp>
      <p:sp>
        <p:nvSpPr>
          <p:cNvPr id="25" name="TextBox 24"/>
          <p:cNvSpPr txBox="1"/>
          <p:nvPr/>
        </p:nvSpPr>
        <p:spPr>
          <a:xfrm>
            <a:off x="6400800" y="3108960"/>
            <a:ext cx="2103120" cy="274320"/>
          </a:xfrm>
          <a:prstGeom prst="rect">
            <a:avLst/>
          </a:prstGeom>
          <a:noFill/>
        </p:spPr>
        <p:txBody>
          <a:bodyPr wrap="square">
            <a:spAutoFit/>
          </a:bodyPr>
          <a:lstStyle/>
          <a:p>
            <a:pPr algn="l"/>
            <a:r>
              <a:rPr sz="1100" b="0" i="0">
                <a:solidFill>
                  <a:srgbClr val="E0E0E0"/>
                </a:solidFill>
              </a:rPr>
              <a:t>Q49</a:t>
            </a:r>
          </a:p>
        </p:txBody>
      </p:sp>
      <p:sp>
        <p:nvSpPr>
          <p:cNvPr id="26" name="TextBox 25"/>
          <p:cNvSpPr txBox="1"/>
          <p:nvPr/>
        </p:nvSpPr>
        <p:spPr>
          <a:xfrm>
            <a:off x="8686800" y="3108960"/>
            <a:ext cx="2743200" cy="274320"/>
          </a:xfrm>
          <a:prstGeom prst="rect">
            <a:avLst/>
          </a:prstGeom>
          <a:noFill/>
        </p:spPr>
        <p:txBody>
          <a:bodyPr wrap="square">
            <a:spAutoFit/>
          </a:bodyPr>
          <a:lstStyle/>
          <a:p>
            <a:pPr algn="l"/>
            <a:r>
              <a:rPr sz="1100" b="0" i="0">
                <a:solidFill>
                  <a:srgbClr val="E0E0E0"/>
                </a:solidFill>
              </a:rPr>
              <a:t>1–10 (1=dissatisfied)</a:t>
            </a:r>
          </a:p>
        </p:txBody>
      </p:sp>
      <p:sp>
        <p:nvSpPr>
          <p:cNvPr id="27" name="TextBox 26"/>
          <p:cNvSpPr txBox="1"/>
          <p:nvPr/>
        </p:nvSpPr>
        <p:spPr>
          <a:xfrm>
            <a:off x="594360" y="3419856"/>
            <a:ext cx="2194560" cy="274320"/>
          </a:xfrm>
          <a:prstGeom prst="rect">
            <a:avLst/>
          </a:prstGeom>
          <a:noFill/>
        </p:spPr>
        <p:txBody>
          <a:bodyPr wrap="square">
            <a:spAutoFit/>
          </a:bodyPr>
          <a:lstStyle/>
          <a:p>
            <a:pPr algn="l"/>
            <a:r>
              <a:rPr sz="1100" b="0" i="0">
                <a:solidFill>
                  <a:srgbClr val="3FC1C9"/>
                </a:solidFill>
              </a:rPr>
              <a:t>IV — Income</a:t>
            </a:r>
          </a:p>
        </p:txBody>
      </p:sp>
      <p:sp>
        <p:nvSpPr>
          <p:cNvPr id="28" name="TextBox 27"/>
          <p:cNvSpPr txBox="1"/>
          <p:nvPr/>
        </p:nvSpPr>
        <p:spPr>
          <a:xfrm>
            <a:off x="2926080" y="3419856"/>
            <a:ext cx="3291840" cy="274320"/>
          </a:xfrm>
          <a:prstGeom prst="rect">
            <a:avLst/>
          </a:prstGeom>
          <a:noFill/>
        </p:spPr>
        <p:txBody>
          <a:bodyPr wrap="square">
            <a:spAutoFit/>
          </a:bodyPr>
          <a:lstStyle/>
          <a:p>
            <a:pPr algn="l"/>
            <a:r>
              <a:rPr sz="1100" b="0" i="0">
                <a:solidFill>
                  <a:srgbClr val="E0E0E0"/>
                </a:solidFill>
              </a:rPr>
              <a:t>income</a:t>
            </a:r>
          </a:p>
        </p:txBody>
      </p:sp>
      <p:sp>
        <p:nvSpPr>
          <p:cNvPr id="29" name="TextBox 28"/>
          <p:cNvSpPr txBox="1"/>
          <p:nvPr/>
        </p:nvSpPr>
        <p:spPr>
          <a:xfrm>
            <a:off x="6400800" y="3419856"/>
            <a:ext cx="2103120" cy="274320"/>
          </a:xfrm>
          <a:prstGeom prst="rect">
            <a:avLst/>
          </a:prstGeom>
          <a:noFill/>
        </p:spPr>
        <p:txBody>
          <a:bodyPr wrap="square">
            <a:spAutoFit/>
          </a:bodyPr>
          <a:lstStyle/>
          <a:p>
            <a:pPr algn="l"/>
            <a:r>
              <a:rPr sz="1100" b="0" i="0">
                <a:solidFill>
                  <a:srgbClr val="E0E0E0"/>
                </a:solidFill>
              </a:rPr>
              <a:t>Q288</a:t>
            </a:r>
          </a:p>
        </p:txBody>
      </p:sp>
      <p:sp>
        <p:nvSpPr>
          <p:cNvPr id="30" name="TextBox 29"/>
          <p:cNvSpPr txBox="1"/>
          <p:nvPr/>
        </p:nvSpPr>
        <p:spPr>
          <a:xfrm>
            <a:off x="8686800" y="3419856"/>
            <a:ext cx="2743200" cy="274320"/>
          </a:xfrm>
          <a:prstGeom prst="rect">
            <a:avLst/>
          </a:prstGeom>
          <a:noFill/>
        </p:spPr>
        <p:txBody>
          <a:bodyPr wrap="square">
            <a:spAutoFit/>
          </a:bodyPr>
          <a:lstStyle/>
          <a:p>
            <a:pPr algn="l"/>
            <a:r>
              <a:rPr sz="1100" b="0" i="0">
                <a:solidFill>
                  <a:srgbClr val="E0E0E0"/>
                </a:solidFill>
              </a:rPr>
              <a:t>1–10 (HH income decile)</a:t>
            </a:r>
          </a:p>
        </p:txBody>
      </p:sp>
      <p:sp>
        <p:nvSpPr>
          <p:cNvPr id="31" name="TextBox 30"/>
          <p:cNvSpPr txBox="1"/>
          <p:nvPr/>
        </p:nvSpPr>
        <p:spPr>
          <a:xfrm>
            <a:off x="594360" y="3730752"/>
            <a:ext cx="2194560" cy="274320"/>
          </a:xfrm>
          <a:prstGeom prst="rect">
            <a:avLst/>
          </a:prstGeom>
          <a:noFill/>
        </p:spPr>
        <p:txBody>
          <a:bodyPr wrap="square">
            <a:spAutoFit/>
          </a:bodyPr>
          <a:lstStyle/>
          <a:p>
            <a:pPr algn="l"/>
            <a:r>
              <a:rPr sz="1100" b="0" i="0">
                <a:solidFill>
                  <a:srgbClr val="5AE68A"/>
                </a:solidFill>
              </a:rPr>
              <a:t>IV — Education</a:t>
            </a:r>
          </a:p>
        </p:txBody>
      </p:sp>
      <p:sp>
        <p:nvSpPr>
          <p:cNvPr id="32" name="TextBox 31"/>
          <p:cNvSpPr txBox="1"/>
          <p:nvPr/>
        </p:nvSpPr>
        <p:spPr>
          <a:xfrm>
            <a:off x="2926080" y="3730752"/>
            <a:ext cx="3291840" cy="274320"/>
          </a:xfrm>
          <a:prstGeom prst="rect">
            <a:avLst/>
          </a:prstGeom>
          <a:noFill/>
        </p:spPr>
        <p:txBody>
          <a:bodyPr wrap="square">
            <a:spAutoFit/>
          </a:bodyPr>
          <a:lstStyle/>
          <a:p>
            <a:pPr algn="l"/>
            <a:r>
              <a:rPr sz="1100" b="0" i="0">
                <a:solidFill>
                  <a:srgbClr val="E0E0E0"/>
                </a:solidFill>
              </a:rPr>
              <a:t>education</a:t>
            </a:r>
          </a:p>
        </p:txBody>
      </p:sp>
      <p:sp>
        <p:nvSpPr>
          <p:cNvPr id="33" name="TextBox 32"/>
          <p:cNvSpPr txBox="1"/>
          <p:nvPr/>
        </p:nvSpPr>
        <p:spPr>
          <a:xfrm>
            <a:off x="6400800" y="3730752"/>
            <a:ext cx="2103120" cy="274320"/>
          </a:xfrm>
          <a:prstGeom prst="rect">
            <a:avLst/>
          </a:prstGeom>
          <a:noFill/>
        </p:spPr>
        <p:txBody>
          <a:bodyPr wrap="square">
            <a:spAutoFit/>
          </a:bodyPr>
          <a:lstStyle/>
          <a:p>
            <a:pPr algn="l"/>
            <a:r>
              <a:rPr sz="1100" b="0" i="0">
                <a:solidFill>
                  <a:srgbClr val="E0E0E0"/>
                </a:solidFill>
              </a:rPr>
              <a:t>Q275</a:t>
            </a:r>
          </a:p>
        </p:txBody>
      </p:sp>
      <p:sp>
        <p:nvSpPr>
          <p:cNvPr id="34" name="TextBox 33"/>
          <p:cNvSpPr txBox="1"/>
          <p:nvPr/>
        </p:nvSpPr>
        <p:spPr>
          <a:xfrm>
            <a:off x="8686800" y="3730752"/>
            <a:ext cx="2743200" cy="274320"/>
          </a:xfrm>
          <a:prstGeom prst="rect">
            <a:avLst/>
          </a:prstGeom>
          <a:noFill/>
        </p:spPr>
        <p:txBody>
          <a:bodyPr wrap="square">
            <a:spAutoFit/>
          </a:bodyPr>
          <a:lstStyle/>
          <a:p>
            <a:pPr algn="l"/>
            <a:r>
              <a:rPr sz="1100" b="0" i="0">
                <a:solidFill>
                  <a:srgbClr val="E0E0E0"/>
                </a:solidFill>
              </a:rPr>
              <a:t>0–8 (ISCED level)</a:t>
            </a:r>
          </a:p>
        </p:txBody>
      </p:sp>
      <p:sp>
        <p:nvSpPr>
          <p:cNvPr id="35" name="TextBox 34"/>
          <p:cNvSpPr txBox="1"/>
          <p:nvPr/>
        </p:nvSpPr>
        <p:spPr>
          <a:xfrm>
            <a:off x="594360" y="4041648"/>
            <a:ext cx="2194560" cy="274320"/>
          </a:xfrm>
          <a:prstGeom prst="rect">
            <a:avLst/>
          </a:prstGeom>
          <a:noFill/>
        </p:spPr>
        <p:txBody>
          <a:bodyPr wrap="square">
            <a:spAutoFit/>
          </a:bodyPr>
          <a:lstStyle/>
          <a:p>
            <a:pPr algn="l"/>
            <a:r>
              <a:rPr sz="1100" b="0" i="0">
                <a:solidFill>
                  <a:srgbClr val="F7975A"/>
                </a:solidFill>
              </a:rPr>
              <a:t>IV — Employment</a:t>
            </a:r>
          </a:p>
        </p:txBody>
      </p:sp>
      <p:sp>
        <p:nvSpPr>
          <p:cNvPr id="36" name="TextBox 35"/>
          <p:cNvSpPr txBox="1"/>
          <p:nvPr/>
        </p:nvSpPr>
        <p:spPr>
          <a:xfrm>
            <a:off x="2926080" y="4041648"/>
            <a:ext cx="3291840" cy="274320"/>
          </a:xfrm>
          <a:prstGeom prst="rect">
            <a:avLst/>
          </a:prstGeom>
          <a:noFill/>
        </p:spPr>
        <p:txBody>
          <a:bodyPr wrap="square">
            <a:spAutoFit/>
          </a:bodyPr>
          <a:lstStyle/>
          <a:p>
            <a:pPr algn="l"/>
            <a:r>
              <a:rPr sz="1100" b="0" i="0">
                <a:solidFill>
                  <a:srgbClr val="E0E0E0"/>
                </a:solidFill>
              </a:rPr>
              <a:t>employment</a:t>
            </a:r>
          </a:p>
        </p:txBody>
      </p:sp>
      <p:sp>
        <p:nvSpPr>
          <p:cNvPr id="37" name="TextBox 36"/>
          <p:cNvSpPr txBox="1"/>
          <p:nvPr/>
        </p:nvSpPr>
        <p:spPr>
          <a:xfrm>
            <a:off x="6400800" y="4041648"/>
            <a:ext cx="2103120" cy="274320"/>
          </a:xfrm>
          <a:prstGeom prst="rect">
            <a:avLst/>
          </a:prstGeom>
          <a:noFill/>
        </p:spPr>
        <p:txBody>
          <a:bodyPr wrap="square">
            <a:spAutoFit/>
          </a:bodyPr>
          <a:lstStyle/>
          <a:p>
            <a:pPr algn="l"/>
            <a:r>
              <a:rPr sz="1100" b="0" i="0">
                <a:solidFill>
                  <a:srgbClr val="E0E0E0"/>
                </a:solidFill>
              </a:rPr>
              <a:t>Q279</a:t>
            </a:r>
          </a:p>
        </p:txBody>
      </p:sp>
      <p:sp>
        <p:nvSpPr>
          <p:cNvPr id="38" name="TextBox 37"/>
          <p:cNvSpPr txBox="1"/>
          <p:nvPr/>
        </p:nvSpPr>
        <p:spPr>
          <a:xfrm>
            <a:off x="8686800" y="4041648"/>
            <a:ext cx="2743200" cy="274320"/>
          </a:xfrm>
          <a:prstGeom prst="rect">
            <a:avLst/>
          </a:prstGeom>
          <a:noFill/>
        </p:spPr>
        <p:txBody>
          <a:bodyPr wrap="square">
            <a:spAutoFit/>
          </a:bodyPr>
          <a:lstStyle/>
          <a:p>
            <a:pPr algn="l"/>
            <a:r>
              <a:rPr sz="1100" b="0" i="0">
                <a:solidFill>
                  <a:srgbClr val="E0E0E0"/>
                </a:solidFill>
              </a:rPr>
              <a:t>1–8 (categorical)</a:t>
            </a:r>
          </a:p>
        </p:txBody>
      </p:sp>
      <p:sp>
        <p:nvSpPr>
          <p:cNvPr id="39" name="TextBox 38"/>
          <p:cNvSpPr txBox="1"/>
          <p:nvPr/>
        </p:nvSpPr>
        <p:spPr>
          <a:xfrm>
            <a:off x="594360" y="4352544"/>
            <a:ext cx="2194560" cy="274320"/>
          </a:xfrm>
          <a:prstGeom prst="rect">
            <a:avLst/>
          </a:prstGeom>
          <a:noFill/>
        </p:spPr>
        <p:txBody>
          <a:bodyPr wrap="square">
            <a:spAutoFit/>
          </a:bodyPr>
          <a:lstStyle/>
          <a:p>
            <a:pPr algn="l"/>
            <a:r>
              <a:rPr sz="1100" b="0" i="0">
                <a:solidFill>
                  <a:srgbClr val="5AE68A"/>
                </a:solidFill>
              </a:rPr>
              <a:t>Wealth Proxy A</a:t>
            </a:r>
          </a:p>
        </p:txBody>
      </p:sp>
      <p:sp>
        <p:nvSpPr>
          <p:cNvPr id="40" name="TextBox 39"/>
          <p:cNvSpPr txBox="1"/>
          <p:nvPr/>
        </p:nvSpPr>
        <p:spPr>
          <a:xfrm>
            <a:off x="2926080" y="4352544"/>
            <a:ext cx="3291840" cy="274320"/>
          </a:xfrm>
          <a:prstGeom prst="rect">
            <a:avLst/>
          </a:prstGeom>
          <a:noFill/>
        </p:spPr>
        <p:txBody>
          <a:bodyPr wrap="square">
            <a:spAutoFit/>
          </a:bodyPr>
          <a:lstStyle/>
          <a:p>
            <a:pPr algn="l"/>
            <a:r>
              <a:rPr sz="1100" b="0" i="0">
                <a:solidFill>
                  <a:srgbClr val="E0E0E0"/>
                </a:solidFill>
              </a:rPr>
              <a:t>social_class</a:t>
            </a:r>
          </a:p>
        </p:txBody>
      </p:sp>
      <p:sp>
        <p:nvSpPr>
          <p:cNvPr id="41" name="TextBox 40"/>
          <p:cNvSpPr txBox="1"/>
          <p:nvPr/>
        </p:nvSpPr>
        <p:spPr>
          <a:xfrm>
            <a:off x="6400800" y="4352544"/>
            <a:ext cx="2103120" cy="274320"/>
          </a:xfrm>
          <a:prstGeom prst="rect">
            <a:avLst/>
          </a:prstGeom>
          <a:noFill/>
        </p:spPr>
        <p:txBody>
          <a:bodyPr wrap="square">
            <a:spAutoFit/>
          </a:bodyPr>
          <a:lstStyle/>
          <a:p>
            <a:pPr algn="l"/>
            <a:r>
              <a:rPr sz="1100" b="0" i="0">
                <a:solidFill>
                  <a:srgbClr val="E0E0E0"/>
                </a:solidFill>
              </a:rPr>
              <a:t>Q287</a:t>
            </a:r>
          </a:p>
        </p:txBody>
      </p:sp>
      <p:sp>
        <p:nvSpPr>
          <p:cNvPr id="42" name="TextBox 41"/>
          <p:cNvSpPr txBox="1"/>
          <p:nvPr/>
        </p:nvSpPr>
        <p:spPr>
          <a:xfrm>
            <a:off x="8686800" y="4352544"/>
            <a:ext cx="2743200" cy="274320"/>
          </a:xfrm>
          <a:prstGeom prst="rect">
            <a:avLst/>
          </a:prstGeom>
          <a:noFill/>
        </p:spPr>
        <p:txBody>
          <a:bodyPr wrap="square">
            <a:spAutoFit/>
          </a:bodyPr>
          <a:lstStyle/>
          <a:p>
            <a:pPr algn="l"/>
            <a:r>
              <a:rPr sz="1100" b="0" i="0">
                <a:solidFill>
                  <a:srgbClr val="E0E0E0"/>
                </a:solidFill>
              </a:rPr>
              <a:t>1–5 (subjective class)</a:t>
            </a:r>
          </a:p>
        </p:txBody>
      </p:sp>
      <p:sp>
        <p:nvSpPr>
          <p:cNvPr id="43" name="TextBox 42"/>
          <p:cNvSpPr txBox="1"/>
          <p:nvPr/>
        </p:nvSpPr>
        <p:spPr>
          <a:xfrm>
            <a:off x="594360" y="4663440"/>
            <a:ext cx="2194560" cy="274320"/>
          </a:xfrm>
          <a:prstGeom prst="rect">
            <a:avLst/>
          </a:prstGeom>
          <a:noFill/>
        </p:spPr>
        <p:txBody>
          <a:bodyPr wrap="square">
            <a:spAutoFit/>
          </a:bodyPr>
          <a:lstStyle/>
          <a:p>
            <a:pPr algn="l"/>
            <a:r>
              <a:rPr sz="1100" b="0" i="0">
                <a:solidFill>
                  <a:srgbClr val="5AE68A"/>
                </a:solidFill>
              </a:rPr>
              <a:t>Wealth Proxy B</a:t>
            </a:r>
          </a:p>
        </p:txBody>
      </p:sp>
      <p:sp>
        <p:nvSpPr>
          <p:cNvPr id="44" name="TextBox 43"/>
          <p:cNvSpPr txBox="1"/>
          <p:nvPr/>
        </p:nvSpPr>
        <p:spPr>
          <a:xfrm>
            <a:off x="2926080" y="4663440"/>
            <a:ext cx="3291840" cy="274320"/>
          </a:xfrm>
          <a:prstGeom prst="rect">
            <a:avLst/>
          </a:prstGeom>
          <a:noFill/>
        </p:spPr>
        <p:txBody>
          <a:bodyPr wrap="square">
            <a:spAutoFit/>
          </a:bodyPr>
          <a:lstStyle/>
          <a:p>
            <a:pPr algn="l"/>
            <a:r>
              <a:rPr sz="1100" b="0" i="0">
                <a:solidFill>
                  <a:srgbClr val="E0E0E0"/>
                </a:solidFill>
              </a:rPr>
              <a:t>financial_satisfaction</a:t>
            </a:r>
          </a:p>
        </p:txBody>
      </p:sp>
      <p:sp>
        <p:nvSpPr>
          <p:cNvPr id="45" name="TextBox 44"/>
          <p:cNvSpPr txBox="1"/>
          <p:nvPr/>
        </p:nvSpPr>
        <p:spPr>
          <a:xfrm>
            <a:off x="6400800" y="4663440"/>
            <a:ext cx="2103120" cy="274320"/>
          </a:xfrm>
          <a:prstGeom prst="rect">
            <a:avLst/>
          </a:prstGeom>
          <a:noFill/>
        </p:spPr>
        <p:txBody>
          <a:bodyPr wrap="square">
            <a:spAutoFit/>
          </a:bodyPr>
          <a:lstStyle/>
          <a:p>
            <a:pPr algn="l"/>
            <a:r>
              <a:rPr sz="1100" b="0" i="0">
                <a:solidFill>
                  <a:srgbClr val="E0E0E0"/>
                </a:solidFill>
              </a:rPr>
              <a:t>Q50</a:t>
            </a:r>
          </a:p>
        </p:txBody>
      </p:sp>
      <p:sp>
        <p:nvSpPr>
          <p:cNvPr id="46" name="TextBox 45"/>
          <p:cNvSpPr txBox="1"/>
          <p:nvPr/>
        </p:nvSpPr>
        <p:spPr>
          <a:xfrm>
            <a:off x="8686800" y="4663440"/>
            <a:ext cx="2743200" cy="274320"/>
          </a:xfrm>
          <a:prstGeom prst="rect">
            <a:avLst/>
          </a:prstGeom>
          <a:noFill/>
        </p:spPr>
        <p:txBody>
          <a:bodyPr wrap="square">
            <a:spAutoFit/>
          </a:bodyPr>
          <a:lstStyle/>
          <a:p>
            <a:pPr algn="l"/>
            <a:r>
              <a:rPr sz="1100" b="0" i="0">
                <a:solidFill>
                  <a:srgbClr val="E0E0E0"/>
                </a:solidFill>
              </a:rPr>
              <a:t>1–10 (fin. satisfaction)</a:t>
            </a:r>
          </a:p>
        </p:txBody>
      </p:sp>
      <p:sp>
        <p:nvSpPr>
          <p:cNvPr id="47" name="TextBox 46"/>
          <p:cNvSpPr txBox="1"/>
          <p:nvPr/>
        </p:nvSpPr>
        <p:spPr>
          <a:xfrm>
            <a:off x="594360" y="4974336"/>
            <a:ext cx="2194560" cy="274320"/>
          </a:xfrm>
          <a:prstGeom prst="rect">
            <a:avLst/>
          </a:prstGeom>
          <a:noFill/>
        </p:spPr>
        <p:txBody>
          <a:bodyPr wrap="square">
            <a:spAutoFit/>
          </a:bodyPr>
          <a:lstStyle/>
          <a:p>
            <a:pPr algn="l"/>
            <a:r>
              <a:rPr sz="1100" b="0" i="0">
                <a:solidFill>
                  <a:srgbClr val="B0B0B0"/>
                </a:solidFill>
              </a:rPr>
              <a:t>Control</a:t>
            </a:r>
          </a:p>
        </p:txBody>
      </p:sp>
      <p:sp>
        <p:nvSpPr>
          <p:cNvPr id="48" name="TextBox 47"/>
          <p:cNvSpPr txBox="1"/>
          <p:nvPr/>
        </p:nvSpPr>
        <p:spPr>
          <a:xfrm>
            <a:off x="2926080" y="4974336"/>
            <a:ext cx="3291840" cy="274320"/>
          </a:xfrm>
          <a:prstGeom prst="rect">
            <a:avLst/>
          </a:prstGeom>
          <a:noFill/>
        </p:spPr>
        <p:txBody>
          <a:bodyPr wrap="square">
            <a:spAutoFit/>
          </a:bodyPr>
          <a:lstStyle/>
          <a:p>
            <a:pPr algn="l"/>
            <a:r>
              <a:rPr sz="1100" b="0" i="0">
                <a:solidFill>
                  <a:srgbClr val="E0E0E0"/>
                </a:solidFill>
              </a:rPr>
              <a:t>age  /  female</a:t>
            </a:r>
          </a:p>
        </p:txBody>
      </p:sp>
      <p:sp>
        <p:nvSpPr>
          <p:cNvPr id="49" name="TextBox 48"/>
          <p:cNvSpPr txBox="1"/>
          <p:nvPr/>
        </p:nvSpPr>
        <p:spPr>
          <a:xfrm>
            <a:off x="6400800" y="4974336"/>
            <a:ext cx="2103120" cy="274320"/>
          </a:xfrm>
          <a:prstGeom prst="rect">
            <a:avLst/>
          </a:prstGeom>
          <a:noFill/>
        </p:spPr>
        <p:txBody>
          <a:bodyPr wrap="square">
            <a:spAutoFit/>
          </a:bodyPr>
          <a:lstStyle/>
          <a:p>
            <a:pPr algn="l"/>
            <a:r>
              <a:rPr sz="1100" b="0" i="0">
                <a:solidFill>
                  <a:srgbClr val="E0E0E0"/>
                </a:solidFill>
              </a:rPr>
              <a:t>Q262/Q260</a:t>
            </a:r>
          </a:p>
        </p:txBody>
      </p:sp>
      <p:sp>
        <p:nvSpPr>
          <p:cNvPr id="50" name="TextBox 49"/>
          <p:cNvSpPr txBox="1"/>
          <p:nvPr/>
        </p:nvSpPr>
        <p:spPr>
          <a:xfrm>
            <a:off x="8686800" y="4974336"/>
            <a:ext cx="2743200" cy="274320"/>
          </a:xfrm>
          <a:prstGeom prst="rect">
            <a:avLst/>
          </a:prstGeom>
          <a:noFill/>
        </p:spPr>
        <p:txBody>
          <a:bodyPr wrap="square">
            <a:spAutoFit/>
          </a:bodyPr>
          <a:lstStyle/>
          <a:p>
            <a:pPr algn="l"/>
            <a:r>
              <a:rPr sz="1100" b="0" i="0">
                <a:solidFill>
                  <a:srgbClr val="E0E0E0"/>
                </a:solidFill>
              </a:rPr>
              <a:t>Continuous / Binary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F7975A"/>
                </a:solidFill>
              </a:rPr>
              <a:t>PHASE 3  —  ANALYTICAL APPROACH</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Multiple Linear Regression</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1274552"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25880"/>
            <a:ext cx="64008" cy="1005840"/>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10972800" cy="685800"/>
          </a:xfrm>
          <a:prstGeom prst="rect">
            <a:avLst/>
          </a:prstGeom>
          <a:noFill/>
        </p:spPr>
        <p:txBody>
          <a:bodyPr wrap="square">
            <a:spAutoFit/>
          </a:bodyPr>
          <a:lstStyle/>
          <a:p>
            <a:pPr algn="l"/>
            <a:r>
              <a:rPr sz="1700" b="1" i="1">
                <a:solidFill>
                  <a:srgbClr val="FFFFFF"/>
                </a:solidFill>
              </a:rPr>
              <a:t>Life Satisfaction  =  β₀  +  β₁(Income)  +  β₂(Education)  +  β₃(Employment)  +  β₄(Wealth)  +  ε</a:t>
            </a:r>
          </a:p>
        </p:txBody>
      </p:sp>
      <p:sp>
        <p:nvSpPr>
          <p:cNvPr id="9" name="Rectangle 8"/>
          <p:cNvSpPr/>
          <p:nvPr/>
        </p:nvSpPr>
        <p:spPr>
          <a:xfrm>
            <a:off x="457200" y="2514600"/>
            <a:ext cx="5394960" cy="3291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578608"/>
            <a:ext cx="5120640" cy="365760"/>
          </a:xfrm>
          <a:prstGeom prst="rect">
            <a:avLst/>
          </a:prstGeom>
          <a:noFill/>
        </p:spPr>
        <p:txBody>
          <a:bodyPr wrap="square">
            <a:spAutoFit/>
          </a:bodyPr>
          <a:lstStyle/>
          <a:p>
            <a:pPr algn="l"/>
            <a:r>
              <a:rPr sz="1400" b="1" i="0">
                <a:solidFill>
                  <a:srgbClr val="F7975A"/>
                </a:solidFill>
              </a:rPr>
              <a:t>Why Multiple Linear Regression?</a:t>
            </a:r>
          </a:p>
        </p:txBody>
      </p:sp>
      <p:sp>
        <p:nvSpPr>
          <p:cNvPr id="11" name="TextBox 10"/>
          <p:cNvSpPr txBox="1"/>
          <p:nvPr/>
        </p:nvSpPr>
        <p:spPr>
          <a:xfrm>
            <a:off x="640080" y="3017520"/>
            <a:ext cx="5029200" cy="292608"/>
          </a:xfrm>
          <a:prstGeom prst="rect">
            <a:avLst/>
          </a:prstGeom>
          <a:noFill/>
        </p:spPr>
        <p:txBody>
          <a:bodyPr wrap="square">
            <a:spAutoFit/>
          </a:bodyPr>
          <a:lstStyle/>
          <a:p>
            <a:pPr algn="l"/>
            <a:r>
              <a:rPr sz="1200" b="0" i="0">
                <a:solidFill>
                  <a:srgbClr val="E0E0E0"/>
                </a:solidFill>
              </a:rPr>
              <a:t>•  Examine multiple predictors simultaneously</a:t>
            </a:r>
          </a:p>
        </p:txBody>
      </p:sp>
      <p:sp>
        <p:nvSpPr>
          <p:cNvPr id="12" name="TextBox 11"/>
          <p:cNvSpPr txBox="1"/>
          <p:nvPr/>
        </p:nvSpPr>
        <p:spPr>
          <a:xfrm>
            <a:off x="640080" y="3328416"/>
            <a:ext cx="5029200" cy="292608"/>
          </a:xfrm>
          <a:prstGeom prst="rect">
            <a:avLst/>
          </a:prstGeom>
          <a:noFill/>
        </p:spPr>
        <p:txBody>
          <a:bodyPr wrap="square">
            <a:spAutoFit/>
          </a:bodyPr>
          <a:lstStyle/>
          <a:p>
            <a:pPr algn="l"/>
            <a:r>
              <a:rPr sz="1200" b="0" i="0">
                <a:solidFill>
                  <a:srgbClr val="E0E0E0"/>
                </a:solidFill>
              </a:rPr>
              <a:t>•  Hold other variables constant while testing each one</a:t>
            </a:r>
          </a:p>
        </p:txBody>
      </p:sp>
      <p:sp>
        <p:nvSpPr>
          <p:cNvPr id="13" name="TextBox 12"/>
          <p:cNvSpPr txBox="1"/>
          <p:nvPr/>
        </p:nvSpPr>
        <p:spPr>
          <a:xfrm>
            <a:off x="640080" y="3639312"/>
            <a:ext cx="5029200" cy="292608"/>
          </a:xfrm>
          <a:prstGeom prst="rect">
            <a:avLst/>
          </a:prstGeom>
          <a:noFill/>
        </p:spPr>
        <p:txBody>
          <a:bodyPr wrap="square">
            <a:spAutoFit/>
          </a:bodyPr>
          <a:lstStyle/>
          <a:p>
            <a:pPr algn="l"/>
            <a:r>
              <a:rPr sz="1200" b="0" i="0">
                <a:solidFill>
                  <a:srgbClr val="E0E0E0"/>
                </a:solidFill>
              </a:rPr>
              <a:t>•  Quantify strength via standardized coefficients</a:t>
            </a:r>
          </a:p>
        </p:txBody>
      </p:sp>
      <p:sp>
        <p:nvSpPr>
          <p:cNvPr id="14" name="TextBox 13"/>
          <p:cNvSpPr txBox="1"/>
          <p:nvPr/>
        </p:nvSpPr>
        <p:spPr>
          <a:xfrm>
            <a:off x="640080" y="3950208"/>
            <a:ext cx="5029200" cy="292608"/>
          </a:xfrm>
          <a:prstGeom prst="rect">
            <a:avLst/>
          </a:prstGeom>
          <a:noFill/>
        </p:spPr>
        <p:txBody>
          <a:bodyPr wrap="square">
            <a:spAutoFit/>
          </a:bodyPr>
          <a:lstStyle/>
          <a:p>
            <a:pPr algn="l"/>
            <a:r>
              <a:rPr sz="1200" b="0" i="0">
                <a:solidFill>
                  <a:srgbClr val="E0E0E0"/>
                </a:solidFill>
              </a:rPr>
              <a:t>•  Assess overall model fit (R²)</a:t>
            </a:r>
          </a:p>
        </p:txBody>
      </p:sp>
      <p:sp>
        <p:nvSpPr>
          <p:cNvPr id="15" name="TextBox 14"/>
          <p:cNvSpPr txBox="1"/>
          <p:nvPr/>
        </p:nvSpPr>
        <p:spPr>
          <a:xfrm>
            <a:off x="640080" y="4261104"/>
            <a:ext cx="5029200" cy="292608"/>
          </a:xfrm>
          <a:prstGeom prst="rect">
            <a:avLst/>
          </a:prstGeom>
          <a:noFill/>
        </p:spPr>
        <p:txBody>
          <a:bodyPr wrap="square">
            <a:spAutoFit/>
          </a:bodyPr>
          <a:lstStyle/>
          <a:p>
            <a:pPr algn="l"/>
            <a:r>
              <a:rPr sz="1200" b="0" i="0">
                <a:solidFill>
                  <a:srgbClr val="E0E0E0"/>
                </a:solidFill>
              </a:rPr>
              <a:t>•  Standard approach in well-being research</a:t>
            </a:r>
          </a:p>
        </p:txBody>
      </p:sp>
      <p:sp>
        <p:nvSpPr>
          <p:cNvPr id="16" name="TextBox 15"/>
          <p:cNvSpPr txBox="1"/>
          <p:nvPr/>
        </p:nvSpPr>
        <p:spPr>
          <a:xfrm>
            <a:off x="640080" y="4572000"/>
            <a:ext cx="5029200" cy="292608"/>
          </a:xfrm>
          <a:prstGeom prst="rect">
            <a:avLst/>
          </a:prstGeom>
          <a:noFill/>
        </p:spPr>
        <p:txBody>
          <a:bodyPr wrap="square">
            <a:spAutoFit/>
          </a:bodyPr>
          <a:lstStyle/>
          <a:p>
            <a:pPr algn="l"/>
            <a:r>
              <a:rPr sz="1200" b="0" i="0">
                <a:solidFill>
                  <a:srgbClr val="E0E0E0"/>
                </a:solidFill>
              </a:rPr>
              <a:t>•  Life satisfaction (1–10) treated as quasi-continuous</a:t>
            </a:r>
          </a:p>
        </p:txBody>
      </p:sp>
      <p:sp>
        <p:nvSpPr>
          <p:cNvPr id="17" name="Rectangle 16"/>
          <p:cNvSpPr/>
          <p:nvPr/>
        </p:nvSpPr>
        <p:spPr>
          <a:xfrm>
            <a:off x="6035040" y="2514600"/>
            <a:ext cx="5696712" cy="3291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2578608"/>
            <a:ext cx="5486400" cy="365760"/>
          </a:xfrm>
          <a:prstGeom prst="rect">
            <a:avLst/>
          </a:prstGeom>
          <a:noFill/>
        </p:spPr>
        <p:txBody>
          <a:bodyPr wrap="square">
            <a:spAutoFit/>
          </a:bodyPr>
          <a:lstStyle/>
          <a:p>
            <a:pPr algn="l"/>
            <a:r>
              <a:rPr sz="1400" b="1" i="0">
                <a:solidFill>
                  <a:srgbClr val="3FC1C9"/>
                </a:solidFill>
              </a:rPr>
              <a:t>What the model tells us:</a:t>
            </a:r>
          </a:p>
        </p:txBody>
      </p:sp>
      <p:sp>
        <p:nvSpPr>
          <p:cNvPr id="19" name="TextBox 18"/>
          <p:cNvSpPr txBox="1"/>
          <p:nvPr/>
        </p:nvSpPr>
        <p:spPr>
          <a:xfrm>
            <a:off x="6172200" y="3017520"/>
            <a:ext cx="1828800" cy="274320"/>
          </a:xfrm>
          <a:prstGeom prst="rect">
            <a:avLst/>
          </a:prstGeom>
          <a:noFill/>
        </p:spPr>
        <p:txBody>
          <a:bodyPr wrap="square">
            <a:spAutoFit/>
          </a:bodyPr>
          <a:lstStyle/>
          <a:p>
            <a:pPr algn="l"/>
            <a:r>
              <a:rPr sz="1200" b="1" i="0">
                <a:solidFill>
                  <a:srgbClr val="7C6AF7"/>
                </a:solidFill>
              </a:rPr>
              <a:t>■  Direction</a:t>
            </a:r>
          </a:p>
        </p:txBody>
      </p:sp>
      <p:sp>
        <p:nvSpPr>
          <p:cNvPr id="20" name="TextBox 19"/>
          <p:cNvSpPr txBox="1"/>
          <p:nvPr/>
        </p:nvSpPr>
        <p:spPr>
          <a:xfrm>
            <a:off x="8138160" y="3017520"/>
            <a:ext cx="3474720" cy="274320"/>
          </a:xfrm>
          <a:prstGeom prst="rect">
            <a:avLst/>
          </a:prstGeom>
          <a:noFill/>
        </p:spPr>
        <p:txBody>
          <a:bodyPr wrap="square">
            <a:spAutoFit/>
          </a:bodyPr>
          <a:lstStyle/>
          <a:p>
            <a:pPr algn="l"/>
            <a:r>
              <a:rPr sz="1200" b="0" i="0">
                <a:solidFill>
                  <a:srgbClr val="E0E0E0"/>
                </a:solidFill>
              </a:rPr>
              <a:t>Positive or negative relationship?</a:t>
            </a:r>
          </a:p>
        </p:txBody>
      </p:sp>
      <p:sp>
        <p:nvSpPr>
          <p:cNvPr id="21" name="TextBox 20"/>
          <p:cNvSpPr txBox="1"/>
          <p:nvPr/>
        </p:nvSpPr>
        <p:spPr>
          <a:xfrm>
            <a:off x="6172200" y="3657600"/>
            <a:ext cx="1828800" cy="274320"/>
          </a:xfrm>
          <a:prstGeom prst="rect">
            <a:avLst/>
          </a:prstGeom>
          <a:noFill/>
        </p:spPr>
        <p:txBody>
          <a:bodyPr wrap="square">
            <a:spAutoFit/>
          </a:bodyPr>
          <a:lstStyle/>
          <a:p>
            <a:pPr algn="l"/>
            <a:r>
              <a:rPr sz="1200" b="1" i="0">
                <a:solidFill>
                  <a:srgbClr val="3FC1C9"/>
                </a:solidFill>
              </a:rPr>
              <a:t>■  Strength</a:t>
            </a:r>
          </a:p>
        </p:txBody>
      </p:sp>
      <p:sp>
        <p:nvSpPr>
          <p:cNvPr id="22" name="TextBox 21"/>
          <p:cNvSpPr txBox="1"/>
          <p:nvPr/>
        </p:nvSpPr>
        <p:spPr>
          <a:xfrm>
            <a:off x="8138160" y="3657600"/>
            <a:ext cx="3474720" cy="274320"/>
          </a:xfrm>
          <a:prstGeom prst="rect">
            <a:avLst/>
          </a:prstGeom>
          <a:noFill/>
        </p:spPr>
        <p:txBody>
          <a:bodyPr wrap="square">
            <a:spAutoFit/>
          </a:bodyPr>
          <a:lstStyle/>
          <a:p>
            <a:pPr algn="l"/>
            <a:r>
              <a:rPr sz="1200" b="0" i="0">
                <a:solidFill>
                  <a:srgbClr val="E0E0E0"/>
                </a:solidFill>
              </a:rPr>
              <a:t>How large is the association?</a:t>
            </a:r>
          </a:p>
        </p:txBody>
      </p:sp>
      <p:sp>
        <p:nvSpPr>
          <p:cNvPr id="23" name="TextBox 22"/>
          <p:cNvSpPr txBox="1"/>
          <p:nvPr/>
        </p:nvSpPr>
        <p:spPr>
          <a:xfrm>
            <a:off x="6172200" y="4297680"/>
            <a:ext cx="1828800" cy="274320"/>
          </a:xfrm>
          <a:prstGeom prst="rect">
            <a:avLst/>
          </a:prstGeom>
          <a:noFill/>
        </p:spPr>
        <p:txBody>
          <a:bodyPr wrap="square">
            <a:spAutoFit/>
          </a:bodyPr>
          <a:lstStyle/>
          <a:p>
            <a:pPr algn="l"/>
            <a:r>
              <a:rPr sz="1200" b="1" i="0">
                <a:solidFill>
                  <a:srgbClr val="F7975A"/>
                </a:solidFill>
              </a:rPr>
              <a:t>■  Significance</a:t>
            </a:r>
          </a:p>
        </p:txBody>
      </p:sp>
      <p:sp>
        <p:nvSpPr>
          <p:cNvPr id="24" name="TextBox 23"/>
          <p:cNvSpPr txBox="1"/>
          <p:nvPr/>
        </p:nvSpPr>
        <p:spPr>
          <a:xfrm>
            <a:off x="8138160" y="4297680"/>
            <a:ext cx="3474720" cy="274320"/>
          </a:xfrm>
          <a:prstGeom prst="rect">
            <a:avLst/>
          </a:prstGeom>
          <a:noFill/>
        </p:spPr>
        <p:txBody>
          <a:bodyPr wrap="square">
            <a:spAutoFit/>
          </a:bodyPr>
          <a:lstStyle/>
          <a:p>
            <a:pPr algn="l"/>
            <a:r>
              <a:rPr sz="1200" b="0" i="0">
                <a:solidFill>
                  <a:srgbClr val="E0E0E0"/>
                </a:solidFill>
              </a:rPr>
              <a:t>Is the result unlikely due to chance?</a:t>
            </a:r>
          </a:p>
        </p:txBody>
      </p:sp>
      <p:sp>
        <p:nvSpPr>
          <p:cNvPr id="25" name="TextBox 24"/>
          <p:cNvSpPr txBox="1"/>
          <p:nvPr/>
        </p:nvSpPr>
        <p:spPr>
          <a:xfrm>
            <a:off x="6172200" y="4937760"/>
            <a:ext cx="1828800" cy="274320"/>
          </a:xfrm>
          <a:prstGeom prst="rect">
            <a:avLst/>
          </a:prstGeom>
          <a:noFill/>
        </p:spPr>
        <p:txBody>
          <a:bodyPr wrap="square">
            <a:spAutoFit/>
          </a:bodyPr>
          <a:lstStyle/>
          <a:p>
            <a:pPr algn="l"/>
            <a:r>
              <a:rPr sz="1200" b="1" i="0">
                <a:solidFill>
                  <a:srgbClr val="5AE68A"/>
                </a:solidFill>
              </a:rPr>
              <a:t>■  Relative</a:t>
            </a:r>
          </a:p>
        </p:txBody>
      </p:sp>
      <p:sp>
        <p:nvSpPr>
          <p:cNvPr id="26" name="TextBox 25"/>
          <p:cNvSpPr txBox="1"/>
          <p:nvPr/>
        </p:nvSpPr>
        <p:spPr>
          <a:xfrm>
            <a:off x="8138160" y="4937760"/>
            <a:ext cx="3474720" cy="274320"/>
          </a:xfrm>
          <a:prstGeom prst="rect">
            <a:avLst/>
          </a:prstGeom>
          <a:noFill/>
        </p:spPr>
        <p:txBody>
          <a:bodyPr wrap="square">
            <a:spAutoFit/>
          </a:bodyPr>
          <a:lstStyle/>
          <a:p>
            <a:pPr algn="l"/>
            <a:r>
              <a:rPr sz="1200" b="0" i="0">
                <a:solidFill>
                  <a:srgbClr val="E0E0E0"/>
                </a:solidFill>
              </a:rPr>
              <a:t>Which factor is strongest?</a:t>
            </a:r>
          </a:p>
        </p:txBody>
      </p:sp>
      <p:sp>
        <p:nvSpPr>
          <p:cNvPr id="27" name="TextBox 26"/>
          <p:cNvSpPr txBox="1"/>
          <p:nvPr/>
        </p:nvSpPr>
        <p:spPr>
          <a:xfrm>
            <a:off x="457200" y="5989320"/>
            <a:ext cx="10972800" cy="365760"/>
          </a:xfrm>
          <a:prstGeom prst="rect">
            <a:avLst/>
          </a:prstGeom>
          <a:noFill/>
        </p:spPr>
        <p:txBody>
          <a:bodyPr wrap="square">
            <a:spAutoFit/>
          </a:bodyPr>
          <a:lstStyle/>
          <a:p>
            <a:pPr algn="l"/>
            <a:r>
              <a:rPr sz="1200" b="1" i="0">
                <a:solidFill>
                  <a:srgbClr val="F7975A"/>
                </a:solidFill>
              </a:rPr>
              <a:t>Key principle:  All conclusions use 'associated with' — NOT 'causes'.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5AE68A"/>
                </a:solidFill>
              </a:rPr>
              <a:t>PHASE 4  —  DATA PREPARATION</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Cleaning the Dataset</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201168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2011680" cy="54864"/>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08760"/>
            <a:ext cx="1874520" cy="365760"/>
          </a:xfrm>
          <a:prstGeom prst="rect">
            <a:avLst/>
          </a:prstGeom>
          <a:noFill/>
        </p:spPr>
        <p:txBody>
          <a:bodyPr wrap="square">
            <a:spAutoFit/>
          </a:bodyPr>
          <a:lstStyle/>
          <a:p>
            <a:pPr algn="l"/>
            <a:r>
              <a:rPr sz="1200" b="1" i="0">
                <a:solidFill>
                  <a:srgbClr val="7C6AF7"/>
                </a:solidFill>
              </a:rPr>
              <a:t>Raw Dataset</a:t>
            </a:r>
          </a:p>
        </p:txBody>
      </p:sp>
      <p:sp>
        <p:nvSpPr>
          <p:cNvPr id="9" name="TextBox 8"/>
          <p:cNvSpPr txBox="1"/>
          <p:nvPr/>
        </p:nvSpPr>
        <p:spPr>
          <a:xfrm>
            <a:off x="594360" y="1920240"/>
            <a:ext cx="1874520" cy="365760"/>
          </a:xfrm>
          <a:prstGeom prst="rect">
            <a:avLst/>
          </a:prstGeom>
          <a:noFill/>
        </p:spPr>
        <p:txBody>
          <a:bodyPr wrap="square">
            <a:spAutoFit/>
          </a:bodyPr>
          <a:lstStyle/>
          <a:p>
            <a:pPr algn="l"/>
            <a:r>
              <a:rPr sz="1600" b="1" i="0">
                <a:solidFill>
                  <a:srgbClr val="FFFFFF"/>
                </a:solidFill>
              </a:rPr>
              <a:t>97,220 obs</a:t>
            </a:r>
          </a:p>
        </p:txBody>
      </p:sp>
      <p:sp>
        <p:nvSpPr>
          <p:cNvPr id="10" name="TextBox 9"/>
          <p:cNvSpPr txBox="1"/>
          <p:nvPr/>
        </p:nvSpPr>
        <p:spPr>
          <a:xfrm>
            <a:off x="2514600" y="1691640"/>
            <a:ext cx="228600" cy="365760"/>
          </a:xfrm>
          <a:prstGeom prst="rect">
            <a:avLst/>
          </a:prstGeom>
          <a:noFill/>
        </p:spPr>
        <p:txBody>
          <a:bodyPr wrap="square">
            <a:spAutoFit/>
          </a:bodyPr>
          <a:lstStyle/>
          <a:p>
            <a:pPr algn="l"/>
            <a:r>
              <a:rPr sz="2000" b="1" i="0">
                <a:solidFill>
                  <a:srgbClr val="B0B0B0"/>
                </a:solidFill>
              </a:rPr>
              <a:t>→</a:t>
            </a:r>
          </a:p>
        </p:txBody>
      </p:sp>
      <p:sp>
        <p:nvSpPr>
          <p:cNvPr id="11" name="Rectangle 10"/>
          <p:cNvSpPr/>
          <p:nvPr/>
        </p:nvSpPr>
        <p:spPr>
          <a:xfrm>
            <a:off x="2743200" y="1417320"/>
            <a:ext cx="201168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1417320"/>
            <a:ext cx="2011680" cy="54864"/>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1508760"/>
            <a:ext cx="1874520" cy="365760"/>
          </a:xfrm>
          <a:prstGeom prst="rect">
            <a:avLst/>
          </a:prstGeom>
          <a:noFill/>
        </p:spPr>
        <p:txBody>
          <a:bodyPr wrap="square">
            <a:spAutoFit/>
          </a:bodyPr>
          <a:lstStyle/>
          <a:p>
            <a:pPr algn="l"/>
            <a:r>
              <a:rPr sz="1200" b="1" i="0">
                <a:solidFill>
                  <a:srgbClr val="3FC1C9"/>
                </a:solidFill>
              </a:rPr>
              <a:t>Remove Duplicates</a:t>
            </a:r>
          </a:p>
        </p:txBody>
      </p:sp>
      <p:sp>
        <p:nvSpPr>
          <p:cNvPr id="14" name="TextBox 13"/>
          <p:cNvSpPr txBox="1"/>
          <p:nvPr/>
        </p:nvSpPr>
        <p:spPr>
          <a:xfrm>
            <a:off x="2834640" y="1920240"/>
            <a:ext cx="1874520" cy="365760"/>
          </a:xfrm>
          <a:prstGeom prst="rect">
            <a:avLst/>
          </a:prstGeom>
          <a:noFill/>
        </p:spPr>
        <p:txBody>
          <a:bodyPr wrap="square">
            <a:spAutoFit/>
          </a:bodyPr>
          <a:lstStyle/>
          <a:p>
            <a:pPr algn="l"/>
            <a:r>
              <a:rPr sz="1600" b="1" i="0">
                <a:solidFill>
                  <a:srgbClr val="FFFFFF"/>
                </a:solidFill>
              </a:rPr>
              <a:t>−94 obs</a:t>
            </a:r>
          </a:p>
        </p:txBody>
      </p:sp>
      <p:sp>
        <p:nvSpPr>
          <p:cNvPr id="15" name="TextBox 14"/>
          <p:cNvSpPr txBox="1"/>
          <p:nvPr/>
        </p:nvSpPr>
        <p:spPr>
          <a:xfrm>
            <a:off x="4754880" y="1691640"/>
            <a:ext cx="228600" cy="365760"/>
          </a:xfrm>
          <a:prstGeom prst="rect">
            <a:avLst/>
          </a:prstGeom>
          <a:noFill/>
        </p:spPr>
        <p:txBody>
          <a:bodyPr wrap="square">
            <a:spAutoFit/>
          </a:bodyPr>
          <a:lstStyle/>
          <a:p>
            <a:pPr algn="l"/>
            <a:r>
              <a:rPr sz="2000" b="1" i="0">
                <a:solidFill>
                  <a:srgbClr val="B0B0B0"/>
                </a:solidFill>
              </a:rPr>
              <a:t>→</a:t>
            </a:r>
          </a:p>
        </p:txBody>
      </p:sp>
      <p:sp>
        <p:nvSpPr>
          <p:cNvPr id="16" name="Rectangle 15"/>
          <p:cNvSpPr/>
          <p:nvPr/>
        </p:nvSpPr>
        <p:spPr>
          <a:xfrm>
            <a:off x="4983480" y="1417320"/>
            <a:ext cx="201168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83480" y="1417320"/>
            <a:ext cx="2011680" cy="54864"/>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508760"/>
            <a:ext cx="1874520" cy="365760"/>
          </a:xfrm>
          <a:prstGeom prst="rect">
            <a:avLst/>
          </a:prstGeom>
          <a:noFill/>
        </p:spPr>
        <p:txBody>
          <a:bodyPr wrap="square">
            <a:spAutoFit/>
          </a:bodyPr>
          <a:lstStyle/>
          <a:p>
            <a:pPr algn="l"/>
            <a:r>
              <a:rPr sz="1200" b="1" i="0">
                <a:solidFill>
                  <a:srgbClr val="F7975A"/>
                </a:solidFill>
              </a:rPr>
              <a:t>Fix Missing Values</a:t>
            </a:r>
          </a:p>
        </p:txBody>
      </p:sp>
      <p:sp>
        <p:nvSpPr>
          <p:cNvPr id="19" name="TextBox 18"/>
          <p:cNvSpPr txBox="1"/>
          <p:nvPr/>
        </p:nvSpPr>
        <p:spPr>
          <a:xfrm>
            <a:off x="5074920" y="1920240"/>
            <a:ext cx="1874520" cy="365760"/>
          </a:xfrm>
          <a:prstGeom prst="rect">
            <a:avLst/>
          </a:prstGeom>
          <a:noFill/>
        </p:spPr>
        <p:txBody>
          <a:bodyPr wrap="square">
            <a:spAutoFit/>
          </a:bodyPr>
          <a:lstStyle/>
          <a:p>
            <a:pPr algn="l"/>
            <a:r>
              <a:rPr sz="1600" b="1" i="0">
                <a:solidFill>
                  <a:srgbClr val="FFFFFF"/>
                </a:solidFill>
              </a:rPr>
              <a:t>NaN coded</a:t>
            </a:r>
          </a:p>
        </p:txBody>
      </p:sp>
      <p:sp>
        <p:nvSpPr>
          <p:cNvPr id="20" name="TextBox 19"/>
          <p:cNvSpPr txBox="1"/>
          <p:nvPr/>
        </p:nvSpPr>
        <p:spPr>
          <a:xfrm>
            <a:off x="6995160" y="1691640"/>
            <a:ext cx="228600" cy="365760"/>
          </a:xfrm>
          <a:prstGeom prst="rect">
            <a:avLst/>
          </a:prstGeom>
          <a:noFill/>
        </p:spPr>
        <p:txBody>
          <a:bodyPr wrap="square">
            <a:spAutoFit/>
          </a:bodyPr>
          <a:lstStyle/>
          <a:p>
            <a:pPr algn="l"/>
            <a:r>
              <a:rPr sz="2000" b="1" i="0">
                <a:solidFill>
                  <a:srgbClr val="B0B0B0"/>
                </a:solidFill>
              </a:rPr>
              <a:t>→</a:t>
            </a:r>
          </a:p>
        </p:txBody>
      </p:sp>
      <p:sp>
        <p:nvSpPr>
          <p:cNvPr id="21" name="Rectangle 20"/>
          <p:cNvSpPr/>
          <p:nvPr/>
        </p:nvSpPr>
        <p:spPr>
          <a:xfrm>
            <a:off x="7223760" y="1417320"/>
            <a:ext cx="201168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23760" y="1417320"/>
            <a:ext cx="2011680" cy="54864"/>
          </a:xfrm>
          <a:prstGeom prst="rect">
            <a:avLst/>
          </a:prstGeom>
          <a:solidFill>
            <a:srgbClr val="5A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1508760"/>
            <a:ext cx="1874520" cy="365760"/>
          </a:xfrm>
          <a:prstGeom prst="rect">
            <a:avLst/>
          </a:prstGeom>
          <a:noFill/>
        </p:spPr>
        <p:txBody>
          <a:bodyPr wrap="square">
            <a:spAutoFit/>
          </a:bodyPr>
          <a:lstStyle/>
          <a:p>
            <a:pPr algn="l"/>
            <a:r>
              <a:rPr sz="1200" b="1" i="0">
                <a:solidFill>
                  <a:srgbClr val="5AE68A"/>
                </a:solidFill>
              </a:rPr>
              <a:t>Remove Missing DV</a:t>
            </a:r>
          </a:p>
        </p:txBody>
      </p:sp>
      <p:sp>
        <p:nvSpPr>
          <p:cNvPr id="24" name="TextBox 23"/>
          <p:cNvSpPr txBox="1"/>
          <p:nvPr/>
        </p:nvSpPr>
        <p:spPr>
          <a:xfrm>
            <a:off x="7315200" y="1920240"/>
            <a:ext cx="1874520" cy="365760"/>
          </a:xfrm>
          <a:prstGeom prst="rect">
            <a:avLst/>
          </a:prstGeom>
          <a:noFill/>
        </p:spPr>
        <p:txBody>
          <a:bodyPr wrap="square">
            <a:spAutoFit/>
          </a:bodyPr>
          <a:lstStyle/>
          <a:p>
            <a:pPr algn="l"/>
            <a:r>
              <a:rPr sz="1600" b="1" i="0">
                <a:solidFill>
                  <a:srgbClr val="FFFFFF"/>
                </a:solidFill>
              </a:rPr>
              <a:t>−506 obs</a:t>
            </a:r>
          </a:p>
        </p:txBody>
      </p:sp>
      <p:sp>
        <p:nvSpPr>
          <p:cNvPr id="25" name="TextBox 24"/>
          <p:cNvSpPr txBox="1"/>
          <p:nvPr/>
        </p:nvSpPr>
        <p:spPr>
          <a:xfrm>
            <a:off x="9235440" y="1691640"/>
            <a:ext cx="228600" cy="365760"/>
          </a:xfrm>
          <a:prstGeom prst="rect">
            <a:avLst/>
          </a:prstGeom>
          <a:noFill/>
        </p:spPr>
        <p:txBody>
          <a:bodyPr wrap="square">
            <a:spAutoFit/>
          </a:bodyPr>
          <a:lstStyle/>
          <a:p>
            <a:pPr algn="l"/>
            <a:r>
              <a:rPr sz="2000" b="1" i="0">
                <a:solidFill>
                  <a:srgbClr val="B0B0B0"/>
                </a:solidFill>
              </a:rPr>
              <a:t>→</a:t>
            </a:r>
          </a:p>
        </p:txBody>
      </p:sp>
      <p:sp>
        <p:nvSpPr>
          <p:cNvPr id="26" name="Rectangle 25"/>
          <p:cNvSpPr/>
          <p:nvPr/>
        </p:nvSpPr>
        <p:spPr>
          <a:xfrm>
            <a:off x="9464040" y="1417320"/>
            <a:ext cx="2011680" cy="1005840"/>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64040" y="1417320"/>
            <a:ext cx="201168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55480" y="1508760"/>
            <a:ext cx="1874520" cy="365760"/>
          </a:xfrm>
          <a:prstGeom prst="rect">
            <a:avLst/>
          </a:prstGeom>
          <a:noFill/>
        </p:spPr>
        <p:txBody>
          <a:bodyPr wrap="square">
            <a:spAutoFit/>
          </a:bodyPr>
          <a:lstStyle/>
          <a:p>
            <a:pPr algn="l"/>
            <a:r>
              <a:rPr sz="1200" b="1" i="0">
                <a:solidFill>
                  <a:srgbClr val="FFFFFF"/>
                </a:solidFill>
              </a:rPr>
              <a:t>Final Dataset</a:t>
            </a:r>
          </a:p>
        </p:txBody>
      </p:sp>
      <p:sp>
        <p:nvSpPr>
          <p:cNvPr id="29" name="TextBox 28"/>
          <p:cNvSpPr txBox="1"/>
          <p:nvPr/>
        </p:nvSpPr>
        <p:spPr>
          <a:xfrm>
            <a:off x="9555480" y="1920240"/>
            <a:ext cx="1874520" cy="365760"/>
          </a:xfrm>
          <a:prstGeom prst="rect">
            <a:avLst/>
          </a:prstGeom>
          <a:noFill/>
        </p:spPr>
        <p:txBody>
          <a:bodyPr wrap="square">
            <a:spAutoFit/>
          </a:bodyPr>
          <a:lstStyle/>
          <a:p>
            <a:pPr algn="l"/>
            <a:r>
              <a:rPr sz="1600" b="1" i="0">
                <a:solidFill>
                  <a:srgbClr val="FFFFFF"/>
                </a:solidFill>
              </a:rPr>
              <a:t>96,420 obs</a:t>
            </a:r>
          </a:p>
        </p:txBody>
      </p:sp>
      <p:sp>
        <p:nvSpPr>
          <p:cNvPr id="30" name="Rectangle 29"/>
          <p:cNvSpPr/>
          <p:nvPr/>
        </p:nvSpPr>
        <p:spPr>
          <a:xfrm>
            <a:off x="457200" y="2606040"/>
            <a:ext cx="11274552" cy="30632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651760"/>
            <a:ext cx="5486400" cy="320040"/>
          </a:xfrm>
          <a:prstGeom prst="rect">
            <a:avLst/>
          </a:prstGeom>
          <a:noFill/>
        </p:spPr>
        <p:txBody>
          <a:bodyPr wrap="square">
            <a:spAutoFit/>
          </a:bodyPr>
          <a:lstStyle/>
          <a:p>
            <a:pPr algn="l"/>
            <a:r>
              <a:rPr sz="1300" b="1" i="0">
                <a:solidFill>
                  <a:srgbClr val="5AE68A"/>
                </a:solidFill>
              </a:rPr>
              <a:t>Key Preparation Decisions</a:t>
            </a:r>
          </a:p>
        </p:txBody>
      </p:sp>
      <p:sp>
        <p:nvSpPr>
          <p:cNvPr id="32" name="TextBox 31"/>
          <p:cNvSpPr txBox="1"/>
          <p:nvPr/>
        </p:nvSpPr>
        <p:spPr>
          <a:xfrm>
            <a:off x="594360" y="3063240"/>
            <a:ext cx="1920240" cy="274320"/>
          </a:xfrm>
          <a:prstGeom prst="rect">
            <a:avLst/>
          </a:prstGeom>
          <a:noFill/>
        </p:spPr>
        <p:txBody>
          <a:bodyPr wrap="square">
            <a:spAutoFit/>
          </a:bodyPr>
          <a:lstStyle/>
          <a:p>
            <a:pPr algn="l"/>
            <a:r>
              <a:rPr sz="1100" b="1" i="0">
                <a:solidFill>
                  <a:srgbClr val="E0E0E0"/>
                </a:solidFill>
              </a:rPr>
              <a:t>Missing values</a:t>
            </a:r>
          </a:p>
        </p:txBody>
      </p:sp>
      <p:sp>
        <p:nvSpPr>
          <p:cNvPr id="33" name="TextBox 32"/>
          <p:cNvSpPr txBox="1"/>
          <p:nvPr/>
        </p:nvSpPr>
        <p:spPr>
          <a:xfrm>
            <a:off x="2606040" y="3063240"/>
            <a:ext cx="3840480" cy="274320"/>
          </a:xfrm>
          <a:prstGeom prst="rect">
            <a:avLst/>
          </a:prstGeom>
          <a:noFill/>
        </p:spPr>
        <p:txBody>
          <a:bodyPr wrap="square">
            <a:spAutoFit/>
          </a:bodyPr>
          <a:lstStyle/>
          <a:p>
            <a:pPr algn="l"/>
            <a:r>
              <a:rPr sz="1100" b="0" i="0">
                <a:solidFill>
                  <a:srgbClr val="5AE68A"/>
                </a:solidFill>
              </a:rPr>
              <a:t>Listwise deletion at regression stage — No imputation</a:t>
            </a:r>
          </a:p>
        </p:txBody>
      </p:sp>
      <p:sp>
        <p:nvSpPr>
          <p:cNvPr id="34" name="TextBox 33"/>
          <p:cNvSpPr txBox="1"/>
          <p:nvPr/>
        </p:nvSpPr>
        <p:spPr>
          <a:xfrm>
            <a:off x="6583680" y="3063240"/>
            <a:ext cx="4937760" cy="274320"/>
          </a:xfrm>
          <a:prstGeom prst="rect">
            <a:avLst/>
          </a:prstGeom>
          <a:noFill/>
        </p:spPr>
        <p:txBody>
          <a:bodyPr wrap="square">
            <a:spAutoFit/>
          </a:bodyPr>
          <a:lstStyle/>
          <a:p>
            <a:pPr algn="l"/>
            <a:r>
              <a:rPr sz="1000" b="0" i="1">
                <a:solidFill>
                  <a:srgbClr val="B0B0B0"/>
                </a:solidFill>
              </a:rPr>
              <a:t>Income is ordinal rank; mean imputation distorts meaning</a:t>
            </a:r>
          </a:p>
        </p:txBody>
      </p:sp>
      <p:sp>
        <p:nvSpPr>
          <p:cNvPr id="35" name="TextBox 34"/>
          <p:cNvSpPr txBox="1"/>
          <p:nvPr/>
        </p:nvSpPr>
        <p:spPr>
          <a:xfrm>
            <a:off x="594360" y="3447288"/>
            <a:ext cx="1920240" cy="274320"/>
          </a:xfrm>
          <a:prstGeom prst="rect">
            <a:avLst/>
          </a:prstGeom>
          <a:noFill/>
        </p:spPr>
        <p:txBody>
          <a:bodyPr wrap="square">
            <a:spAutoFit/>
          </a:bodyPr>
          <a:lstStyle/>
          <a:p>
            <a:pPr algn="l"/>
            <a:r>
              <a:rPr sz="1100" b="1" i="0">
                <a:solidFill>
                  <a:srgbClr val="E0E0E0"/>
                </a:solidFill>
              </a:rPr>
              <a:t>WVS missing codes</a:t>
            </a:r>
          </a:p>
        </p:txBody>
      </p:sp>
      <p:sp>
        <p:nvSpPr>
          <p:cNvPr id="36" name="TextBox 35"/>
          <p:cNvSpPr txBox="1"/>
          <p:nvPr/>
        </p:nvSpPr>
        <p:spPr>
          <a:xfrm>
            <a:off x="2606040" y="3447288"/>
            <a:ext cx="3840480" cy="274320"/>
          </a:xfrm>
          <a:prstGeom prst="rect">
            <a:avLst/>
          </a:prstGeom>
          <a:noFill/>
        </p:spPr>
        <p:txBody>
          <a:bodyPr wrap="square">
            <a:spAutoFit/>
          </a:bodyPr>
          <a:lstStyle/>
          <a:p>
            <a:pPr algn="l"/>
            <a:r>
              <a:rPr sz="1100" b="0" i="0">
                <a:solidFill>
                  <a:srgbClr val="5AE68A"/>
                </a:solidFill>
              </a:rPr>
              <a:t>Codes −1 to −5, −99999 converted to NaN</a:t>
            </a:r>
          </a:p>
        </p:txBody>
      </p:sp>
      <p:sp>
        <p:nvSpPr>
          <p:cNvPr id="37" name="TextBox 36"/>
          <p:cNvSpPr txBox="1"/>
          <p:nvPr/>
        </p:nvSpPr>
        <p:spPr>
          <a:xfrm>
            <a:off x="6583680" y="3447288"/>
            <a:ext cx="4937760" cy="274320"/>
          </a:xfrm>
          <a:prstGeom prst="rect">
            <a:avLst/>
          </a:prstGeom>
          <a:noFill/>
        </p:spPr>
        <p:txBody>
          <a:bodyPr wrap="square">
            <a:spAutoFit/>
          </a:bodyPr>
          <a:lstStyle/>
          <a:p>
            <a:pPr algn="l"/>
            <a:r>
              <a:rPr sz="1000" b="0" i="1">
                <a:solidFill>
                  <a:srgbClr val="B0B0B0"/>
                </a:solidFill>
              </a:rPr>
              <a:t>Standard WVS protocol; not real data</a:t>
            </a:r>
          </a:p>
        </p:txBody>
      </p:sp>
      <p:sp>
        <p:nvSpPr>
          <p:cNvPr id="38" name="TextBox 37"/>
          <p:cNvSpPr txBox="1"/>
          <p:nvPr/>
        </p:nvSpPr>
        <p:spPr>
          <a:xfrm>
            <a:off x="594360" y="3831336"/>
            <a:ext cx="1920240" cy="274320"/>
          </a:xfrm>
          <a:prstGeom prst="rect">
            <a:avLst/>
          </a:prstGeom>
          <a:noFill/>
        </p:spPr>
        <p:txBody>
          <a:bodyPr wrap="square">
            <a:spAutoFit/>
          </a:bodyPr>
          <a:lstStyle/>
          <a:p>
            <a:pPr algn="l"/>
            <a:r>
              <a:rPr sz="1100" b="1" i="0">
                <a:solidFill>
                  <a:srgbClr val="E0E0E0"/>
                </a:solidFill>
              </a:rPr>
              <a:t>Outliers</a:t>
            </a:r>
          </a:p>
        </p:txBody>
      </p:sp>
      <p:sp>
        <p:nvSpPr>
          <p:cNvPr id="39" name="TextBox 38"/>
          <p:cNvSpPr txBox="1"/>
          <p:nvPr/>
        </p:nvSpPr>
        <p:spPr>
          <a:xfrm>
            <a:off x="2606040" y="3831336"/>
            <a:ext cx="3840480" cy="274320"/>
          </a:xfrm>
          <a:prstGeom prst="rect">
            <a:avLst/>
          </a:prstGeom>
          <a:noFill/>
        </p:spPr>
        <p:txBody>
          <a:bodyPr wrap="square">
            <a:spAutoFit/>
          </a:bodyPr>
          <a:lstStyle/>
          <a:p>
            <a:pPr algn="l"/>
            <a:r>
              <a:rPr sz="1100" b="0" i="0">
                <a:solidFill>
                  <a:srgbClr val="5AE68A"/>
                </a:solidFill>
              </a:rPr>
              <a:t>NONE removed — all IQR flags retained</a:t>
            </a:r>
          </a:p>
        </p:txBody>
      </p:sp>
      <p:sp>
        <p:nvSpPr>
          <p:cNvPr id="40" name="TextBox 39"/>
          <p:cNvSpPr txBox="1"/>
          <p:nvPr/>
        </p:nvSpPr>
        <p:spPr>
          <a:xfrm>
            <a:off x="6583680" y="3831336"/>
            <a:ext cx="4937760" cy="274320"/>
          </a:xfrm>
          <a:prstGeom prst="rect">
            <a:avLst/>
          </a:prstGeom>
          <a:noFill/>
        </p:spPr>
        <p:txBody>
          <a:bodyPr wrap="square">
            <a:spAutoFit/>
          </a:bodyPr>
          <a:lstStyle/>
          <a:p>
            <a:pPr algn="l"/>
            <a:r>
              <a:rPr sz="1000" b="0" i="1">
                <a:solidFill>
                  <a:srgbClr val="B0B0B0"/>
                </a:solidFill>
              </a:rPr>
              <a:t>Scale extremes (1, 10) are valid responses</a:t>
            </a:r>
          </a:p>
        </p:txBody>
      </p:sp>
      <p:sp>
        <p:nvSpPr>
          <p:cNvPr id="41" name="TextBox 40"/>
          <p:cNvSpPr txBox="1"/>
          <p:nvPr/>
        </p:nvSpPr>
        <p:spPr>
          <a:xfrm>
            <a:off x="594360" y="4215384"/>
            <a:ext cx="1920240" cy="274320"/>
          </a:xfrm>
          <a:prstGeom prst="rect">
            <a:avLst/>
          </a:prstGeom>
          <a:noFill/>
        </p:spPr>
        <p:txBody>
          <a:bodyPr wrap="square">
            <a:spAutoFit/>
          </a:bodyPr>
          <a:lstStyle/>
          <a:p>
            <a:pPr algn="l"/>
            <a:r>
              <a:rPr sz="1100" b="1" i="0">
                <a:solidFill>
                  <a:srgbClr val="E0E0E0"/>
                </a:solidFill>
              </a:rPr>
              <a:t>Log transform</a:t>
            </a:r>
          </a:p>
        </p:txBody>
      </p:sp>
      <p:sp>
        <p:nvSpPr>
          <p:cNvPr id="42" name="TextBox 41"/>
          <p:cNvSpPr txBox="1"/>
          <p:nvPr/>
        </p:nvSpPr>
        <p:spPr>
          <a:xfrm>
            <a:off x="2606040" y="4215384"/>
            <a:ext cx="3840480" cy="274320"/>
          </a:xfrm>
          <a:prstGeom prst="rect">
            <a:avLst/>
          </a:prstGeom>
          <a:noFill/>
        </p:spPr>
        <p:txBody>
          <a:bodyPr wrap="square">
            <a:spAutoFit/>
          </a:bodyPr>
          <a:lstStyle/>
          <a:p>
            <a:pPr algn="l"/>
            <a:r>
              <a:rPr sz="1100" b="0" i="0">
                <a:solidFill>
                  <a:srgbClr val="5AE68A"/>
                </a:solidFill>
              </a:rPr>
              <a:t>NOT applied to income or wealth</a:t>
            </a:r>
          </a:p>
        </p:txBody>
      </p:sp>
      <p:sp>
        <p:nvSpPr>
          <p:cNvPr id="43" name="TextBox 42"/>
          <p:cNvSpPr txBox="1"/>
          <p:nvPr/>
        </p:nvSpPr>
        <p:spPr>
          <a:xfrm>
            <a:off x="6583680" y="4215384"/>
            <a:ext cx="4937760" cy="274320"/>
          </a:xfrm>
          <a:prstGeom prst="rect">
            <a:avLst/>
          </a:prstGeom>
          <a:noFill/>
        </p:spPr>
        <p:txBody>
          <a:bodyPr wrap="square">
            <a:spAutoFit/>
          </a:bodyPr>
          <a:lstStyle/>
          <a:p>
            <a:pPr algn="l"/>
            <a:r>
              <a:rPr sz="1000" b="0" i="1">
                <a:solidFill>
                  <a:srgbClr val="B0B0B0"/>
                </a:solidFill>
              </a:rPr>
              <a:t>Ordinal scales — log distorts relative spacings</a:t>
            </a:r>
          </a:p>
        </p:txBody>
      </p:sp>
      <p:sp>
        <p:nvSpPr>
          <p:cNvPr id="44" name="TextBox 43"/>
          <p:cNvSpPr txBox="1"/>
          <p:nvPr/>
        </p:nvSpPr>
        <p:spPr>
          <a:xfrm>
            <a:off x="594360" y="4599432"/>
            <a:ext cx="1920240" cy="274320"/>
          </a:xfrm>
          <a:prstGeom prst="rect">
            <a:avLst/>
          </a:prstGeom>
          <a:noFill/>
        </p:spPr>
        <p:txBody>
          <a:bodyPr wrap="square">
            <a:spAutoFit/>
          </a:bodyPr>
          <a:lstStyle/>
          <a:p>
            <a:pPr algn="l"/>
            <a:r>
              <a:rPr sz="1100" b="1" i="0">
                <a:solidFill>
                  <a:srgbClr val="E0E0E0"/>
                </a:solidFill>
              </a:rPr>
              <a:t>Employment</a:t>
            </a:r>
          </a:p>
        </p:txBody>
      </p:sp>
      <p:sp>
        <p:nvSpPr>
          <p:cNvPr id="45" name="TextBox 44"/>
          <p:cNvSpPr txBox="1"/>
          <p:nvPr/>
        </p:nvSpPr>
        <p:spPr>
          <a:xfrm>
            <a:off x="2606040" y="4599432"/>
            <a:ext cx="3840480" cy="274320"/>
          </a:xfrm>
          <a:prstGeom prst="rect">
            <a:avLst/>
          </a:prstGeom>
          <a:noFill/>
        </p:spPr>
        <p:txBody>
          <a:bodyPr wrap="square">
            <a:spAutoFit/>
          </a:bodyPr>
          <a:lstStyle/>
          <a:p>
            <a:pPr algn="l"/>
            <a:r>
              <a:rPr sz="1100" b="0" i="0">
                <a:solidFill>
                  <a:srgbClr val="5AE68A"/>
                </a:solidFill>
              </a:rPr>
              <a:t>One-hot encoded — 8 dummies (ref = full-time)</a:t>
            </a:r>
          </a:p>
        </p:txBody>
      </p:sp>
      <p:sp>
        <p:nvSpPr>
          <p:cNvPr id="46" name="TextBox 45"/>
          <p:cNvSpPr txBox="1"/>
          <p:nvPr/>
        </p:nvSpPr>
        <p:spPr>
          <a:xfrm>
            <a:off x="6583680" y="4599432"/>
            <a:ext cx="4937760" cy="274320"/>
          </a:xfrm>
          <a:prstGeom prst="rect">
            <a:avLst/>
          </a:prstGeom>
          <a:noFill/>
        </p:spPr>
        <p:txBody>
          <a:bodyPr wrap="square">
            <a:spAutoFit/>
          </a:bodyPr>
          <a:lstStyle/>
          <a:p>
            <a:pPr algn="l"/>
            <a:r>
              <a:rPr sz="1000" b="0" i="1">
                <a:solidFill>
                  <a:srgbClr val="B0B0B0"/>
                </a:solidFill>
              </a:rPr>
              <a:t>No natural ordering between categories</a:t>
            </a:r>
          </a:p>
        </p:txBody>
      </p:sp>
      <p:sp>
        <p:nvSpPr>
          <p:cNvPr id="47" name="TextBox 46"/>
          <p:cNvSpPr txBox="1"/>
          <p:nvPr/>
        </p:nvSpPr>
        <p:spPr>
          <a:xfrm>
            <a:off x="594360" y="4983480"/>
            <a:ext cx="1920240" cy="274320"/>
          </a:xfrm>
          <a:prstGeom prst="rect">
            <a:avLst/>
          </a:prstGeom>
          <a:noFill/>
        </p:spPr>
        <p:txBody>
          <a:bodyPr wrap="square">
            <a:spAutoFit/>
          </a:bodyPr>
          <a:lstStyle/>
          <a:p>
            <a:pPr algn="l"/>
            <a:r>
              <a:rPr sz="1100" b="1" i="0">
                <a:solidFill>
                  <a:srgbClr val="E0E0E0"/>
                </a:solidFill>
              </a:rPr>
              <a:t>Education</a:t>
            </a:r>
          </a:p>
        </p:txBody>
      </p:sp>
      <p:sp>
        <p:nvSpPr>
          <p:cNvPr id="48" name="TextBox 47"/>
          <p:cNvSpPr txBox="1"/>
          <p:nvPr/>
        </p:nvSpPr>
        <p:spPr>
          <a:xfrm>
            <a:off x="2606040" y="4983480"/>
            <a:ext cx="3840480" cy="274320"/>
          </a:xfrm>
          <a:prstGeom prst="rect">
            <a:avLst/>
          </a:prstGeom>
          <a:noFill/>
        </p:spPr>
        <p:txBody>
          <a:bodyPr wrap="square">
            <a:spAutoFit/>
          </a:bodyPr>
          <a:lstStyle/>
          <a:p>
            <a:pPr algn="l"/>
            <a:r>
              <a:rPr sz="1100" b="0" i="0">
                <a:solidFill>
                  <a:srgbClr val="5AE68A"/>
                </a:solidFill>
              </a:rPr>
              <a:t>Treated as ordinal continuous (ISCED 0–8)</a:t>
            </a:r>
          </a:p>
        </p:txBody>
      </p:sp>
      <p:sp>
        <p:nvSpPr>
          <p:cNvPr id="49" name="TextBox 48"/>
          <p:cNvSpPr txBox="1"/>
          <p:nvPr/>
        </p:nvSpPr>
        <p:spPr>
          <a:xfrm>
            <a:off x="6583680" y="4983480"/>
            <a:ext cx="4937760" cy="274320"/>
          </a:xfrm>
          <a:prstGeom prst="rect">
            <a:avLst/>
          </a:prstGeom>
          <a:noFill/>
        </p:spPr>
        <p:txBody>
          <a:bodyPr wrap="square">
            <a:spAutoFit/>
          </a:bodyPr>
          <a:lstStyle/>
          <a:p>
            <a:pPr algn="l"/>
            <a:r>
              <a:rPr sz="1000" b="0" i="1">
                <a:solidFill>
                  <a:srgbClr val="B0B0B0"/>
                </a:solidFill>
              </a:rPr>
              <a:t>Ordered scale; linear term standard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7C6AF7"/>
                </a:solidFill>
              </a:rPr>
              <a:t>PHASE 4  —  DISTRIBUTIONS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Income &amp; Wealth Distributions</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4_income_wealth_distributions.png"/>
          <p:cNvPicPr>
            <a:picLocks noChangeAspect="1"/>
          </p:cNvPicPr>
          <p:nvPr/>
        </p:nvPicPr>
        <p:blipFill>
          <a:blip r:embed="rId2"/>
          <a:stretch>
            <a:fillRect/>
          </a:stretch>
        </p:blipFill>
        <p:spPr>
          <a:xfrm>
            <a:off x="274320" y="1325880"/>
            <a:ext cx="11640312" cy="7434149"/>
          </a:xfrm>
          <a:prstGeom prst="rect">
            <a:avLst/>
          </a:prstGeom>
        </p:spPr>
      </p:pic>
      <p:sp>
        <p:nvSpPr>
          <p:cNvPr id="7" name="TextBox 6"/>
          <p:cNvSpPr txBox="1"/>
          <p:nvPr/>
        </p:nvSpPr>
        <p:spPr>
          <a:xfrm>
            <a:off x="457200" y="6400800"/>
            <a:ext cx="10972800" cy="320040"/>
          </a:xfrm>
          <a:prstGeom prst="rect">
            <a:avLst/>
          </a:prstGeom>
          <a:noFill/>
        </p:spPr>
        <p:txBody>
          <a:bodyPr wrap="square">
            <a:spAutoFit/>
          </a:bodyPr>
          <a:lstStyle/>
          <a:p>
            <a:pPr algn="l"/>
            <a:r>
              <a:rPr sz="1100" b="0" i="1">
                <a:solidFill>
                  <a:srgbClr val="B0B0B0"/>
                </a:solidFill>
              </a:rPr>
              <a:t>Skewness is minimal for all three variables — no log transformation needed (ordinal scales).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3FC1C9"/>
                </a:solidFill>
              </a:rPr>
              <a:t>PHASE 8  —  ANALYSIS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Life Satisfaction — Our Dependent Variable</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life_satisfaction_dist.png"/>
          <p:cNvPicPr>
            <a:picLocks noChangeAspect="1"/>
          </p:cNvPicPr>
          <p:nvPr/>
        </p:nvPicPr>
        <p:blipFill>
          <a:blip r:embed="rId2"/>
          <a:stretch>
            <a:fillRect/>
          </a:stretch>
        </p:blipFill>
        <p:spPr>
          <a:xfrm>
            <a:off x="457200" y="1325880"/>
            <a:ext cx="7772400" cy="4196142"/>
          </a:xfrm>
          <a:prstGeom prst="rect">
            <a:avLst/>
          </a:prstGeom>
        </p:spPr>
      </p:pic>
      <p:sp>
        <p:nvSpPr>
          <p:cNvPr id="7" name="Rectangle 6"/>
          <p:cNvSpPr/>
          <p:nvPr/>
        </p:nvSpPr>
        <p:spPr>
          <a:xfrm>
            <a:off x="8412480" y="1325880"/>
            <a:ext cx="3520440" cy="516636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1508760"/>
            <a:ext cx="1371600" cy="274320"/>
          </a:xfrm>
          <a:prstGeom prst="rect">
            <a:avLst/>
          </a:prstGeom>
          <a:noFill/>
        </p:spPr>
        <p:txBody>
          <a:bodyPr wrap="square">
            <a:spAutoFit/>
          </a:bodyPr>
          <a:lstStyle/>
          <a:p>
            <a:pPr algn="l"/>
            <a:r>
              <a:rPr sz="1200" b="1" i="0">
                <a:solidFill>
                  <a:srgbClr val="3FC1C9"/>
                </a:solidFill>
              </a:rPr>
              <a:t>Mean</a:t>
            </a:r>
          </a:p>
        </p:txBody>
      </p:sp>
      <p:sp>
        <p:nvSpPr>
          <p:cNvPr id="9" name="TextBox 8"/>
          <p:cNvSpPr txBox="1"/>
          <p:nvPr/>
        </p:nvSpPr>
        <p:spPr>
          <a:xfrm>
            <a:off x="10149840" y="1508760"/>
            <a:ext cx="1645920" cy="274320"/>
          </a:xfrm>
          <a:prstGeom prst="rect">
            <a:avLst/>
          </a:prstGeom>
          <a:noFill/>
        </p:spPr>
        <p:txBody>
          <a:bodyPr wrap="square">
            <a:spAutoFit/>
          </a:bodyPr>
          <a:lstStyle/>
          <a:p>
            <a:pPr algn="l"/>
            <a:r>
              <a:rPr sz="1600" b="1" i="0">
                <a:solidFill>
                  <a:srgbClr val="FFFFFF"/>
                </a:solidFill>
              </a:rPr>
              <a:t>7.06</a:t>
            </a:r>
          </a:p>
        </p:txBody>
      </p:sp>
      <p:sp>
        <p:nvSpPr>
          <p:cNvPr id="10" name="TextBox 9"/>
          <p:cNvSpPr txBox="1"/>
          <p:nvPr/>
        </p:nvSpPr>
        <p:spPr>
          <a:xfrm>
            <a:off x="8595360" y="2057400"/>
            <a:ext cx="1371600" cy="274320"/>
          </a:xfrm>
          <a:prstGeom prst="rect">
            <a:avLst/>
          </a:prstGeom>
          <a:noFill/>
        </p:spPr>
        <p:txBody>
          <a:bodyPr wrap="square">
            <a:spAutoFit/>
          </a:bodyPr>
          <a:lstStyle/>
          <a:p>
            <a:pPr algn="l"/>
            <a:r>
              <a:rPr sz="1200" b="1" i="0">
                <a:solidFill>
                  <a:srgbClr val="5AE68A"/>
                </a:solidFill>
              </a:rPr>
              <a:t>Median</a:t>
            </a:r>
          </a:p>
        </p:txBody>
      </p:sp>
      <p:sp>
        <p:nvSpPr>
          <p:cNvPr id="11" name="TextBox 10"/>
          <p:cNvSpPr txBox="1"/>
          <p:nvPr/>
        </p:nvSpPr>
        <p:spPr>
          <a:xfrm>
            <a:off x="10149840" y="2057400"/>
            <a:ext cx="1645920" cy="274320"/>
          </a:xfrm>
          <a:prstGeom prst="rect">
            <a:avLst/>
          </a:prstGeom>
          <a:noFill/>
        </p:spPr>
        <p:txBody>
          <a:bodyPr wrap="square">
            <a:spAutoFit/>
          </a:bodyPr>
          <a:lstStyle/>
          <a:p>
            <a:pPr algn="l"/>
            <a:r>
              <a:rPr sz="1600" b="1" i="0">
                <a:solidFill>
                  <a:srgbClr val="FFFFFF"/>
                </a:solidFill>
              </a:rPr>
              <a:t>7.0</a:t>
            </a:r>
          </a:p>
        </p:txBody>
      </p:sp>
      <p:sp>
        <p:nvSpPr>
          <p:cNvPr id="12" name="TextBox 11"/>
          <p:cNvSpPr txBox="1"/>
          <p:nvPr/>
        </p:nvSpPr>
        <p:spPr>
          <a:xfrm>
            <a:off x="8595360" y="2606040"/>
            <a:ext cx="1371600" cy="274320"/>
          </a:xfrm>
          <a:prstGeom prst="rect">
            <a:avLst/>
          </a:prstGeom>
          <a:noFill/>
        </p:spPr>
        <p:txBody>
          <a:bodyPr wrap="square">
            <a:spAutoFit/>
          </a:bodyPr>
          <a:lstStyle/>
          <a:p>
            <a:pPr algn="l"/>
            <a:r>
              <a:rPr sz="1200" b="1" i="0">
                <a:solidFill>
                  <a:srgbClr val="F7975A"/>
                </a:solidFill>
              </a:rPr>
              <a:t>Std</a:t>
            </a:r>
          </a:p>
        </p:txBody>
      </p:sp>
      <p:sp>
        <p:nvSpPr>
          <p:cNvPr id="13" name="TextBox 12"/>
          <p:cNvSpPr txBox="1"/>
          <p:nvPr/>
        </p:nvSpPr>
        <p:spPr>
          <a:xfrm>
            <a:off x="10149840" y="2606040"/>
            <a:ext cx="1645920" cy="274320"/>
          </a:xfrm>
          <a:prstGeom prst="rect">
            <a:avLst/>
          </a:prstGeom>
          <a:noFill/>
        </p:spPr>
        <p:txBody>
          <a:bodyPr wrap="square">
            <a:spAutoFit/>
          </a:bodyPr>
          <a:lstStyle/>
          <a:p>
            <a:pPr algn="l"/>
            <a:r>
              <a:rPr sz="1600" b="1" i="0">
                <a:solidFill>
                  <a:srgbClr val="FFFFFF"/>
                </a:solidFill>
              </a:rPr>
              <a:t>2.24</a:t>
            </a:r>
          </a:p>
        </p:txBody>
      </p:sp>
      <p:sp>
        <p:nvSpPr>
          <p:cNvPr id="14" name="TextBox 13"/>
          <p:cNvSpPr txBox="1"/>
          <p:nvPr/>
        </p:nvSpPr>
        <p:spPr>
          <a:xfrm>
            <a:off x="8595360" y="3154680"/>
            <a:ext cx="1371600" cy="274320"/>
          </a:xfrm>
          <a:prstGeom prst="rect">
            <a:avLst/>
          </a:prstGeom>
          <a:noFill/>
        </p:spPr>
        <p:txBody>
          <a:bodyPr wrap="square">
            <a:spAutoFit/>
          </a:bodyPr>
          <a:lstStyle/>
          <a:p>
            <a:pPr algn="l"/>
            <a:r>
              <a:rPr sz="1200" b="1" i="0">
                <a:solidFill>
                  <a:srgbClr val="7C6AF7"/>
                </a:solidFill>
              </a:rPr>
              <a:t>Scale</a:t>
            </a:r>
          </a:p>
        </p:txBody>
      </p:sp>
      <p:sp>
        <p:nvSpPr>
          <p:cNvPr id="15" name="TextBox 14"/>
          <p:cNvSpPr txBox="1"/>
          <p:nvPr/>
        </p:nvSpPr>
        <p:spPr>
          <a:xfrm>
            <a:off x="10149840" y="3154680"/>
            <a:ext cx="1645920" cy="274320"/>
          </a:xfrm>
          <a:prstGeom prst="rect">
            <a:avLst/>
          </a:prstGeom>
          <a:noFill/>
        </p:spPr>
        <p:txBody>
          <a:bodyPr wrap="square">
            <a:spAutoFit/>
          </a:bodyPr>
          <a:lstStyle/>
          <a:p>
            <a:pPr algn="l"/>
            <a:r>
              <a:rPr sz="1600" b="1" i="0">
                <a:solidFill>
                  <a:srgbClr val="FFFFFF"/>
                </a:solidFill>
              </a:rPr>
              <a:t>1 – 10</a:t>
            </a:r>
          </a:p>
        </p:txBody>
      </p:sp>
      <p:sp>
        <p:nvSpPr>
          <p:cNvPr id="16" name="TextBox 15"/>
          <p:cNvSpPr txBox="1"/>
          <p:nvPr/>
        </p:nvSpPr>
        <p:spPr>
          <a:xfrm>
            <a:off x="8595360" y="3703320"/>
            <a:ext cx="1371600" cy="274320"/>
          </a:xfrm>
          <a:prstGeom prst="rect">
            <a:avLst/>
          </a:prstGeom>
          <a:noFill/>
        </p:spPr>
        <p:txBody>
          <a:bodyPr wrap="square">
            <a:spAutoFit/>
          </a:bodyPr>
          <a:lstStyle/>
          <a:p>
            <a:pPr algn="l"/>
            <a:r>
              <a:rPr sz="1200" b="1" i="0">
                <a:solidFill>
                  <a:srgbClr val="B0B0B0"/>
                </a:solidFill>
              </a:rPr>
              <a:t>N</a:t>
            </a:r>
          </a:p>
        </p:txBody>
      </p:sp>
      <p:sp>
        <p:nvSpPr>
          <p:cNvPr id="17" name="TextBox 16"/>
          <p:cNvSpPr txBox="1"/>
          <p:nvPr/>
        </p:nvSpPr>
        <p:spPr>
          <a:xfrm>
            <a:off x="10149840" y="3703320"/>
            <a:ext cx="1645920" cy="274320"/>
          </a:xfrm>
          <a:prstGeom prst="rect">
            <a:avLst/>
          </a:prstGeom>
          <a:noFill/>
        </p:spPr>
        <p:txBody>
          <a:bodyPr wrap="square">
            <a:spAutoFit/>
          </a:bodyPr>
          <a:lstStyle/>
          <a:p>
            <a:pPr algn="l"/>
            <a:r>
              <a:rPr sz="1600" b="1" i="0">
                <a:solidFill>
                  <a:srgbClr val="FFFFFF"/>
                </a:solidFill>
              </a:rPr>
              <a:t>96,420</a:t>
            </a:r>
          </a:p>
        </p:txBody>
      </p:sp>
      <p:sp>
        <p:nvSpPr>
          <p:cNvPr id="18" name="TextBox 17"/>
          <p:cNvSpPr txBox="1"/>
          <p:nvPr/>
        </p:nvSpPr>
        <p:spPr>
          <a:xfrm>
            <a:off x="8549640" y="4389120"/>
            <a:ext cx="3200400" cy="1371600"/>
          </a:xfrm>
          <a:prstGeom prst="rect">
            <a:avLst/>
          </a:prstGeom>
          <a:noFill/>
        </p:spPr>
        <p:txBody>
          <a:bodyPr wrap="square">
            <a:spAutoFit/>
          </a:bodyPr>
          <a:lstStyle/>
          <a:p>
            <a:pPr algn="l"/>
            <a:r>
              <a:rPr sz="1100" b="0" i="0">
                <a:solidFill>
                  <a:srgbClr val="E0E0E0"/>
                </a:solidFill>
              </a:rPr>
              <a:t>Distribution is left-skewed:
most respondents report
moderate-to-high satisfaction.
This is typical in global
well-being surveys.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F7975A"/>
                </a:solidFill>
              </a:rPr>
              <a:t>PHASE 8.2  —  REGRESSION RESULTS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OLS Regression Model</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2697480" cy="6858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1188720" cy="274320"/>
          </a:xfrm>
          <a:prstGeom prst="rect">
            <a:avLst/>
          </a:prstGeom>
          <a:noFill/>
        </p:spPr>
        <p:txBody>
          <a:bodyPr wrap="square">
            <a:spAutoFit/>
          </a:bodyPr>
          <a:lstStyle/>
          <a:p>
            <a:pPr algn="l"/>
            <a:r>
              <a:rPr sz="1100" b="1" i="0">
                <a:solidFill>
                  <a:srgbClr val="B0B0B0"/>
                </a:solidFill>
              </a:rPr>
              <a:t>R²</a:t>
            </a:r>
          </a:p>
        </p:txBody>
      </p:sp>
      <p:sp>
        <p:nvSpPr>
          <p:cNvPr id="8" name="TextBox 7"/>
          <p:cNvSpPr txBox="1"/>
          <p:nvPr/>
        </p:nvSpPr>
        <p:spPr>
          <a:xfrm>
            <a:off x="548640" y="1508760"/>
            <a:ext cx="2468880" cy="365760"/>
          </a:xfrm>
          <a:prstGeom prst="rect">
            <a:avLst/>
          </a:prstGeom>
          <a:noFill/>
        </p:spPr>
        <p:txBody>
          <a:bodyPr wrap="square">
            <a:spAutoFit/>
          </a:bodyPr>
          <a:lstStyle/>
          <a:p>
            <a:pPr algn="l"/>
            <a:r>
              <a:rPr sz="1800" b="1" i="0">
                <a:solidFill>
                  <a:srgbClr val="7C6AF7"/>
                </a:solidFill>
              </a:rPr>
              <a:t>0.320</a:t>
            </a:r>
          </a:p>
        </p:txBody>
      </p:sp>
      <p:sp>
        <p:nvSpPr>
          <p:cNvPr id="9" name="Rectangle 8"/>
          <p:cNvSpPr/>
          <p:nvPr/>
        </p:nvSpPr>
        <p:spPr>
          <a:xfrm>
            <a:off x="3291840" y="1325880"/>
            <a:ext cx="2697480" cy="6858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371600"/>
            <a:ext cx="1188720" cy="274320"/>
          </a:xfrm>
          <a:prstGeom prst="rect">
            <a:avLst/>
          </a:prstGeom>
          <a:noFill/>
        </p:spPr>
        <p:txBody>
          <a:bodyPr wrap="square">
            <a:spAutoFit/>
          </a:bodyPr>
          <a:lstStyle/>
          <a:p>
            <a:pPr algn="l"/>
            <a:r>
              <a:rPr sz="1100" b="1" i="0">
                <a:solidFill>
                  <a:srgbClr val="B0B0B0"/>
                </a:solidFill>
              </a:rPr>
              <a:t>N</a:t>
            </a:r>
          </a:p>
        </p:txBody>
      </p:sp>
      <p:sp>
        <p:nvSpPr>
          <p:cNvPr id="11" name="TextBox 10"/>
          <p:cNvSpPr txBox="1"/>
          <p:nvPr/>
        </p:nvSpPr>
        <p:spPr>
          <a:xfrm>
            <a:off x="3383280" y="1508760"/>
            <a:ext cx="2468880" cy="365760"/>
          </a:xfrm>
          <a:prstGeom prst="rect">
            <a:avLst/>
          </a:prstGeom>
          <a:noFill/>
        </p:spPr>
        <p:txBody>
          <a:bodyPr wrap="square">
            <a:spAutoFit/>
          </a:bodyPr>
          <a:lstStyle/>
          <a:p>
            <a:pPr algn="l"/>
            <a:r>
              <a:rPr sz="1800" b="1" i="0">
                <a:solidFill>
                  <a:srgbClr val="3FC1C9"/>
                </a:solidFill>
              </a:rPr>
              <a:t>88,546</a:t>
            </a:r>
          </a:p>
        </p:txBody>
      </p:sp>
      <p:sp>
        <p:nvSpPr>
          <p:cNvPr id="12" name="Rectangle 11"/>
          <p:cNvSpPr/>
          <p:nvPr/>
        </p:nvSpPr>
        <p:spPr>
          <a:xfrm>
            <a:off x="6126480" y="1325880"/>
            <a:ext cx="2697480" cy="6858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71600"/>
            <a:ext cx="1188720" cy="274320"/>
          </a:xfrm>
          <a:prstGeom prst="rect">
            <a:avLst/>
          </a:prstGeom>
          <a:noFill/>
        </p:spPr>
        <p:txBody>
          <a:bodyPr wrap="square">
            <a:spAutoFit/>
          </a:bodyPr>
          <a:lstStyle/>
          <a:p>
            <a:pPr algn="l"/>
            <a:r>
              <a:rPr sz="1100" b="1" i="0">
                <a:solidFill>
                  <a:srgbClr val="B0B0B0"/>
                </a:solidFill>
              </a:rPr>
              <a:t>F-stat</a:t>
            </a:r>
          </a:p>
        </p:txBody>
      </p:sp>
      <p:sp>
        <p:nvSpPr>
          <p:cNvPr id="14" name="TextBox 13"/>
          <p:cNvSpPr txBox="1"/>
          <p:nvPr/>
        </p:nvSpPr>
        <p:spPr>
          <a:xfrm>
            <a:off x="6217920" y="1508760"/>
            <a:ext cx="2468880" cy="365760"/>
          </a:xfrm>
          <a:prstGeom prst="rect">
            <a:avLst/>
          </a:prstGeom>
          <a:noFill/>
        </p:spPr>
        <p:txBody>
          <a:bodyPr wrap="square">
            <a:spAutoFit/>
          </a:bodyPr>
          <a:lstStyle/>
          <a:p>
            <a:pPr algn="l"/>
            <a:r>
              <a:rPr sz="1800" b="1" i="0">
                <a:solidFill>
                  <a:srgbClr val="F7975A"/>
                </a:solidFill>
              </a:rPr>
              <a:t>2,069***</a:t>
            </a:r>
          </a:p>
        </p:txBody>
      </p:sp>
      <p:sp>
        <p:nvSpPr>
          <p:cNvPr id="15" name="Rectangle 14"/>
          <p:cNvSpPr/>
          <p:nvPr/>
        </p:nvSpPr>
        <p:spPr>
          <a:xfrm>
            <a:off x="8961120" y="1325880"/>
            <a:ext cx="2697480" cy="6858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371600"/>
            <a:ext cx="1188720" cy="274320"/>
          </a:xfrm>
          <a:prstGeom prst="rect">
            <a:avLst/>
          </a:prstGeom>
          <a:noFill/>
        </p:spPr>
        <p:txBody>
          <a:bodyPr wrap="square">
            <a:spAutoFit/>
          </a:bodyPr>
          <a:lstStyle/>
          <a:p>
            <a:pPr algn="l"/>
            <a:r>
              <a:rPr sz="1100" b="1" i="0">
                <a:solidFill>
                  <a:srgbClr val="B0B0B0"/>
                </a:solidFill>
              </a:rPr>
              <a:t>SE type</a:t>
            </a:r>
          </a:p>
        </p:txBody>
      </p:sp>
      <p:sp>
        <p:nvSpPr>
          <p:cNvPr id="17" name="TextBox 16"/>
          <p:cNvSpPr txBox="1"/>
          <p:nvPr/>
        </p:nvSpPr>
        <p:spPr>
          <a:xfrm>
            <a:off x="9052560" y="1508760"/>
            <a:ext cx="2468880" cy="365760"/>
          </a:xfrm>
          <a:prstGeom prst="rect">
            <a:avLst/>
          </a:prstGeom>
          <a:noFill/>
        </p:spPr>
        <p:txBody>
          <a:bodyPr wrap="square">
            <a:spAutoFit/>
          </a:bodyPr>
          <a:lstStyle/>
          <a:p>
            <a:pPr algn="l"/>
            <a:r>
              <a:rPr sz="1800" b="1" i="0">
                <a:solidFill>
                  <a:srgbClr val="5AE68A"/>
                </a:solidFill>
              </a:rPr>
              <a:t>HC3 Robust</a:t>
            </a:r>
          </a:p>
        </p:txBody>
      </p:sp>
      <p:sp>
        <p:nvSpPr>
          <p:cNvPr id="18" name="Rectangle 17"/>
          <p:cNvSpPr/>
          <p:nvPr/>
        </p:nvSpPr>
        <p:spPr>
          <a:xfrm>
            <a:off x="457200" y="2148840"/>
            <a:ext cx="11274552" cy="43434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194560"/>
            <a:ext cx="4114800" cy="274320"/>
          </a:xfrm>
          <a:prstGeom prst="rect">
            <a:avLst/>
          </a:prstGeom>
          <a:noFill/>
        </p:spPr>
        <p:txBody>
          <a:bodyPr wrap="square">
            <a:spAutoFit/>
          </a:bodyPr>
          <a:lstStyle/>
          <a:p>
            <a:pPr algn="l"/>
            <a:r>
              <a:rPr sz="1100" b="1" i="0">
                <a:solidFill>
                  <a:srgbClr val="F7975A"/>
                </a:solidFill>
              </a:rPr>
              <a:t>Variable</a:t>
            </a:r>
          </a:p>
        </p:txBody>
      </p:sp>
      <p:sp>
        <p:nvSpPr>
          <p:cNvPr id="20" name="TextBox 19"/>
          <p:cNvSpPr txBox="1"/>
          <p:nvPr/>
        </p:nvSpPr>
        <p:spPr>
          <a:xfrm>
            <a:off x="4846320" y="2194560"/>
            <a:ext cx="2011680" cy="274320"/>
          </a:xfrm>
          <a:prstGeom prst="rect">
            <a:avLst/>
          </a:prstGeom>
          <a:noFill/>
        </p:spPr>
        <p:txBody>
          <a:bodyPr wrap="square">
            <a:spAutoFit/>
          </a:bodyPr>
          <a:lstStyle/>
          <a:p>
            <a:pPr algn="l"/>
            <a:r>
              <a:rPr sz="1100" b="1" i="0">
                <a:solidFill>
                  <a:srgbClr val="F7975A"/>
                </a:solidFill>
              </a:rPr>
              <a:t>β (coef)</a:t>
            </a:r>
          </a:p>
        </p:txBody>
      </p:sp>
      <p:sp>
        <p:nvSpPr>
          <p:cNvPr id="21" name="TextBox 20"/>
          <p:cNvSpPr txBox="1"/>
          <p:nvPr/>
        </p:nvSpPr>
        <p:spPr>
          <a:xfrm>
            <a:off x="7040880" y="2194560"/>
            <a:ext cx="1371600" cy="274320"/>
          </a:xfrm>
          <a:prstGeom prst="rect">
            <a:avLst/>
          </a:prstGeom>
          <a:noFill/>
        </p:spPr>
        <p:txBody>
          <a:bodyPr wrap="square">
            <a:spAutoFit/>
          </a:bodyPr>
          <a:lstStyle/>
          <a:p>
            <a:pPr algn="l"/>
            <a:r>
              <a:rPr sz="1100" b="1" i="0">
                <a:solidFill>
                  <a:srgbClr val="F7975A"/>
                </a:solidFill>
              </a:rPr>
              <a:t>p-value</a:t>
            </a:r>
          </a:p>
        </p:txBody>
      </p:sp>
      <p:sp>
        <p:nvSpPr>
          <p:cNvPr id="22" name="TextBox 21"/>
          <p:cNvSpPr txBox="1"/>
          <p:nvPr/>
        </p:nvSpPr>
        <p:spPr>
          <a:xfrm>
            <a:off x="8549640" y="2194560"/>
            <a:ext cx="2560320" cy="274320"/>
          </a:xfrm>
          <a:prstGeom prst="rect">
            <a:avLst/>
          </a:prstGeom>
          <a:noFill/>
        </p:spPr>
        <p:txBody>
          <a:bodyPr wrap="square">
            <a:spAutoFit/>
          </a:bodyPr>
          <a:lstStyle/>
          <a:p>
            <a:pPr algn="l"/>
            <a:r>
              <a:rPr sz="1100" b="1" i="0">
                <a:solidFill>
                  <a:srgbClr val="F7975A"/>
                </a:solidFill>
              </a:rPr>
              <a:t>95% CI</a:t>
            </a:r>
          </a:p>
        </p:txBody>
      </p:sp>
      <p:sp>
        <p:nvSpPr>
          <p:cNvPr id="23" name="TextBox 22"/>
          <p:cNvSpPr txBox="1"/>
          <p:nvPr/>
        </p:nvSpPr>
        <p:spPr>
          <a:xfrm>
            <a:off x="11247120" y="2194560"/>
            <a:ext cx="731520" cy="274320"/>
          </a:xfrm>
          <a:prstGeom prst="rect">
            <a:avLst/>
          </a:prstGeom>
          <a:noFill/>
        </p:spPr>
        <p:txBody>
          <a:bodyPr wrap="square">
            <a:spAutoFit/>
          </a:bodyPr>
          <a:lstStyle/>
          <a:p>
            <a:pPr algn="l"/>
            <a:r>
              <a:rPr sz="1100" b="1" i="0">
                <a:solidFill>
                  <a:srgbClr val="F7975A"/>
                </a:solidFill>
              </a:rPr>
              <a:t>Sig</a:t>
            </a:r>
          </a:p>
        </p:txBody>
      </p:sp>
      <p:sp>
        <p:nvSpPr>
          <p:cNvPr id="24" name="TextBox 23"/>
          <p:cNvSpPr txBox="1"/>
          <p:nvPr/>
        </p:nvSpPr>
        <p:spPr>
          <a:xfrm>
            <a:off x="594360" y="2560320"/>
            <a:ext cx="4114800" cy="256032"/>
          </a:xfrm>
          <a:prstGeom prst="rect">
            <a:avLst/>
          </a:prstGeom>
          <a:noFill/>
        </p:spPr>
        <p:txBody>
          <a:bodyPr wrap="square">
            <a:spAutoFit/>
          </a:bodyPr>
          <a:lstStyle/>
          <a:p>
            <a:pPr algn="l"/>
            <a:r>
              <a:rPr sz="1000" b="1" i="0">
                <a:solidFill>
                  <a:srgbClr val="F7975A"/>
                </a:solidFill>
              </a:rPr>
              <a:t>Financial satisfaction [wealth B]</a:t>
            </a:r>
          </a:p>
        </p:txBody>
      </p:sp>
      <p:sp>
        <p:nvSpPr>
          <p:cNvPr id="25" name="TextBox 24"/>
          <p:cNvSpPr txBox="1"/>
          <p:nvPr/>
        </p:nvSpPr>
        <p:spPr>
          <a:xfrm>
            <a:off x="4846320" y="2560320"/>
            <a:ext cx="2011680" cy="256032"/>
          </a:xfrm>
          <a:prstGeom prst="rect">
            <a:avLst/>
          </a:prstGeom>
          <a:noFill/>
        </p:spPr>
        <p:txBody>
          <a:bodyPr wrap="square">
            <a:spAutoFit/>
          </a:bodyPr>
          <a:lstStyle/>
          <a:p>
            <a:pPr algn="l"/>
            <a:r>
              <a:rPr sz="1000" b="0" i="0">
                <a:solidFill>
                  <a:srgbClr val="E0E0E0"/>
                </a:solidFill>
              </a:rPr>
              <a:t>+0.518</a:t>
            </a:r>
          </a:p>
        </p:txBody>
      </p:sp>
      <p:sp>
        <p:nvSpPr>
          <p:cNvPr id="26" name="TextBox 25"/>
          <p:cNvSpPr txBox="1"/>
          <p:nvPr/>
        </p:nvSpPr>
        <p:spPr>
          <a:xfrm>
            <a:off x="7040880" y="2560320"/>
            <a:ext cx="1371600" cy="256032"/>
          </a:xfrm>
          <a:prstGeom prst="rect">
            <a:avLst/>
          </a:prstGeom>
          <a:noFill/>
        </p:spPr>
        <p:txBody>
          <a:bodyPr wrap="square">
            <a:spAutoFit/>
          </a:bodyPr>
          <a:lstStyle/>
          <a:p>
            <a:pPr algn="l"/>
            <a:r>
              <a:rPr sz="1000" b="0" i="0">
                <a:solidFill>
                  <a:srgbClr val="E0E0E0"/>
                </a:solidFill>
              </a:rPr>
              <a:t>&lt;0.001</a:t>
            </a:r>
          </a:p>
        </p:txBody>
      </p:sp>
      <p:sp>
        <p:nvSpPr>
          <p:cNvPr id="27" name="TextBox 26"/>
          <p:cNvSpPr txBox="1"/>
          <p:nvPr/>
        </p:nvSpPr>
        <p:spPr>
          <a:xfrm>
            <a:off x="8549640" y="2560320"/>
            <a:ext cx="2560320" cy="256032"/>
          </a:xfrm>
          <a:prstGeom prst="rect">
            <a:avLst/>
          </a:prstGeom>
          <a:noFill/>
        </p:spPr>
        <p:txBody>
          <a:bodyPr wrap="square">
            <a:spAutoFit/>
          </a:bodyPr>
          <a:lstStyle/>
          <a:p>
            <a:pPr algn="l"/>
            <a:r>
              <a:rPr sz="1000" b="0" i="0">
                <a:solidFill>
                  <a:srgbClr val="E0E0E0"/>
                </a:solidFill>
              </a:rPr>
              <a:t>[+0.511, +0.525]</a:t>
            </a:r>
          </a:p>
        </p:txBody>
      </p:sp>
      <p:sp>
        <p:nvSpPr>
          <p:cNvPr id="28" name="TextBox 27"/>
          <p:cNvSpPr txBox="1"/>
          <p:nvPr/>
        </p:nvSpPr>
        <p:spPr>
          <a:xfrm>
            <a:off x="11247120" y="2560320"/>
            <a:ext cx="731520" cy="256032"/>
          </a:xfrm>
          <a:prstGeom prst="rect">
            <a:avLst/>
          </a:prstGeom>
          <a:noFill/>
        </p:spPr>
        <p:txBody>
          <a:bodyPr wrap="square">
            <a:spAutoFit/>
          </a:bodyPr>
          <a:lstStyle/>
          <a:p>
            <a:pPr algn="l"/>
            <a:r>
              <a:rPr sz="1000" b="0" i="0">
                <a:solidFill>
                  <a:srgbClr val="FFFFFF"/>
                </a:solidFill>
              </a:rPr>
              <a:t>***</a:t>
            </a:r>
          </a:p>
        </p:txBody>
      </p:sp>
      <p:sp>
        <p:nvSpPr>
          <p:cNvPr id="29" name="TextBox 28"/>
          <p:cNvSpPr txBox="1"/>
          <p:nvPr/>
        </p:nvSpPr>
        <p:spPr>
          <a:xfrm>
            <a:off x="594360" y="2889504"/>
            <a:ext cx="4114800" cy="256032"/>
          </a:xfrm>
          <a:prstGeom prst="rect">
            <a:avLst/>
          </a:prstGeom>
          <a:noFill/>
        </p:spPr>
        <p:txBody>
          <a:bodyPr wrap="square">
            <a:spAutoFit/>
          </a:bodyPr>
          <a:lstStyle/>
          <a:p>
            <a:pPr algn="l"/>
            <a:r>
              <a:rPr sz="1000" b="1" i="0">
                <a:solidFill>
                  <a:srgbClr val="F75A5A"/>
                </a:solidFill>
              </a:rPr>
              <a:t>Employment: unemployed (vs. full-time)</a:t>
            </a:r>
          </a:p>
        </p:txBody>
      </p:sp>
      <p:sp>
        <p:nvSpPr>
          <p:cNvPr id="30" name="TextBox 29"/>
          <p:cNvSpPr txBox="1"/>
          <p:nvPr/>
        </p:nvSpPr>
        <p:spPr>
          <a:xfrm>
            <a:off x="4846320" y="2889504"/>
            <a:ext cx="2011680" cy="256032"/>
          </a:xfrm>
          <a:prstGeom prst="rect">
            <a:avLst/>
          </a:prstGeom>
          <a:noFill/>
        </p:spPr>
        <p:txBody>
          <a:bodyPr wrap="square">
            <a:spAutoFit/>
          </a:bodyPr>
          <a:lstStyle/>
          <a:p>
            <a:pPr algn="l"/>
            <a:r>
              <a:rPr sz="1000" b="0" i="0">
                <a:solidFill>
                  <a:srgbClr val="E0E0E0"/>
                </a:solidFill>
              </a:rPr>
              <a:t>−0.147</a:t>
            </a:r>
          </a:p>
        </p:txBody>
      </p:sp>
      <p:sp>
        <p:nvSpPr>
          <p:cNvPr id="31" name="TextBox 30"/>
          <p:cNvSpPr txBox="1"/>
          <p:nvPr/>
        </p:nvSpPr>
        <p:spPr>
          <a:xfrm>
            <a:off x="7040880" y="2889504"/>
            <a:ext cx="1371600" cy="256032"/>
          </a:xfrm>
          <a:prstGeom prst="rect">
            <a:avLst/>
          </a:prstGeom>
          <a:noFill/>
        </p:spPr>
        <p:txBody>
          <a:bodyPr wrap="square">
            <a:spAutoFit/>
          </a:bodyPr>
          <a:lstStyle/>
          <a:p>
            <a:pPr algn="l"/>
            <a:r>
              <a:rPr sz="1000" b="0" i="0">
                <a:solidFill>
                  <a:srgbClr val="E0E0E0"/>
                </a:solidFill>
              </a:rPr>
              <a:t>&lt;0.001</a:t>
            </a:r>
          </a:p>
        </p:txBody>
      </p:sp>
      <p:sp>
        <p:nvSpPr>
          <p:cNvPr id="32" name="TextBox 31"/>
          <p:cNvSpPr txBox="1"/>
          <p:nvPr/>
        </p:nvSpPr>
        <p:spPr>
          <a:xfrm>
            <a:off x="8549640" y="2889504"/>
            <a:ext cx="2560320" cy="256032"/>
          </a:xfrm>
          <a:prstGeom prst="rect">
            <a:avLst/>
          </a:prstGeom>
          <a:noFill/>
        </p:spPr>
        <p:txBody>
          <a:bodyPr wrap="square">
            <a:spAutoFit/>
          </a:bodyPr>
          <a:lstStyle/>
          <a:p>
            <a:pPr algn="l"/>
            <a:r>
              <a:rPr sz="1000" b="0" i="0">
                <a:solidFill>
                  <a:srgbClr val="E0E0E0"/>
                </a:solidFill>
              </a:rPr>
              <a:t>[−0.204, −0.090]</a:t>
            </a:r>
          </a:p>
        </p:txBody>
      </p:sp>
      <p:sp>
        <p:nvSpPr>
          <p:cNvPr id="33" name="TextBox 32"/>
          <p:cNvSpPr txBox="1"/>
          <p:nvPr/>
        </p:nvSpPr>
        <p:spPr>
          <a:xfrm>
            <a:off x="11247120" y="2889504"/>
            <a:ext cx="731520" cy="256032"/>
          </a:xfrm>
          <a:prstGeom prst="rect">
            <a:avLst/>
          </a:prstGeom>
          <a:noFill/>
        </p:spPr>
        <p:txBody>
          <a:bodyPr wrap="square">
            <a:spAutoFit/>
          </a:bodyPr>
          <a:lstStyle/>
          <a:p>
            <a:pPr algn="l"/>
            <a:r>
              <a:rPr sz="1000" b="0" i="0">
                <a:solidFill>
                  <a:srgbClr val="FFFFFF"/>
                </a:solidFill>
              </a:rPr>
              <a:t>***</a:t>
            </a:r>
          </a:p>
        </p:txBody>
      </p:sp>
      <p:sp>
        <p:nvSpPr>
          <p:cNvPr id="34" name="TextBox 33"/>
          <p:cNvSpPr txBox="1"/>
          <p:nvPr/>
        </p:nvSpPr>
        <p:spPr>
          <a:xfrm>
            <a:off x="594360" y="3218688"/>
            <a:ext cx="4114800" cy="256032"/>
          </a:xfrm>
          <a:prstGeom prst="rect">
            <a:avLst/>
          </a:prstGeom>
          <a:noFill/>
        </p:spPr>
        <p:txBody>
          <a:bodyPr wrap="square">
            <a:spAutoFit/>
          </a:bodyPr>
          <a:lstStyle/>
          <a:p>
            <a:pPr algn="l"/>
            <a:r>
              <a:rPr sz="1000" b="1" i="0">
                <a:solidFill>
                  <a:srgbClr val="F75A5A"/>
                </a:solidFill>
              </a:rPr>
              <a:t>Employment: student (vs. full-time)</a:t>
            </a:r>
          </a:p>
        </p:txBody>
      </p:sp>
      <p:sp>
        <p:nvSpPr>
          <p:cNvPr id="35" name="TextBox 34"/>
          <p:cNvSpPr txBox="1"/>
          <p:nvPr/>
        </p:nvSpPr>
        <p:spPr>
          <a:xfrm>
            <a:off x="4846320" y="3218688"/>
            <a:ext cx="2011680" cy="256032"/>
          </a:xfrm>
          <a:prstGeom prst="rect">
            <a:avLst/>
          </a:prstGeom>
          <a:noFill/>
        </p:spPr>
        <p:txBody>
          <a:bodyPr wrap="square">
            <a:spAutoFit/>
          </a:bodyPr>
          <a:lstStyle/>
          <a:p>
            <a:pPr algn="l"/>
            <a:r>
              <a:rPr sz="1000" b="0" i="0">
                <a:solidFill>
                  <a:srgbClr val="E0E0E0"/>
                </a:solidFill>
              </a:rPr>
              <a:t>−0.078</a:t>
            </a:r>
          </a:p>
        </p:txBody>
      </p:sp>
      <p:sp>
        <p:nvSpPr>
          <p:cNvPr id="36" name="TextBox 35"/>
          <p:cNvSpPr txBox="1"/>
          <p:nvPr/>
        </p:nvSpPr>
        <p:spPr>
          <a:xfrm>
            <a:off x="7040880" y="3218688"/>
            <a:ext cx="1371600" cy="256032"/>
          </a:xfrm>
          <a:prstGeom prst="rect">
            <a:avLst/>
          </a:prstGeom>
          <a:noFill/>
        </p:spPr>
        <p:txBody>
          <a:bodyPr wrap="square">
            <a:spAutoFit/>
          </a:bodyPr>
          <a:lstStyle/>
          <a:p>
            <a:pPr algn="l"/>
            <a:r>
              <a:rPr sz="1000" b="0" i="0">
                <a:solidFill>
                  <a:srgbClr val="E0E0E0"/>
                </a:solidFill>
              </a:rPr>
              <a:t>0.007</a:t>
            </a:r>
          </a:p>
        </p:txBody>
      </p:sp>
      <p:sp>
        <p:nvSpPr>
          <p:cNvPr id="37" name="TextBox 36"/>
          <p:cNvSpPr txBox="1"/>
          <p:nvPr/>
        </p:nvSpPr>
        <p:spPr>
          <a:xfrm>
            <a:off x="8549640" y="3218688"/>
            <a:ext cx="2560320" cy="256032"/>
          </a:xfrm>
          <a:prstGeom prst="rect">
            <a:avLst/>
          </a:prstGeom>
          <a:noFill/>
        </p:spPr>
        <p:txBody>
          <a:bodyPr wrap="square">
            <a:spAutoFit/>
          </a:bodyPr>
          <a:lstStyle/>
          <a:p>
            <a:pPr algn="l"/>
            <a:r>
              <a:rPr sz="1000" b="0" i="0">
                <a:solidFill>
                  <a:srgbClr val="E0E0E0"/>
                </a:solidFill>
              </a:rPr>
              <a:t>[−0.134, −0.022]</a:t>
            </a:r>
          </a:p>
        </p:txBody>
      </p:sp>
      <p:sp>
        <p:nvSpPr>
          <p:cNvPr id="38" name="TextBox 37"/>
          <p:cNvSpPr txBox="1"/>
          <p:nvPr/>
        </p:nvSpPr>
        <p:spPr>
          <a:xfrm>
            <a:off x="11247120" y="3218688"/>
            <a:ext cx="731520" cy="256032"/>
          </a:xfrm>
          <a:prstGeom prst="rect">
            <a:avLst/>
          </a:prstGeom>
          <a:noFill/>
        </p:spPr>
        <p:txBody>
          <a:bodyPr wrap="square">
            <a:spAutoFit/>
          </a:bodyPr>
          <a:lstStyle/>
          <a:p>
            <a:pPr algn="l"/>
            <a:r>
              <a:rPr sz="1000" b="0" i="0">
                <a:solidFill>
                  <a:srgbClr val="FFFFFF"/>
                </a:solidFill>
              </a:rPr>
              <a:t>**</a:t>
            </a:r>
          </a:p>
        </p:txBody>
      </p:sp>
      <p:sp>
        <p:nvSpPr>
          <p:cNvPr id="39" name="TextBox 38"/>
          <p:cNvSpPr txBox="1"/>
          <p:nvPr/>
        </p:nvSpPr>
        <p:spPr>
          <a:xfrm>
            <a:off x="594360" y="3547872"/>
            <a:ext cx="4114800" cy="256032"/>
          </a:xfrm>
          <a:prstGeom prst="rect">
            <a:avLst/>
          </a:prstGeom>
          <a:noFill/>
        </p:spPr>
        <p:txBody>
          <a:bodyPr wrap="square">
            <a:spAutoFit/>
          </a:bodyPr>
          <a:lstStyle/>
          <a:p>
            <a:pPr algn="l"/>
            <a:r>
              <a:rPr sz="1000" b="1" i="0">
                <a:solidFill>
                  <a:srgbClr val="5AE68A"/>
                </a:solidFill>
              </a:rPr>
              <a:t>Employment: part-time (vs. full-time)</a:t>
            </a:r>
          </a:p>
        </p:txBody>
      </p:sp>
      <p:sp>
        <p:nvSpPr>
          <p:cNvPr id="40" name="TextBox 39"/>
          <p:cNvSpPr txBox="1"/>
          <p:nvPr/>
        </p:nvSpPr>
        <p:spPr>
          <a:xfrm>
            <a:off x="4846320" y="3547872"/>
            <a:ext cx="2011680" cy="256032"/>
          </a:xfrm>
          <a:prstGeom prst="rect">
            <a:avLst/>
          </a:prstGeom>
          <a:noFill/>
        </p:spPr>
        <p:txBody>
          <a:bodyPr wrap="square">
            <a:spAutoFit/>
          </a:bodyPr>
          <a:lstStyle/>
          <a:p>
            <a:pPr algn="l"/>
            <a:r>
              <a:rPr sz="1000" b="0" i="0">
                <a:solidFill>
                  <a:srgbClr val="E0E0E0"/>
                </a:solidFill>
              </a:rPr>
              <a:t>+0.064</a:t>
            </a:r>
          </a:p>
        </p:txBody>
      </p:sp>
      <p:sp>
        <p:nvSpPr>
          <p:cNvPr id="41" name="TextBox 40"/>
          <p:cNvSpPr txBox="1"/>
          <p:nvPr/>
        </p:nvSpPr>
        <p:spPr>
          <a:xfrm>
            <a:off x="7040880" y="3547872"/>
            <a:ext cx="1371600" cy="256032"/>
          </a:xfrm>
          <a:prstGeom prst="rect">
            <a:avLst/>
          </a:prstGeom>
          <a:noFill/>
        </p:spPr>
        <p:txBody>
          <a:bodyPr wrap="square">
            <a:spAutoFit/>
          </a:bodyPr>
          <a:lstStyle/>
          <a:p>
            <a:pPr algn="l"/>
            <a:r>
              <a:rPr sz="1000" b="0" i="0">
                <a:solidFill>
                  <a:srgbClr val="E0E0E0"/>
                </a:solidFill>
              </a:rPr>
              <a:t>0.007</a:t>
            </a:r>
          </a:p>
        </p:txBody>
      </p:sp>
      <p:sp>
        <p:nvSpPr>
          <p:cNvPr id="42" name="TextBox 41"/>
          <p:cNvSpPr txBox="1"/>
          <p:nvPr/>
        </p:nvSpPr>
        <p:spPr>
          <a:xfrm>
            <a:off x="8549640" y="3547872"/>
            <a:ext cx="2560320" cy="256032"/>
          </a:xfrm>
          <a:prstGeom prst="rect">
            <a:avLst/>
          </a:prstGeom>
          <a:noFill/>
        </p:spPr>
        <p:txBody>
          <a:bodyPr wrap="square">
            <a:spAutoFit/>
          </a:bodyPr>
          <a:lstStyle/>
          <a:p>
            <a:pPr algn="l"/>
            <a:r>
              <a:rPr sz="1000" b="0" i="0">
                <a:solidFill>
                  <a:srgbClr val="E0E0E0"/>
                </a:solidFill>
              </a:rPr>
              <a:t>[+0.018, +0.111]</a:t>
            </a:r>
          </a:p>
        </p:txBody>
      </p:sp>
      <p:sp>
        <p:nvSpPr>
          <p:cNvPr id="43" name="TextBox 42"/>
          <p:cNvSpPr txBox="1"/>
          <p:nvPr/>
        </p:nvSpPr>
        <p:spPr>
          <a:xfrm>
            <a:off x="11247120" y="3547872"/>
            <a:ext cx="731520" cy="256032"/>
          </a:xfrm>
          <a:prstGeom prst="rect">
            <a:avLst/>
          </a:prstGeom>
          <a:noFill/>
        </p:spPr>
        <p:txBody>
          <a:bodyPr wrap="square">
            <a:spAutoFit/>
          </a:bodyPr>
          <a:lstStyle/>
          <a:p>
            <a:pPr algn="l"/>
            <a:r>
              <a:rPr sz="1000" b="0" i="0">
                <a:solidFill>
                  <a:srgbClr val="FFFFFF"/>
                </a:solidFill>
              </a:rPr>
              <a:t>**</a:t>
            </a:r>
          </a:p>
        </p:txBody>
      </p:sp>
      <p:sp>
        <p:nvSpPr>
          <p:cNvPr id="44" name="TextBox 43"/>
          <p:cNvSpPr txBox="1"/>
          <p:nvPr/>
        </p:nvSpPr>
        <p:spPr>
          <a:xfrm>
            <a:off x="594360" y="3877056"/>
            <a:ext cx="4114800" cy="256032"/>
          </a:xfrm>
          <a:prstGeom prst="rect">
            <a:avLst/>
          </a:prstGeom>
          <a:noFill/>
        </p:spPr>
        <p:txBody>
          <a:bodyPr wrap="square">
            <a:spAutoFit/>
          </a:bodyPr>
          <a:lstStyle/>
          <a:p>
            <a:pPr algn="l"/>
            <a:r>
              <a:rPr sz="1000" b="1" i="0">
                <a:solidFill>
                  <a:srgbClr val="3FC1C9"/>
                </a:solidFill>
              </a:rPr>
              <a:t>Income decile</a:t>
            </a:r>
          </a:p>
        </p:txBody>
      </p:sp>
      <p:sp>
        <p:nvSpPr>
          <p:cNvPr id="45" name="TextBox 44"/>
          <p:cNvSpPr txBox="1"/>
          <p:nvPr/>
        </p:nvSpPr>
        <p:spPr>
          <a:xfrm>
            <a:off x="4846320" y="3877056"/>
            <a:ext cx="2011680" cy="256032"/>
          </a:xfrm>
          <a:prstGeom prst="rect">
            <a:avLst/>
          </a:prstGeom>
          <a:noFill/>
        </p:spPr>
        <p:txBody>
          <a:bodyPr wrap="square">
            <a:spAutoFit/>
          </a:bodyPr>
          <a:lstStyle/>
          <a:p>
            <a:pPr algn="l"/>
            <a:r>
              <a:rPr sz="1000" b="0" i="0">
                <a:solidFill>
                  <a:srgbClr val="E0E0E0"/>
                </a:solidFill>
              </a:rPr>
              <a:t>+0.011</a:t>
            </a:r>
          </a:p>
        </p:txBody>
      </p:sp>
      <p:sp>
        <p:nvSpPr>
          <p:cNvPr id="46" name="TextBox 45"/>
          <p:cNvSpPr txBox="1"/>
          <p:nvPr/>
        </p:nvSpPr>
        <p:spPr>
          <a:xfrm>
            <a:off x="7040880" y="3877056"/>
            <a:ext cx="1371600" cy="256032"/>
          </a:xfrm>
          <a:prstGeom prst="rect">
            <a:avLst/>
          </a:prstGeom>
          <a:noFill/>
        </p:spPr>
        <p:txBody>
          <a:bodyPr wrap="square">
            <a:spAutoFit/>
          </a:bodyPr>
          <a:lstStyle/>
          <a:p>
            <a:pPr algn="l"/>
            <a:r>
              <a:rPr sz="1000" b="0" i="0">
                <a:solidFill>
                  <a:srgbClr val="E0E0E0"/>
                </a:solidFill>
              </a:rPr>
              <a:t>0.006</a:t>
            </a:r>
          </a:p>
        </p:txBody>
      </p:sp>
      <p:sp>
        <p:nvSpPr>
          <p:cNvPr id="47" name="TextBox 46"/>
          <p:cNvSpPr txBox="1"/>
          <p:nvPr/>
        </p:nvSpPr>
        <p:spPr>
          <a:xfrm>
            <a:off x="8549640" y="3877056"/>
            <a:ext cx="2560320" cy="256032"/>
          </a:xfrm>
          <a:prstGeom prst="rect">
            <a:avLst/>
          </a:prstGeom>
          <a:noFill/>
        </p:spPr>
        <p:txBody>
          <a:bodyPr wrap="square">
            <a:spAutoFit/>
          </a:bodyPr>
          <a:lstStyle/>
          <a:p>
            <a:pPr algn="l"/>
            <a:r>
              <a:rPr sz="1000" b="0" i="0">
                <a:solidFill>
                  <a:srgbClr val="E0E0E0"/>
                </a:solidFill>
              </a:rPr>
              <a:t>[+0.003, +0.019]</a:t>
            </a:r>
          </a:p>
        </p:txBody>
      </p:sp>
      <p:sp>
        <p:nvSpPr>
          <p:cNvPr id="48" name="TextBox 47"/>
          <p:cNvSpPr txBox="1"/>
          <p:nvPr/>
        </p:nvSpPr>
        <p:spPr>
          <a:xfrm>
            <a:off x="11247120" y="3877056"/>
            <a:ext cx="731520" cy="256032"/>
          </a:xfrm>
          <a:prstGeom prst="rect">
            <a:avLst/>
          </a:prstGeom>
          <a:noFill/>
        </p:spPr>
        <p:txBody>
          <a:bodyPr wrap="square">
            <a:spAutoFit/>
          </a:bodyPr>
          <a:lstStyle/>
          <a:p>
            <a:pPr algn="l"/>
            <a:r>
              <a:rPr sz="1000" b="0" i="0">
                <a:solidFill>
                  <a:srgbClr val="FFFFFF"/>
                </a:solidFill>
              </a:rPr>
              <a:t>**</a:t>
            </a:r>
          </a:p>
        </p:txBody>
      </p:sp>
      <p:sp>
        <p:nvSpPr>
          <p:cNvPr id="49" name="TextBox 48"/>
          <p:cNvSpPr txBox="1"/>
          <p:nvPr/>
        </p:nvSpPr>
        <p:spPr>
          <a:xfrm>
            <a:off x="594360" y="4206240"/>
            <a:ext cx="4114800" cy="256032"/>
          </a:xfrm>
          <a:prstGeom prst="rect">
            <a:avLst/>
          </a:prstGeom>
          <a:noFill/>
        </p:spPr>
        <p:txBody>
          <a:bodyPr wrap="square">
            <a:spAutoFit/>
          </a:bodyPr>
          <a:lstStyle/>
          <a:p>
            <a:pPr algn="l"/>
            <a:r>
              <a:rPr sz="1000" b="1" i="0">
                <a:solidFill>
                  <a:srgbClr val="B0B0B0"/>
                </a:solidFill>
              </a:rPr>
              <a:t>Social class [wealth A]</a:t>
            </a:r>
          </a:p>
        </p:txBody>
      </p:sp>
      <p:sp>
        <p:nvSpPr>
          <p:cNvPr id="50" name="TextBox 49"/>
          <p:cNvSpPr txBox="1"/>
          <p:nvPr/>
        </p:nvSpPr>
        <p:spPr>
          <a:xfrm>
            <a:off x="4846320" y="4206240"/>
            <a:ext cx="2011680" cy="256032"/>
          </a:xfrm>
          <a:prstGeom prst="rect">
            <a:avLst/>
          </a:prstGeom>
          <a:noFill/>
        </p:spPr>
        <p:txBody>
          <a:bodyPr wrap="square">
            <a:spAutoFit/>
          </a:bodyPr>
          <a:lstStyle/>
          <a:p>
            <a:pPr algn="l"/>
            <a:r>
              <a:rPr sz="1000" b="0" i="0">
                <a:solidFill>
                  <a:srgbClr val="E0E0E0"/>
                </a:solidFill>
              </a:rPr>
              <a:t>−0.017</a:t>
            </a:r>
          </a:p>
        </p:txBody>
      </p:sp>
      <p:sp>
        <p:nvSpPr>
          <p:cNvPr id="51" name="TextBox 50"/>
          <p:cNvSpPr txBox="1"/>
          <p:nvPr/>
        </p:nvSpPr>
        <p:spPr>
          <a:xfrm>
            <a:off x="7040880" y="4206240"/>
            <a:ext cx="1371600" cy="256032"/>
          </a:xfrm>
          <a:prstGeom prst="rect">
            <a:avLst/>
          </a:prstGeom>
          <a:noFill/>
        </p:spPr>
        <p:txBody>
          <a:bodyPr wrap="square">
            <a:spAutoFit/>
          </a:bodyPr>
          <a:lstStyle/>
          <a:p>
            <a:pPr algn="l"/>
            <a:r>
              <a:rPr sz="1000" b="0" i="0">
                <a:solidFill>
                  <a:srgbClr val="E0E0E0"/>
                </a:solidFill>
              </a:rPr>
              <a:t>0.046</a:t>
            </a:r>
          </a:p>
        </p:txBody>
      </p:sp>
      <p:sp>
        <p:nvSpPr>
          <p:cNvPr id="52" name="TextBox 51"/>
          <p:cNvSpPr txBox="1"/>
          <p:nvPr/>
        </p:nvSpPr>
        <p:spPr>
          <a:xfrm>
            <a:off x="8549640" y="4206240"/>
            <a:ext cx="2560320" cy="256032"/>
          </a:xfrm>
          <a:prstGeom prst="rect">
            <a:avLst/>
          </a:prstGeom>
          <a:noFill/>
        </p:spPr>
        <p:txBody>
          <a:bodyPr wrap="square">
            <a:spAutoFit/>
          </a:bodyPr>
          <a:lstStyle/>
          <a:p>
            <a:pPr algn="l"/>
            <a:r>
              <a:rPr sz="1000" b="0" i="0">
                <a:solidFill>
                  <a:srgbClr val="E0E0E0"/>
                </a:solidFill>
              </a:rPr>
              <a:t>[−0.033, −0.000]</a:t>
            </a:r>
          </a:p>
        </p:txBody>
      </p:sp>
      <p:sp>
        <p:nvSpPr>
          <p:cNvPr id="53" name="TextBox 52"/>
          <p:cNvSpPr txBox="1"/>
          <p:nvPr/>
        </p:nvSpPr>
        <p:spPr>
          <a:xfrm>
            <a:off x="11247120" y="4206240"/>
            <a:ext cx="731520" cy="256032"/>
          </a:xfrm>
          <a:prstGeom prst="rect">
            <a:avLst/>
          </a:prstGeom>
          <a:noFill/>
        </p:spPr>
        <p:txBody>
          <a:bodyPr wrap="square">
            <a:spAutoFit/>
          </a:bodyPr>
          <a:lstStyle/>
          <a:p>
            <a:pPr algn="l"/>
            <a:r>
              <a:rPr sz="1000" b="0" i="0">
                <a:solidFill>
                  <a:srgbClr val="FFFFFF"/>
                </a:solidFill>
              </a:rPr>
              <a:t>*</a:t>
            </a:r>
          </a:p>
        </p:txBody>
      </p:sp>
      <p:sp>
        <p:nvSpPr>
          <p:cNvPr id="54" name="TextBox 53"/>
          <p:cNvSpPr txBox="1"/>
          <p:nvPr/>
        </p:nvSpPr>
        <p:spPr>
          <a:xfrm>
            <a:off x="594360" y="4535424"/>
            <a:ext cx="4114800" cy="256032"/>
          </a:xfrm>
          <a:prstGeom prst="rect">
            <a:avLst/>
          </a:prstGeom>
          <a:noFill/>
        </p:spPr>
        <p:txBody>
          <a:bodyPr wrap="square">
            <a:spAutoFit/>
          </a:bodyPr>
          <a:lstStyle/>
          <a:p>
            <a:pPr algn="l"/>
            <a:r>
              <a:rPr sz="1000" b="1" i="0">
                <a:solidFill>
                  <a:srgbClr val="B0B0B0"/>
                </a:solidFill>
              </a:rPr>
              <a:t>Education (ISCED 0–8)</a:t>
            </a:r>
          </a:p>
        </p:txBody>
      </p:sp>
      <p:sp>
        <p:nvSpPr>
          <p:cNvPr id="55" name="TextBox 54"/>
          <p:cNvSpPr txBox="1"/>
          <p:nvPr/>
        </p:nvSpPr>
        <p:spPr>
          <a:xfrm>
            <a:off x="4846320" y="4535424"/>
            <a:ext cx="2011680" cy="256032"/>
          </a:xfrm>
          <a:prstGeom prst="rect">
            <a:avLst/>
          </a:prstGeom>
          <a:noFill/>
        </p:spPr>
        <p:txBody>
          <a:bodyPr wrap="square">
            <a:spAutoFit/>
          </a:bodyPr>
          <a:lstStyle/>
          <a:p>
            <a:pPr algn="l"/>
            <a:r>
              <a:rPr sz="1000" b="0" i="0">
                <a:solidFill>
                  <a:srgbClr val="E0E0E0"/>
                </a:solidFill>
              </a:rPr>
              <a:t>−0.008</a:t>
            </a:r>
          </a:p>
        </p:txBody>
      </p:sp>
      <p:sp>
        <p:nvSpPr>
          <p:cNvPr id="56" name="TextBox 55"/>
          <p:cNvSpPr txBox="1"/>
          <p:nvPr/>
        </p:nvSpPr>
        <p:spPr>
          <a:xfrm>
            <a:off x="7040880" y="4535424"/>
            <a:ext cx="1371600" cy="256032"/>
          </a:xfrm>
          <a:prstGeom prst="rect">
            <a:avLst/>
          </a:prstGeom>
          <a:noFill/>
        </p:spPr>
        <p:txBody>
          <a:bodyPr wrap="square">
            <a:spAutoFit/>
          </a:bodyPr>
          <a:lstStyle/>
          <a:p>
            <a:pPr algn="l"/>
            <a:r>
              <a:rPr sz="1000" b="0" i="0">
                <a:solidFill>
                  <a:srgbClr val="E0E0E0"/>
                </a:solidFill>
              </a:rPr>
              <a:t>0.031</a:t>
            </a:r>
          </a:p>
        </p:txBody>
      </p:sp>
      <p:sp>
        <p:nvSpPr>
          <p:cNvPr id="57" name="TextBox 56"/>
          <p:cNvSpPr txBox="1"/>
          <p:nvPr/>
        </p:nvSpPr>
        <p:spPr>
          <a:xfrm>
            <a:off x="8549640" y="4535424"/>
            <a:ext cx="2560320" cy="256032"/>
          </a:xfrm>
          <a:prstGeom prst="rect">
            <a:avLst/>
          </a:prstGeom>
          <a:noFill/>
        </p:spPr>
        <p:txBody>
          <a:bodyPr wrap="square">
            <a:spAutoFit/>
          </a:bodyPr>
          <a:lstStyle/>
          <a:p>
            <a:pPr algn="l"/>
            <a:r>
              <a:rPr sz="1000" b="0" i="0">
                <a:solidFill>
                  <a:srgbClr val="E0E0E0"/>
                </a:solidFill>
              </a:rPr>
              <a:t>[−0.014, −0.001]</a:t>
            </a:r>
          </a:p>
        </p:txBody>
      </p:sp>
      <p:sp>
        <p:nvSpPr>
          <p:cNvPr id="58" name="TextBox 57"/>
          <p:cNvSpPr txBox="1"/>
          <p:nvPr/>
        </p:nvSpPr>
        <p:spPr>
          <a:xfrm>
            <a:off x="11247120" y="4535424"/>
            <a:ext cx="731520" cy="256032"/>
          </a:xfrm>
          <a:prstGeom prst="rect">
            <a:avLst/>
          </a:prstGeom>
          <a:noFill/>
        </p:spPr>
        <p:txBody>
          <a:bodyPr wrap="square">
            <a:spAutoFit/>
          </a:bodyPr>
          <a:lstStyle/>
          <a:p>
            <a:pPr algn="l"/>
            <a:r>
              <a:rPr sz="1000" b="0" i="0">
                <a:solidFill>
                  <a:srgbClr val="FFFFFF"/>
                </a:solidFill>
              </a:rPr>
              <a:t>*</a:t>
            </a:r>
          </a:p>
        </p:txBody>
      </p:sp>
      <p:sp>
        <p:nvSpPr>
          <p:cNvPr id="59" name="TextBox 58"/>
          <p:cNvSpPr txBox="1"/>
          <p:nvPr/>
        </p:nvSpPr>
        <p:spPr>
          <a:xfrm>
            <a:off x="594360" y="4864608"/>
            <a:ext cx="4114800" cy="256032"/>
          </a:xfrm>
          <a:prstGeom prst="rect">
            <a:avLst/>
          </a:prstGeom>
          <a:noFill/>
        </p:spPr>
        <p:txBody>
          <a:bodyPr wrap="square">
            <a:spAutoFit/>
          </a:bodyPr>
          <a:lstStyle/>
          <a:p>
            <a:pPr algn="l"/>
            <a:r>
              <a:rPr sz="1000" b="1" i="0">
                <a:solidFill>
                  <a:srgbClr val="7C6AF7"/>
                </a:solidFill>
              </a:rPr>
              <a:t>Age</a:t>
            </a:r>
          </a:p>
        </p:txBody>
      </p:sp>
      <p:sp>
        <p:nvSpPr>
          <p:cNvPr id="60" name="TextBox 59"/>
          <p:cNvSpPr txBox="1"/>
          <p:nvPr/>
        </p:nvSpPr>
        <p:spPr>
          <a:xfrm>
            <a:off x="4846320" y="4864608"/>
            <a:ext cx="2011680" cy="256032"/>
          </a:xfrm>
          <a:prstGeom prst="rect">
            <a:avLst/>
          </a:prstGeom>
          <a:noFill/>
        </p:spPr>
        <p:txBody>
          <a:bodyPr wrap="square">
            <a:spAutoFit/>
          </a:bodyPr>
          <a:lstStyle/>
          <a:p>
            <a:pPr algn="l"/>
            <a:r>
              <a:rPr sz="1000" b="0" i="0">
                <a:solidFill>
                  <a:srgbClr val="E0E0E0"/>
                </a:solidFill>
              </a:rPr>
              <a:t>+0.002</a:t>
            </a:r>
          </a:p>
        </p:txBody>
      </p:sp>
      <p:sp>
        <p:nvSpPr>
          <p:cNvPr id="61" name="TextBox 60"/>
          <p:cNvSpPr txBox="1"/>
          <p:nvPr/>
        </p:nvSpPr>
        <p:spPr>
          <a:xfrm>
            <a:off x="7040880" y="4864608"/>
            <a:ext cx="1371600" cy="256032"/>
          </a:xfrm>
          <a:prstGeom prst="rect">
            <a:avLst/>
          </a:prstGeom>
          <a:noFill/>
        </p:spPr>
        <p:txBody>
          <a:bodyPr wrap="square">
            <a:spAutoFit/>
          </a:bodyPr>
          <a:lstStyle/>
          <a:p>
            <a:pPr algn="l"/>
            <a:r>
              <a:rPr sz="1000" b="0" i="0">
                <a:solidFill>
                  <a:srgbClr val="E0E0E0"/>
                </a:solidFill>
              </a:rPr>
              <a:t>&lt;0.001</a:t>
            </a:r>
          </a:p>
        </p:txBody>
      </p:sp>
      <p:sp>
        <p:nvSpPr>
          <p:cNvPr id="62" name="TextBox 61"/>
          <p:cNvSpPr txBox="1"/>
          <p:nvPr/>
        </p:nvSpPr>
        <p:spPr>
          <a:xfrm>
            <a:off x="8549640" y="4864608"/>
            <a:ext cx="2560320" cy="256032"/>
          </a:xfrm>
          <a:prstGeom prst="rect">
            <a:avLst/>
          </a:prstGeom>
          <a:noFill/>
        </p:spPr>
        <p:txBody>
          <a:bodyPr wrap="square">
            <a:spAutoFit/>
          </a:bodyPr>
          <a:lstStyle/>
          <a:p>
            <a:pPr algn="l"/>
            <a:r>
              <a:rPr sz="1000" b="0" i="0">
                <a:solidFill>
                  <a:srgbClr val="E0E0E0"/>
                </a:solidFill>
              </a:rPr>
              <a:t>[+0.001, +0.003]</a:t>
            </a:r>
          </a:p>
        </p:txBody>
      </p:sp>
      <p:sp>
        <p:nvSpPr>
          <p:cNvPr id="63" name="TextBox 62"/>
          <p:cNvSpPr txBox="1"/>
          <p:nvPr/>
        </p:nvSpPr>
        <p:spPr>
          <a:xfrm>
            <a:off x="11247120" y="4864608"/>
            <a:ext cx="731520" cy="256032"/>
          </a:xfrm>
          <a:prstGeom prst="rect">
            <a:avLst/>
          </a:prstGeom>
          <a:noFill/>
        </p:spPr>
        <p:txBody>
          <a:bodyPr wrap="square">
            <a:spAutoFit/>
          </a:bodyPr>
          <a:lstStyle/>
          <a:p>
            <a:pPr algn="l"/>
            <a:r>
              <a:rPr sz="1000" b="0" i="0">
                <a:solidFill>
                  <a:srgbClr val="FFFFFF"/>
                </a:solidFill>
              </a:rPr>
              <a:t>***</a:t>
            </a:r>
          </a:p>
        </p:txBody>
      </p:sp>
      <p:sp>
        <p:nvSpPr>
          <p:cNvPr id="64" name="TextBox 63"/>
          <p:cNvSpPr txBox="1"/>
          <p:nvPr/>
        </p:nvSpPr>
        <p:spPr>
          <a:xfrm>
            <a:off x="594360" y="5193792"/>
            <a:ext cx="4114800" cy="256032"/>
          </a:xfrm>
          <a:prstGeom prst="rect">
            <a:avLst/>
          </a:prstGeom>
          <a:noFill/>
        </p:spPr>
        <p:txBody>
          <a:bodyPr wrap="square">
            <a:spAutoFit/>
          </a:bodyPr>
          <a:lstStyle/>
          <a:p>
            <a:pPr algn="l"/>
            <a:r>
              <a:rPr sz="1000" b="1" i="0">
                <a:solidFill>
                  <a:srgbClr val="7C6AF7"/>
                </a:solidFill>
              </a:rPr>
              <a:t>Female</a:t>
            </a:r>
          </a:p>
        </p:txBody>
      </p:sp>
      <p:sp>
        <p:nvSpPr>
          <p:cNvPr id="65" name="TextBox 64"/>
          <p:cNvSpPr txBox="1"/>
          <p:nvPr/>
        </p:nvSpPr>
        <p:spPr>
          <a:xfrm>
            <a:off x="4846320" y="5193792"/>
            <a:ext cx="2011680" cy="256032"/>
          </a:xfrm>
          <a:prstGeom prst="rect">
            <a:avLst/>
          </a:prstGeom>
          <a:noFill/>
        </p:spPr>
        <p:txBody>
          <a:bodyPr wrap="square">
            <a:spAutoFit/>
          </a:bodyPr>
          <a:lstStyle/>
          <a:p>
            <a:pPr algn="l"/>
            <a:r>
              <a:rPr sz="1000" b="0" i="0">
                <a:solidFill>
                  <a:srgbClr val="E0E0E0"/>
                </a:solidFill>
              </a:rPr>
              <a:t>+0.052</a:t>
            </a:r>
          </a:p>
        </p:txBody>
      </p:sp>
      <p:sp>
        <p:nvSpPr>
          <p:cNvPr id="66" name="TextBox 65"/>
          <p:cNvSpPr txBox="1"/>
          <p:nvPr/>
        </p:nvSpPr>
        <p:spPr>
          <a:xfrm>
            <a:off x="7040880" y="5193792"/>
            <a:ext cx="1371600" cy="256032"/>
          </a:xfrm>
          <a:prstGeom prst="rect">
            <a:avLst/>
          </a:prstGeom>
          <a:noFill/>
        </p:spPr>
        <p:txBody>
          <a:bodyPr wrap="square">
            <a:spAutoFit/>
          </a:bodyPr>
          <a:lstStyle/>
          <a:p>
            <a:pPr algn="l"/>
            <a:r>
              <a:rPr sz="1000" b="0" i="0">
                <a:solidFill>
                  <a:srgbClr val="E0E0E0"/>
                </a:solidFill>
              </a:rPr>
              <a:t>&lt;0.001</a:t>
            </a:r>
          </a:p>
        </p:txBody>
      </p:sp>
      <p:sp>
        <p:nvSpPr>
          <p:cNvPr id="67" name="TextBox 66"/>
          <p:cNvSpPr txBox="1"/>
          <p:nvPr/>
        </p:nvSpPr>
        <p:spPr>
          <a:xfrm>
            <a:off x="8549640" y="5193792"/>
            <a:ext cx="2560320" cy="256032"/>
          </a:xfrm>
          <a:prstGeom prst="rect">
            <a:avLst/>
          </a:prstGeom>
          <a:noFill/>
        </p:spPr>
        <p:txBody>
          <a:bodyPr wrap="square">
            <a:spAutoFit/>
          </a:bodyPr>
          <a:lstStyle/>
          <a:p>
            <a:pPr algn="l"/>
            <a:r>
              <a:rPr sz="1000" b="0" i="0">
                <a:solidFill>
                  <a:srgbClr val="E0E0E0"/>
                </a:solidFill>
              </a:rPr>
              <a:t>[+0.026, +0.079]</a:t>
            </a:r>
          </a:p>
        </p:txBody>
      </p:sp>
      <p:sp>
        <p:nvSpPr>
          <p:cNvPr id="68" name="TextBox 67"/>
          <p:cNvSpPr txBox="1"/>
          <p:nvPr/>
        </p:nvSpPr>
        <p:spPr>
          <a:xfrm>
            <a:off x="11247120" y="5193792"/>
            <a:ext cx="731520" cy="256032"/>
          </a:xfrm>
          <a:prstGeom prst="rect">
            <a:avLst/>
          </a:prstGeom>
          <a:noFill/>
        </p:spPr>
        <p:txBody>
          <a:bodyPr wrap="square">
            <a:spAutoFit/>
          </a:bodyPr>
          <a:lstStyle/>
          <a:p>
            <a:pPr algn="l"/>
            <a:r>
              <a:rPr sz="1000" b="0" i="0">
                <a:solidFill>
                  <a:srgbClr val="FFFFFF"/>
                </a:solidFill>
              </a:rPr>
              <a:t>***</a:t>
            </a:r>
          </a:p>
        </p:txBody>
      </p:sp>
      <p:sp>
        <p:nvSpPr>
          <p:cNvPr id="69" name="TextBox 68"/>
          <p:cNvSpPr txBox="1"/>
          <p:nvPr/>
        </p:nvSpPr>
        <p:spPr>
          <a:xfrm>
            <a:off x="457200" y="6446520"/>
            <a:ext cx="11430000" cy="320040"/>
          </a:xfrm>
          <a:prstGeom prst="rect">
            <a:avLst/>
          </a:prstGeom>
          <a:noFill/>
        </p:spPr>
        <p:txBody>
          <a:bodyPr wrap="square">
            <a:spAutoFit/>
          </a:bodyPr>
          <a:lstStyle/>
          <a:p>
            <a:pPr algn="l"/>
            <a:r>
              <a:rPr sz="900" b="0" i="1">
                <a:solidFill>
                  <a:srgbClr val="B0B0B0"/>
                </a:solidFill>
              </a:rPr>
              <a:t>Note: Social class and education show negative signs due to suppression from financial_satisfaction dominating the model. Bivariate associations are positive.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7C6AF7"/>
                </a:solidFill>
              </a:rPr>
              <a:t>PHASE 8.3  —  PREDICTOR COMPARISON</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Which Factor Has the Strongest Association?</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standardized_coefficients.png"/>
          <p:cNvPicPr>
            <a:picLocks noChangeAspect="1"/>
          </p:cNvPicPr>
          <p:nvPr/>
        </p:nvPicPr>
        <p:blipFill>
          <a:blip r:embed="rId2"/>
          <a:stretch>
            <a:fillRect/>
          </a:stretch>
        </p:blipFill>
        <p:spPr>
          <a:xfrm>
            <a:off x="274320" y="1325880"/>
            <a:ext cx="7315200" cy="4218732"/>
          </a:xfrm>
          <a:prstGeom prst="rect">
            <a:avLst/>
          </a:prstGeom>
        </p:spPr>
      </p:pic>
      <p:sp>
        <p:nvSpPr>
          <p:cNvPr id="7" name="Rectangle 6"/>
          <p:cNvSpPr/>
          <p:nvPr/>
        </p:nvSpPr>
        <p:spPr>
          <a:xfrm>
            <a:off x="7772400" y="1325880"/>
            <a:ext cx="4251960" cy="516636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389888"/>
            <a:ext cx="4023360" cy="365760"/>
          </a:xfrm>
          <a:prstGeom prst="rect">
            <a:avLst/>
          </a:prstGeom>
          <a:noFill/>
        </p:spPr>
        <p:txBody>
          <a:bodyPr wrap="square">
            <a:spAutoFit/>
          </a:bodyPr>
          <a:lstStyle/>
          <a:p>
            <a:pPr algn="l"/>
            <a:r>
              <a:rPr sz="1300" b="1" i="0">
                <a:solidFill>
                  <a:srgbClr val="7C6AF7"/>
                </a:solidFill>
              </a:rPr>
              <a:t>Standardized β Coefficients</a:t>
            </a:r>
          </a:p>
        </p:txBody>
      </p:sp>
      <p:sp>
        <p:nvSpPr>
          <p:cNvPr id="9" name="TextBox 8"/>
          <p:cNvSpPr txBox="1"/>
          <p:nvPr/>
        </p:nvSpPr>
        <p:spPr>
          <a:xfrm>
            <a:off x="7909560" y="1783080"/>
            <a:ext cx="3931920" cy="640080"/>
          </a:xfrm>
          <a:prstGeom prst="rect">
            <a:avLst/>
          </a:prstGeom>
          <a:noFill/>
        </p:spPr>
        <p:txBody>
          <a:bodyPr wrap="square">
            <a:spAutoFit/>
          </a:bodyPr>
          <a:lstStyle/>
          <a:p>
            <a:pPr algn="l"/>
            <a:r>
              <a:rPr sz="1000" b="0" i="1">
                <a:solidFill>
                  <a:srgbClr val="B0B0B0"/>
                </a:solidFill>
              </a:rPr>
              <a:t>Allow direct comparison across different scales.
"A 1-SD rise in X is associated with β SD change in life satisfaction."</a:t>
            </a:r>
          </a:p>
        </p:txBody>
      </p:sp>
      <p:sp>
        <p:nvSpPr>
          <p:cNvPr id="10" name="Rectangle 9"/>
          <p:cNvSpPr/>
          <p:nvPr/>
        </p:nvSpPr>
        <p:spPr>
          <a:xfrm>
            <a:off x="7909560" y="2560320"/>
            <a:ext cx="3931920" cy="82296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2606040"/>
            <a:ext cx="457200" cy="320040"/>
          </a:xfrm>
          <a:prstGeom prst="rect">
            <a:avLst/>
          </a:prstGeom>
          <a:noFill/>
        </p:spPr>
        <p:txBody>
          <a:bodyPr wrap="square">
            <a:spAutoFit/>
          </a:bodyPr>
          <a:lstStyle/>
          <a:p>
            <a:pPr algn="l"/>
            <a:r>
              <a:rPr sz="1300" b="1" i="0">
                <a:solidFill>
                  <a:srgbClr val="F7975A"/>
                </a:solidFill>
              </a:rPr>
              <a:t>#1</a:t>
            </a:r>
          </a:p>
        </p:txBody>
      </p:sp>
      <p:sp>
        <p:nvSpPr>
          <p:cNvPr id="12" name="TextBox 11"/>
          <p:cNvSpPr txBox="1"/>
          <p:nvPr/>
        </p:nvSpPr>
        <p:spPr>
          <a:xfrm>
            <a:off x="8412480" y="2606040"/>
            <a:ext cx="3291840" cy="320040"/>
          </a:xfrm>
          <a:prstGeom prst="rect">
            <a:avLst/>
          </a:prstGeom>
          <a:noFill/>
        </p:spPr>
        <p:txBody>
          <a:bodyPr wrap="square">
            <a:spAutoFit/>
          </a:bodyPr>
          <a:lstStyle/>
          <a:p>
            <a:pPr algn="l"/>
            <a:r>
              <a:rPr sz="1100" b="1" i="0">
                <a:solidFill>
                  <a:srgbClr val="FFFFFF"/>
                </a:solidFill>
              </a:rPr>
              <a:t>Financial satisfaction β = +1.26</a:t>
            </a:r>
          </a:p>
        </p:txBody>
      </p:sp>
      <p:sp>
        <p:nvSpPr>
          <p:cNvPr id="13" name="TextBox 12"/>
          <p:cNvSpPr txBox="1"/>
          <p:nvPr/>
        </p:nvSpPr>
        <p:spPr>
          <a:xfrm>
            <a:off x="8412480" y="2944368"/>
            <a:ext cx="3291840" cy="274320"/>
          </a:xfrm>
          <a:prstGeom prst="rect">
            <a:avLst/>
          </a:prstGeom>
          <a:noFill/>
        </p:spPr>
        <p:txBody>
          <a:bodyPr wrap="square">
            <a:spAutoFit/>
          </a:bodyPr>
          <a:lstStyle/>
          <a:p>
            <a:pPr algn="l"/>
            <a:r>
              <a:rPr sz="1000" b="0" i="1">
                <a:solidFill>
                  <a:srgbClr val="B0B0B0"/>
                </a:solidFill>
              </a:rPr>
              <a:t>Dominant by far — 13× income</a:t>
            </a:r>
          </a:p>
        </p:txBody>
      </p:sp>
      <p:sp>
        <p:nvSpPr>
          <p:cNvPr id="14" name="Rectangle 13"/>
          <p:cNvSpPr/>
          <p:nvPr/>
        </p:nvSpPr>
        <p:spPr>
          <a:xfrm>
            <a:off x="7909560" y="3474720"/>
            <a:ext cx="3931920" cy="82296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520440"/>
            <a:ext cx="457200" cy="320040"/>
          </a:xfrm>
          <a:prstGeom prst="rect">
            <a:avLst/>
          </a:prstGeom>
          <a:noFill/>
        </p:spPr>
        <p:txBody>
          <a:bodyPr wrap="square">
            <a:spAutoFit/>
          </a:bodyPr>
          <a:lstStyle/>
          <a:p>
            <a:pPr algn="l"/>
            <a:r>
              <a:rPr sz="1300" b="1" i="0">
                <a:solidFill>
                  <a:srgbClr val="F75A5A"/>
                </a:solidFill>
              </a:rPr>
              <a:t>#2</a:t>
            </a:r>
          </a:p>
        </p:txBody>
      </p:sp>
      <p:sp>
        <p:nvSpPr>
          <p:cNvPr id="16" name="TextBox 15"/>
          <p:cNvSpPr txBox="1"/>
          <p:nvPr/>
        </p:nvSpPr>
        <p:spPr>
          <a:xfrm>
            <a:off x="8412480" y="3520440"/>
            <a:ext cx="3291840" cy="320040"/>
          </a:xfrm>
          <a:prstGeom prst="rect">
            <a:avLst/>
          </a:prstGeom>
          <a:noFill/>
        </p:spPr>
        <p:txBody>
          <a:bodyPr wrap="square">
            <a:spAutoFit/>
          </a:bodyPr>
          <a:lstStyle/>
          <a:p>
            <a:pPr algn="l"/>
            <a:r>
              <a:rPr sz="1100" b="1" i="0">
                <a:solidFill>
                  <a:srgbClr val="FFFFFF"/>
                </a:solidFill>
              </a:rPr>
              <a:t>Unemployed penalty β = −0.15</a:t>
            </a:r>
          </a:p>
        </p:txBody>
      </p:sp>
      <p:sp>
        <p:nvSpPr>
          <p:cNvPr id="17" name="TextBox 16"/>
          <p:cNvSpPr txBox="1"/>
          <p:nvPr/>
        </p:nvSpPr>
        <p:spPr>
          <a:xfrm>
            <a:off x="8412480" y="3858768"/>
            <a:ext cx="3291840" cy="274320"/>
          </a:xfrm>
          <a:prstGeom prst="rect">
            <a:avLst/>
          </a:prstGeom>
          <a:noFill/>
        </p:spPr>
        <p:txBody>
          <a:bodyPr wrap="square">
            <a:spAutoFit/>
          </a:bodyPr>
          <a:lstStyle/>
          <a:p>
            <a:pPr algn="l"/>
            <a:r>
              <a:rPr sz="1000" b="0" i="1">
                <a:solidFill>
                  <a:srgbClr val="B0B0B0"/>
                </a:solidFill>
              </a:rPr>
              <a:t>Stronger than income rank</a:t>
            </a:r>
          </a:p>
        </p:txBody>
      </p:sp>
      <p:sp>
        <p:nvSpPr>
          <p:cNvPr id="18" name="Rectangle 17"/>
          <p:cNvSpPr/>
          <p:nvPr/>
        </p:nvSpPr>
        <p:spPr>
          <a:xfrm>
            <a:off x="7909560" y="4389120"/>
            <a:ext cx="3931920" cy="82296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4434840"/>
            <a:ext cx="457200" cy="320040"/>
          </a:xfrm>
          <a:prstGeom prst="rect">
            <a:avLst/>
          </a:prstGeom>
          <a:noFill/>
        </p:spPr>
        <p:txBody>
          <a:bodyPr wrap="square">
            <a:spAutoFit/>
          </a:bodyPr>
          <a:lstStyle/>
          <a:p>
            <a:pPr algn="l"/>
            <a:r>
              <a:rPr sz="1300" b="1" i="0">
                <a:solidFill>
                  <a:srgbClr val="3FC1C9"/>
                </a:solidFill>
              </a:rPr>
              <a:t>#3</a:t>
            </a:r>
          </a:p>
        </p:txBody>
      </p:sp>
      <p:sp>
        <p:nvSpPr>
          <p:cNvPr id="20" name="TextBox 19"/>
          <p:cNvSpPr txBox="1"/>
          <p:nvPr/>
        </p:nvSpPr>
        <p:spPr>
          <a:xfrm>
            <a:off x="8412480" y="4434840"/>
            <a:ext cx="3291840" cy="320040"/>
          </a:xfrm>
          <a:prstGeom prst="rect">
            <a:avLst/>
          </a:prstGeom>
          <a:noFill/>
        </p:spPr>
        <p:txBody>
          <a:bodyPr wrap="square">
            <a:spAutoFit/>
          </a:bodyPr>
          <a:lstStyle/>
          <a:p>
            <a:pPr algn="l"/>
            <a:r>
              <a:rPr sz="1100" b="1" i="0">
                <a:solidFill>
                  <a:srgbClr val="FFFFFF"/>
                </a:solidFill>
              </a:rPr>
              <a:t>Income β = +0.02</a:t>
            </a:r>
          </a:p>
        </p:txBody>
      </p:sp>
      <p:sp>
        <p:nvSpPr>
          <p:cNvPr id="21" name="TextBox 20"/>
          <p:cNvSpPr txBox="1"/>
          <p:nvPr/>
        </p:nvSpPr>
        <p:spPr>
          <a:xfrm>
            <a:off x="8412480" y="4773168"/>
            <a:ext cx="3291840" cy="274320"/>
          </a:xfrm>
          <a:prstGeom prst="rect">
            <a:avLst/>
          </a:prstGeom>
          <a:noFill/>
        </p:spPr>
        <p:txBody>
          <a:bodyPr wrap="square">
            <a:spAutoFit/>
          </a:bodyPr>
          <a:lstStyle/>
          <a:p>
            <a:pPr algn="l"/>
            <a:r>
              <a:rPr sz="1000" b="0" i="1">
                <a:solidFill>
                  <a:srgbClr val="B0B0B0"/>
                </a:solidFill>
              </a:rPr>
              <a:t>Positive, modest, significant</a:t>
            </a:r>
          </a:p>
        </p:txBody>
      </p:sp>
      <p:sp>
        <p:nvSpPr>
          <p:cNvPr id="22" name="Rectangle 21"/>
          <p:cNvSpPr/>
          <p:nvPr/>
        </p:nvSpPr>
        <p:spPr>
          <a:xfrm>
            <a:off x="7909560" y="5303520"/>
            <a:ext cx="3931920" cy="822960"/>
          </a:xfrm>
          <a:prstGeom prst="rect">
            <a:avLst/>
          </a:prstGeom>
          <a:solidFill>
            <a:srgbClr val="0F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5349240"/>
            <a:ext cx="457200" cy="320040"/>
          </a:xfrm>
          <a:prstGeom prst="rect">
            <a:avLst/>
          </a:prstGeom>
          <a:noFill/>
        </p:spPr>
        <p:txBody>
          <a:bodyPr wrap="square">
            <a:spAutoFit/>
          </a:bodyPr>
          <a:lstStyle/>
          <a:p>
            <a:pPr algn="l"/>
            <a:r>
              <a:rPr sz="1300" b="1" i="0">
                <a:solidFill>
                  <a:srgbClr val="B0B0B0"/>
                </a:solidFill>
              </a:rPr>
              <a:t>#4</a:t>
            </a:r>
          </a:p>
        </p:txBody>
      </p:sp>
      <p:sp>
        <p:nvSpPr>
          <p:cNvPr id="24" name="TextBox 23"/>
          <p:cNvSpPr txBox="1"/>
          <p:nvPr/>
        </p:nvSpPr>
        <p:spPr>
          <a:xfrm>
            <a:off x="8412480" y="5349240"/>
            <a:ext cx="3291840" cy="320040"/>
          </a:xfrm>
          <a:prstGeom prst="rect">
            <a:avLst/>
          </a:prstGeom>
          <a:noFill/>
        </p:spPr>
        <p:txBody>
          <a:bodyPr wrap="square">
            <a:spAutoFit/>
          </a:bodyPr>
          <a:lstStyle/>
          <a:p>
            <a:pPr algn="l"/>
            <a:r>
              <a:rPr sz="1100" b="1" i="0">
                <a:solidFill>
                  <a:srgbClr val="FFFFFF"/>
                </a:solidFill>
              </a:rPr>
              <a:t>Education β = −0.015</a:t>
            </a:r>
          </a:p>
        </p:txBody>
      </p:sp>
      <p:sp>
        <p:nvSpPr>
          <p:cNvPr id="25" name="TextBox 24"/>
          <p:cNvSpPr txBox="1"/>
          <p:nvPr/>
        </p:nvSpPr>
        <p:spPr>
          <a:xfrm>
            <a:off x="8412480" y="5687568"/>
            <a:ext cx="3291840" cy="274320"/>
          </a:xfrm>
          <a:prstGeom prst="rect">
            <a:avLst/>
          </a:prstGeom>
          <a:noFill/>
        </p:spPr>
        <p:txBody>
          <a:bodyPr wrap="square">
            <a:spAutoFit/>
          </a:bodyPr>
          <a:lstStyle/>
          <a:p>
            <a:pPr algn="l"/>
            <a:r>
              <a:rPr sz="1000" b="0" i="1">
                <a:solidFill>
                  <a:srgbClr val="B0B0B0"/>
                </a:solidFill>
              </a:rPr>
              <a:t>Small direct effect (suppression)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3FC1C9"/>
                </a:solidFill>
              </a:rPr>
              <a:t>PHASE 8.6  —  INCOME RELATIONSHIP</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Income &amp; Wealth vs. Life Satisfaction</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income_wealth_relationships.png"/>
          <p:cNvPicPr>
            <a:picLocks noChangeAspect="1"/>
          </p:cNvPicPr>
          <p:nvPr/>
        </p:nvPicPr>
        <p:blipFill>
          <a:blip r:embed="rId2"/>
          <a:stretch>
            <a:fillRect/>
          </a:stretch>
        </p:blipFill>
        <p:spPr>
          <a:xfrm>
            <a:off x="274320" y="1325880"/>
            <a:ext cx="11640312" cy="3849689"/>
          </a:xfrm>
          <a:prstGeom prst="rect">
            <a:avLst/>
          </a:prstGeom>
        </p:spPr>
      </p:pic>
      <p:sp>
        <p:nvSpPr>
          <p:cNvPr id="7" name="TextBox 6"/>
          <p:cNvSpPr txBox="1"/>
          <p:nvPr/>
        </p:nvSpPr>
        <p:spPr>
          <a:xfrm>
            <a:off x="457200" y="6400800"/>
            <a:ext cx="11430000" cy="365760"/>
          </a:xfrm>
          <a:prstGeom prst="rect">
            <a:avLst/>
          </a:prstGeom>
          <a:noFill/>
        </p:spPr>
        <p:txBody>
          <a:bodyPr wrap="square">
            <a:spAutoFit/>
          </a:bodyPr>
          <a:lstStyle/>
          <a:p>
            <a:pPr algn="l"/>
            <a:r>
              <a:rPr sz="1000" b="0" i="1">
                <a:solidFill>
                  <a:srgbClr val="B0B0B0"/>
                </a:solidFill>
              </a:rPr>
              <a:t>Income range: mean LS = 6.38 (lowest decile) to 8.33 (highest) — a 1.95-point spread on the 10-point scale.    |    Relationship is approximately linear; slight acceleration at higher deciles.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7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F75A5A"/>
                </a:solidFill>
              </a:rPr>
              <a:t>PHASE 8  —  EMPLOYMENT ANALYSIS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Employment Status vs. Life Satisfaction</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employment_vs_lifesatisfaction.png"/>
          <p:cNvPicPr>
            <a:picLocks noChangeAspect="1"/>
          </p:cNvPicPr>
          <p:nvPr/>
        </p:nvPicPr>
        <p:blipFill>
          <a:blip r:embed="rId2"/>
          <a:stretch>
            <a:fillRect/>
          </a:stretch>
        </p:blipFill>
        <p:spPr>
          <a:xfrm>
            <a:off x="274320" y="1325880"/>
            <a:ext cx="7955279" cy="4289611"/>
          </a:xfrm>
          <a:prstGeom prst="rect">
            <a:avLst/>
          </a:prstGeom>
        </p:spPr>
      </p:pic>
      <p:sp>
        <p:nvSpPr>
          <p:cNvPr id="7" name="Rectangle 6"/>
          <p:cNvSpPr/>
          <p:nvPr/>
        </p:nvSpPr>
        <p:spPr>
          <a:xfrm>
            <a:off x="8321040" y="1325880"/>
            <a:ext cx="3703320" cy="51206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417320"/>
            <a:ext cx="3474720" cy="320040"/>
          </a:xfrm>
          <a:prstGeom prst="rect">
            <a:avLst/>
          </a:prstGeom>
          <a:noFill/>
        </p:spPr>
        <p:txBody>
          <a:bodyPr wrap="square">
            <a:spAutoFit/>
          </a:bodyPr>
          <a:lstStyle/>
          <a:p>
            <a:pPr algn="l"/>
            <a:r>
              <a:rPr sz="1300" b="1" i="0">
                <a:solidFill>
                  <a:srgbClr val="F75A5A"/>
                </a:solidFill>
              </a:rPr>
              <a:t>Key Takeaways</a:t>
            </a:r>
          </a:p>
        </p:txBody>
      </p:sp>
      <p:sp>
        <p:nvSpPr>
          <p:cNvPr id="9" name="TextBox 8"/>
          <p:cNvSpPr txBox="1"/>
          <p:nvPr/>
        </p:nvSpPr>
        <p:spPr>
          <a:xfrm>
            <a:off x="8503920" y="1874519"/>
            <a:ext cx="3383280" cy="457200"/>
          </a:xfrm>
          <a:prstGeom prst="rect">
            <a:avLst/>
          </a:prstGeom>
          <a:noFill/>
        </p:spPr>
        <p:txBody>
          <a:bodyPr wrap="square">
            <a:spAutoFit/>
          </a:bodyPr>
          <a:lstStyle/>
          <a:p>
            <a:pPr algn="l"/>
            <a:r>
              <a:rPr sz="1100" b="0" i="0">
                <a:solidFill>
                  <a:srgbClr val="F75A5A"/>
                </a:solidFill>
              </a:rPr>
              <a:t>•  Unemployed have the lowest mean LS</a:t>
            </a:r>
          </a:p>
        </p:txBody>
      </p:sp>
      <p:sp>
        <p:nvSpPr>
          <p:cNvPr id="10" name="TextBox 9"/>
          <p:cNvSpPr txBox="1"/>
          <p:nvPr/>
        </p:nvSpPr>
        <p:spPr>
          <a:xfrm>
            <a:off x="8503920" y="2350007"/>
            <a:ext cx="3383280" cy="457200"/>
          </a:xfrm>
          <a:prstGeom prst="rect">
            <a:avLst/>
          </a:prstGeom>
          <a:noFill/>
        </p:spPr>
        <p:txBody>
          <a:bodyPr wrap="square">
            <a:spAutoFit/>
          </a:bodyPr>
          <a:lstStyle/>
          <a:p>
            <a:pPr algn="l"/>
            <a:r>
              <a:rPr sz="1100" b="0" i="0">
                <a:solidFill>
                  <a:srgbClr val="F7975A"/>
                </a:solidFill>
              </a:rPr>
              <a:t>•  Unemployment β = −0.147 (p&lt;0.001)</a:t>
            </a:r>
          </a:p>
        </p:txBody>
      </p:sp>
      <p:sp>
        <p:nvSpPr>
          <p:cNvPr id="11" name="TextBox 10"/>
          <p:cNvSpPr txBox="1"/>
          <p:nvPr/>
        </p:nvSpPr>
        <p:spPr>
          <a:xfrm>
            <a:off x="8503920" y="2825495"/>
            <a:ext cx="3383280" cy="457200"/>
          </a:xfrm>
          <a:prstGeom prst="rect">
            <a:avLst/>
          </a:prstGeom>
          <a:noFill/>
        </p:spPr>
        <p:txBody>
          <a:bodyPr wrap="square">
            <a:spAutoFit/>
          </a:bodyPr>
          <a:lstStyle/>
          <a:p>
            <a:pPr algn="l"/>
            <a:r>
              <a:rPr sz="1100" b="0" i="0">
                <a:solidFill>
                  <a:srgbClr val="FFFFFF"/>
                </a:solidFill>
              </a:rPr>
              <a:t>•  This is 13× larger than the income β</a:t>
            </a:r>
          </a:p>
        </p:txBody>
      </p:sp>
      <p:sp>
        <p:nvSpPr>
          <p:cNvPr id="12" name="TextBox 11"/>
          <p:cNvSpPr txBox="1"/>
          <p:nvPr/>
        </p:nvSpPr>
        <p:spPr>
          <a:xfrm>
            <a:off x="8503920" y="3300983"/>
            <a:ext cx="3383280" cy="457200"/>
          </a:xfrm>
          <a:prstGeom prst="rect">
            <a:avLst/>
          </a:prstGeom>
          <a:noFill/>
        </p:spPr>
        <p:txBody>
          <a:bodyPr wrap="square">
            <a:spAutoFit/>
          </a:bodyPr>
          <a:lstStyle/>
          <a:p>
            <a:pPr algn="l"/>
            <a:r>
              <a:rPr sz="1100" b="0" i="0">
                <a:solidFill>
                  <a:srgbClr val="3FC1C9"/>
                </a:solidFill>
              </a:rPr>
              <a:t>•  Effect holds AFTER controlling for income</a:t>
            </a:r>
          </a:p>
        </p:txBody>
      </p:sp>
      <p:sp>
        <p:nvSpPr>
          <p:cNvPr id="13" name="TextBox 12"/>
          <p:cNvSpPr txBox="1"/>
          <p:nvPr/>
        </p:nvSpPr>
        <p:spPr>
          <a:xfrm>
            <a:off x="8503920" y="3776471"/>
            <a:ext cx="3383280" cy="457200"/>
          </a:xfrm>
          <a:prstGeom prst="rect">
            <a:avLst/>
          </a:prstGeom>
          <a:noFill/>
        </p:spPr>
        <p:txBody>
          <a:bodyPr wrap="square">
            <a:spAutoFit/>
          </a:bodyPr>
          <a:lstStyle/>
          <a:p>
            <a:pPr algn="l"/>
            <a:r>
              <a:rPr sz="1100" b="0" i="0">
                <a:solidFill>
                  <a:srgbClr val="E0E0E0"/>
                </a:solidFill>
              </a:rPr>
              <a:t>•  Suggests employment provides well-being beyond income (purpose, identity, connection)</a:t>
            </a:r>
          </a:p>
        </p:txBody>
      </p:sp>
      <p:sp>
        <p:nvSpPr>
          <p:cNvPr id="14" name="TextBox 13"/>
          <p:cNvSpPr txBox="1"/>
          <p:nvPr/>
        </p:nvSpPr>
        <p:spPr>
          <a:xfrm>
            <a:off x="8503920" y="4251959"/>
            <a:ext cx="3383280" cy="457200"/>
          </a:xfrm>
          <a:prstGeom prst="rect">
            <a:avLst/>
          </a:prstGeom>
          <a:noFill/>
        </p:spPr>
        <p:txBody>
          <a:bodyPr wrap="square">
            <a:spAutoFit/>
          </a:bodyPr>
          <a:lstStyle/>
          <a:p>
            <a:pPr algn="l"/>
            <a:r>
              <a:rPr sz="1100" b="0" i="0">
                <a:solidFill>
                  <a:srgbClr val="B0B0B0"/>
                </a:solidFill>
              </a:rPr>
              <a:t>•  Reverse causality possible — low satisfaction may reduce employment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5AE68A"/>
                </a:solidFill>
              </a:rPr>
              <a:t>PHASE 8  —  EDUCATION ANALYSIS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Education vs. Life Satisfaction</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education_vs_lifesatisfaction.png"/>
          <p:cNvPicPr>
            <a:picLocks noChangeAspect="1"/>
          </p:cNvPicPr>
          <p:nvPr/>
        </p:nvPicPr>
        <p:blipFill>
          <a:blip r:embed="rId2"/>
          <a:stretch>
            <a:fillRect/>
          </a:stretch>
        </p:blipFill>
        <p:spPr>
          <a:xfrm>
            <a:off x="274320" y="1325880"/>
            <a:ext cx="7955279" cy="3623156"/>
          </a:xfrm>
          <a:prstGeom prst="rect">
            <a:avLst/>
          </a:prstGeom>
        </p:spPr>
      </p:pic>
      <p:sp>
        <p:nvSpPr>
          <p:cNvPr id="7" name="Rectangle 6"/>
          <p:cNvSpPr/>
          <p:nvPr/>
        </p:nvSpPr>
        <p:spPr>
          <a:xfrm>
            <a:off x="8321040" y="1325880"/>
            <a:ext cx="3703320" cy="51206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417320"/>
            <a:ext cx="3474720" cy="320040"/>
          </a:xfrm>
          <a:prstGeom prst="rect">
            <a:avLst/>
          </a:prstGeom>
          <a:noFill/>
        </p:spPr>
        <p:txBody>
          <a:bodyPr wrap="square">
            <a:spAutoFit/>
          </a:bodyPr>
          <a:lstStyle/>
          <a:p>
            <a:pPr algn="l"/>
            <a:r>
              <a:rPr sz="1300" b="1" i="0">
                <a:solidFill>
                  <a:srgbClr val="5AE68A"/>
                </a:solidFill>
              </a:rPr>
              <a:t>Key Takeaways</a:t>
            </a:r>
          </a:p>
        </p:txBody>
      </p:sp>
      <p:sp>
        <p:nvSpPr>
          <p:cNvPr id="9" name="TextBox 8"/>
          <p:cNvSpPr txBox="1"/>
          <p:nvPr/>
        </p:nvSpPr>
        <p:spPr>
          <a:xfrm>
            <a:off x="8503920" y="1874519"/>
            <a:ext cx="3383280" cy="457200"/>
          </a:xfrm>
          <a:prstGeom prst="rect">
            <a:avLst/>
          </a:prstGeom>
          <a:noFill/>
        </p:spPr>
        <p:txBody>
          <a:bodyPr wrap="square">
            <a:spAutoFit/>
          </a:bodyPr>
          <a:lstStyle/>
          <a:p>
            <a:pPr algn="l"/>
            <a:r>
              <a:rPr sz="1100" b="0" i="0">
                <a:solidFill>
                  <a:srgbClr val="5AE68A"/>
                </a:solidFill>
              </a:rPr>
              <a:t>•  Higher education linked to higher LS in raw data</a:t>
            </a:r>
          </a:p>
        </p:txBody>
      </p:sp>
      <p:sp>
        <p:nvSpPr>
          <p:cNvPr id="10" name="TextBox 9"/>
          <p:cNvSpPr txBox="1"/>
          <p:nvPr/>
        </p:nvSpPr>
        <p:spPr>
          <a:xfrm>
            <a:off x="8503920" y="2350007"/>
            <a:ext cx="3383280" cy="457200"/>
          </a:xfrm>
          <a:prstGeom prst="rect">
            <a:avLst/>
          </a:prstGeom>
          <a:noFill/>
        </p:spPr>
        <p:txBody>
          <a:bodyPr wrap="square">
            <a:spAutoFit/>
          </a:bodyPr>
          <a:lstStyle/>
          <a:p>
            <a:pPr algn="l"/>
            <a:r>
              <a:rPr sz="1100" b="0" i="0">
                <a:solidFill>
                  <a:srgbClr val="F7975A"/>
                </a:solidFill>
              </a:rPr>
              <a:t>•  Bivariate: positive association</a:t>
            </a:r>
          </a:p>
        </p:txBody>
      </p:sp>
      <p:sp>
        <p:nvSpPr>
          <p:cNvPr id="11" name="TextBox 10"/>
          <p:cNvSpPr txBox="1"/>
          <p:nvPr/>
        </p:nvSpPr>
        <p:spPr>
          <a:xfrm>
            <a:off x="8503920" y="2825495"/>
            <a:ext cx="3383280" cy="457200"/>
          </a:xfrm>
          <a:prstGeom prst="rect">
            <a:avLst/>
          </a:prstGeom>
          <a:noFill/>
        </p:spPr>
        <p:txBody>
          <a:bodyPr wrap="square">
            <a:spAutoFit/>
          </a:bodyPr>
          <a:lstStyle/>
          <a:p>
            <a:pPr algn="l"/>
            <a:r>
              <a:rPr sz="1100" b="0" i="0">
                <a:solidFill>
                  <a:srgbClr val="FFFFFF"/>
                </a:solidFill>
              </a:rPr>
              <a:t>•  Controlled β = −0.008 — sign flips</a:t>
            </a:r>
          </a:p>
        </p:txBody>
      </p:sp>
      <p:sp>
        <p:nvSpPr>
          <p:cNvPr id="12" name="TextBox 11"/>
          <p:cNvSpPr txBox="1"/>
          <p:nvPr/>
        </p:nvSpPr>
        <p:spPr>
          <a:xfrm>
            <a:off x="8503920" y="3300983"/>
            <a:ext cx="3383280" cy="457200"/>
          </a:xfrm>
          <a:prstGeom prst="rect">
            <a:avLst/>
          </a:prstGeom>
          <a:noFill/>
        </p:spPr>
        <p:txBody>
          <a:bodyPr wrap="square">
            <a:spAutoFit/>
          </a:bodyPr>
          <a:lstStyle/>
          <a:p>
            <a:pPr algn="l"/>
            <a:r>
              <a:rPr sz="1100" b="0" i="0">
                <a:solidFill>
                  <a:srgbClr val="B0B0B0"/>
                </a:solidFill>
              </a:rPr>
              <a:t>•  This is a suppression effect from financial_satisfaction</a:t>
            </a:r>
          </a:p>
        </p:txBody>
      </p:sp>
      <p:sp>
        <p:nvSpPr>
          <p:cNvPr id="13" name="TextBox 12"/>
          <p:cNvSpPr txBox="1"/>
          <p:nvPr/>
        </p:nvSpPr>
        <p:spPr>
          <a:xfrm>
            <a:off x="8503920" y="3776471"/>
            <a:ext cx="3383280" cy="457200"/>
          </a:xfrm>
          <a:prstGeom prst="rect">
            <a:avLst/>
          </a:prstGeom>
          <a:noFill/>
        </p:spPr>
        <p:txBody>
          <a:bodyPr wrap="square">
            <a:spAutoFit/>
          </a:bodyPr>
          <a:lstStyle/>
          <a:p>
            <a:pPr algn="l"/>
            <a:r>
              <a:rPr sz="1100" b="0" i="0">
                <a:solidFill>
                  <a:srgbClr val="3FC1C9"/>
                </a:solidFill>
              </a:rPr>
              <a:t>•  Education's effect partly operates through income &amp; social class</a:t>
            </a:r>
          </a:p>
        </p:txBody>
      </p:sp>
      <p:sp>
        <p:nvSpPr>
          <p:cNvPr id="14" name="TextBox 13"/>
          <p:cNvSpPr txBox="1"/>
          <p:nvPr/>
        </p:nvSpPr>
        <p:spPr>
          <a:xfrm>
            <a:off x="8503920" y="4251959"/>
            <a:ext cx="3383280" cy="457200"/>
          </a:xfrm>
          <a:prstGeom prst="rect">
            <a:avLst/>
          </a:prstGeom>
          <a:noFill/>
        </p:spPr>
        <p:txBody>
          <a:bodyPr wrap="square">
            <a:spAutoFit/>
          </a:bodyPr>
          <a:lstStyle/>
          <a:p>
            <a:pPr algn="l"/>
            <a:r>
              <a:rPr sz="1100" b="0" i="0">
                <a:solidFill>
                  <a:srgbClr val="E0E0E0"/>
                </a:solidFill>
              </a:rPr>
              <a:t>•  Direct effect is real but smaller after controlling other factors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F7975A"/>
                </a:solidFill>
              </a:rPr>
              <a:t>PHASE 8  —  WEALTH ANALYSIS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Wealth (Financial Well-Being) vs. Life Satisfaction</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wealth_vs_lifesatisfaction.png"/>
          <p:cNvPicPr>
            <a:picLocks noChangeAspect="1"/>
          </p:cNvPicPr>
          <p:nvPr/>
        </p:nvPicPr>
        <p:blipFill>
          <a:blip r:embed="rId2"/>
          <a:stretch>
            <a:fillRect/>
          </a:stretch>
        </p:blipFill>
        <p:spPr>
          <a:xfrm>
            <a:off x="274320" y="1325880"/>
            <a:ext cx="7955279" cy="5267604"/>
          </a:xfrm>
          <a:prstGeom prst="rect">
            <a:avLst/>
          </a:prstGeom>
        </p:spPr>
      </p:pic>
      <p:sp>
        <p:nvSpPr>
          <p:cNvPr id="7" name="Rectangle 6"/>
          <p:cNvSpPr/>
          <p:nvPr/>
        </p:nvSpPr>
        <p:spPr>
          <a:xfrm>
            <a:off x="8321040" y="1325880"/>
            <a:ext cx="3703320" cy="51206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417320"/>
            <a:ext cx="3474720" cy="320040"/>
          </a:xfrm>
          <a:prstGeom prst="rect">
            <a:avLst/>
          </a:prstGeom>
          <a:noFill/>
        </p:spPr>
        <p:txBody>
          <a:bodyPr wrap="square">
            <a:spAutoFit/>
          </a:bodyPr>
          <a:lstStyle/>
          <a:p>
            <a:pPr algn="l"/>
            <a:r>
              <a:rPr sz="1300" b="1" i="0">
                <a:solidFill>
                  <a:srgbClr val="F7975A"/>
                </a:solidFill>
              </a:rPr>
              <a:t>Key Takeaways</a:t>
            </a:r>
          </a:p>
        </p:txBody>
      </p:sp>
      <p:sp>
        <p:nvSpPr>
          <p:cNvPr id="9" name="TextBox 8"/>
          <p:cNvSpPr txBox="1"/>
          <p:nvPr/>
        </p:nvSpPr>
        <p:spPr>
          <a:xfrm>
            <a:off x="8503920" y="1874519"/>
            <a:ext cx="3383280" cy="457200"/>
          </a:xfrm>
          <a:prstGeom prst="rect">
            <a:avLst/>
          </a:prstGeom>
          <a:noFill/>
        </p:spPr>
        <p:txBody>
          <a:bodyPr wrap="square">
            <a:spAutoFit/>
          </a:bodyPr>
          <a:lstStyle/>
          <a:p>
            <a:pPr algn="l"/>
            <a:r>
              <a:rPr sz="1100" b="0" i="0">
                <a:solidFill>
                  <a:srgbClr val="F7975A"/>
                </a:solidFill>
              </a:rPr>
              <a:t>•  Strongest predictor in entire model</a:t>
            </a:r>
          </a:p>
        </p:txBody>
      </p:sp>
      <p:sp>
        <p:nvSpPr>
          <p:cNvPr id="10" name="TextBox 9"/>
          <p:cNvSpPr txBox="1"/>
          <p:nvPr/>
        </p:nvSpPr>
        <p:spPr>
          <a:xfrm>
            <a:off x="8503920" y="2350007"/>
            <a:ext cx="3383280" cy="457200"/>
          </a:xfrm>
          <a:prstGeom prst="rect">
            <a:avLst/>
          </a:prstGeom>
          <a:noFill/>
        </p:spPr>
        <p:txBody>
          <a:bodyPr wrap="square">
            <a:spAutoFit/>
          </a:bodyPr>
          <a:lstStyle/>
          <a:p>
            <a:pPr algn="l"/>
            <a:r>
              <a:rPr sz="1100" b="0" i="0">
                <a:solidFill>
                  <a:srgbClr val="FFFFFF"/>
                </a:solidFill>
              </a:rPr>
              <a:t>•  β = +0.518, β_std = +1.26 (p&lt;0.001)</a:t>
            </a:r>
          </a:p>
        </p:txBody>
      </p:sp>
      <p:sp>
        <p:nvSpPr>
          <p:cNvPr id="11" name="TextBox 10"/>
          <p:cNvSpPr txBox="1"/>
          <p:nvPr/>
        </p:nvSpPr>
        <p:spPr>
          <a:xfrm>
            <a:off x="8503920" y="2825495"/>
            <a:ext cx="3383280" cy="457200"/>
          </a:xfrm>
          <a:prstGeom prst="rect">
            <a:avLst/>
          </a:prstGeom>
          <a:noFill/>
        </p:spPr>
        <p:txBody>
          <a:bodyPr wrap="square">
            <a:spAutoFit/>
          </a:bodyPr>
          <a:lstStyle/>
          <a:p>
            <a:pPr algn="l"/>
            <a:r>
              <a:rPr sz="1100" b="0" i="0">
                <a:solidFill>
                  <a:srgbClr val="3FC1C9"/>
                </a:solidFill>
              </a:rPr>
              <a:t>•  Adding wealth proxies: R² jumps from 0.046 to 0.320 (ΔR²=+0.274)</a:t>
            </a:r>
          </a:p>
        </p:txBody>
      </p:sp>
      <p:sp>
        <p:nvSpPr>
          <p:cNvPr id="12" name="TextBox 11"/>
          <p:cNvSpPr txBox="1"/>
          <p:nvPr/>
        </p:nvSpPr>
        <p:spPr>
          <a:xfrm>
            <a:off x="8503920" y="3300983"/>
            <a:ext cx="3383280" cy="457200"/>
          </a:xfrm>
          <a:prstGeom prst="rect">
            <a:avLst/>
          </a:prstGeom>
          <a:noFill/>
        </p:spPr>
        <p:txBody>
          <a:bodyPr wrap="square">
            <a:spAutoFit/>
          </a:bodyPr>
          <a:lstStyle/>
          <a:p>
            <a:pPr algn="l"/>
            <a:r>
              <a:rPr sz="1100" b="0" i="0">
                <a:solidFill>
                  <a:srgbClr val="E0E0E0"/>
                </a:solidFill>
              </a:rPr>
              <a:t>•  HOW WELL people feel about finances matters more than their income rank</a:t>
            </a:r>
          </a:p>
        </p:txBody>
      </p:sp>
      <p:sp>
        <p:nvSpPr>
          <p:cNvPr id="13" name="TextBox 12"/>
          <p:cNvSpPr txBox="1"/>
          <p:nvPr/>
        </p:nvSpPr>
        <p:spPr>
          <a:xfrm>
            <a:off x="8503920" y="3776471"/>
            <a:ext cx="3383280" cy="457200"/>
          </a:xfrm>
          <a:prstGeom prst="rect">
            <a:avLst/>
          </a:prstGeom>
          <a:noFill/>
        </p:spPr>
        <p:txBody>
          <a:bodyPr wrap="square">
            <a:spAutoFit/>
          </a:bodyPr>
          <a:lstStyle/>
          <a:p>
            <a:pPr algn="l"/>
            <a:r>
              <a:rPr sz="1100" b="0" i="0">
                <a:solidFill>
                  <a:srgbClr val="F75A5A"/>
                </a:solidFill>
              </a:rPr>
              <a:t>•  Caution: reverse causality risk — happier people may rate finances better</a:t>
            </a:r>
          </a:p>
        </p:txBody>
      </p:sp>
      <p:sp>
        <p:nvSpPr>
          <p:cNvPr id="14" name="TextBox 13"/>
          <p:cNvSpPr txBox="1"/>
          <p:nvPr/>
        </p:nvSpPr>
        <p:spPr>
          <a:xfrm>
            <a:off x="8503920" y="4251959"/>
            <a:ext cx="3383280" cy="457200"/>
          </a:xfrm>
          <a:prstGeom prst="rect">
            <a:avLst/>
          </a:prstGeom>
          <a:noFill/>
        </p:spPr>
        <p:txBody>
          <a:bodyPr wrap="square">
            <a:spAutoFit/>
          </a:bodyPr>
          <a:lstStyle/>
          <a:p>
            <a:pPr algn="l"/>
            <a:r>
              <a:rPr sz="1100" b="0" i="0">
                <a:solidFill>
                  <a:srgbClr val="B0B0B0"/>
                </a:solidFill>
              </a:rPr>
              <a:t>•  WVS has no direct monetary wealth measure; proxies used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7C6AF7"/>
                </a:solidFill>
              </a:rPr>
              <a:t>PHASE 8.7  —  GROUP ANALYSIS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Life Satisfaction Across Income Quintiles</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socioeconomic_groups.png"/>
          <p:cNvPicPr>
            <a:picLocks noChangeAspect="1"/>
          </p:cNvPicPr>
          <p:nvPr/>
        </p:nvPicPr>
        <p:blipFill>
          <a:blip r:embed="rId2"/>
          <a:stretch>
            <a:fillRect/>
          </a:stretch>
        </p:blipFill>
        <p:spPr>
          <a:xfrm>
            <a:off x="274320" y="1325880"/>
            <a:ext cx="8229600" cy="3571923"/>
          </a:xfrm>
          <a:prstGeom prst="rect">
            <a:avLst/>
          </a:prstGeom>
        </p:spPr>
      </p:pic>
      <p:sp>
        <p:nvSpPr>
          <p:cNvPr id="7" name="Rectangle 6"/>
          <p:cNvSpPr/>
          <p:nvPr/>
        </p:nvSpPr>
        <p:spPr>
          <a:xfrm>
            <a:off x="8686800" y="1325880"/>
            <a:ext cx="3337560" cy="51206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23960" y="1417320"/>
            <a:ext cx="3108960" cy="320040"/>
          </a:xfrm>
          <a:prstGeom prst="rect">
            <a:avLst/>
          </a:prstGeom>
          <a:noFill/>
        </p:spPr>
        <p:txBody>
          <a:bodyPr wrap="square">
            <a:spAutoFit/>
          </a:bodyPr>
          <a:lstStyle/>
          <a:p>
            <a:pPr algn="l"/>
            <a:r>
              <a:rPr sz="1300" b="1" i="0">
                <a:solidFill>
                  <a:srgbClr val="7C6AF7"/>
                </a:solidFill>
              </a:rPr>
              <a:t>ANOVA Results</a:t>
            </a:r>
          </a:p>
        </p:txBody>
      </p:sp>
      <p:sp>
        <p:nvSpPr>
          <p:cNvPr id="9" name="TextBox 8"/>
          <p:cNvSpPr txBox="1"/>
          <p:nvPr/>
        </p:nvSpPr>
        <p:spPr>
          <a:xfrm>
            <a:off x="8823960" y="1783080"/>
            <a:ext cx="3108960" cy="640080"/>
          </a:xfrm>
          <a:prstGeom prst="rect">
            <a:avLst/>
          </a:prstGeom>
          <a:noFill/>
        </p:spPr>
        <p:txBody>
          <a:bodyPr wrap="square">
            <a:spAutoFit/>
          </a:bodyPr>
          <a:lstStyle/>
          <a:p>
            <a:pPr algn="l"/>
            <a:r>
              <a:rPr sz="1100" b="0" i="0">
                <a:solidFill>
                  <a:srgbClr val="E0E0E0"/>
                </a:solidFill>
              </a:rPr>
              <a:t>F = 999.92,  p &lt; 0.001
All quintile pairs significantly
different (Tukey HSD)</a:t>
            </a:r>
          </a:p>
        </p:txBody>
      </p:sp>
      <p:sp>
        <p:nvSpPr>
          <p:cNvPr id="10" name="TextBox 9"/>
          <p:cNvSpPr txBox="1"/>
          <p:nvPr/>
        </p:nvSpPr>
        <p:spPr>
          <a:xfrm>
            <a:off x="8823960" y="2514600"/>
            <a:ext cx="3108960" cy="274320"/>
          </a:xfrm>
          <a:prstGeom prst="rect">
            <a:avLst/>
          </a:prstGeom>
          <a:noFill/>
        </p:spPr>
        <p:txBody>
          <a:bodyPr wrap="square">
            <a:spAutoFit/>
          </a:bodyPr>
          <a:lstStyle/>
          <a:p>
            <a:pPr algn="l"/>
            <a:r>
              <a:rPr sz="1100" b="1" i="0">
                <a:solidFill>
                  <a:srgbClr val="B0B0B0"/>
                </a:solidFill>
              </a:rPr>
              <a:t>Mean LS by Quintile:</a:t>
            </a:r>
          </a:p>
        </p:txBody>
      </p:sp>
      <p:sp>
        <p:nvSpPr>
          <p:cNvPr id="11" name="TextBox 10"/>
          <p:cNvSpPr txBox="1"/>
          <p:nvPr/>
        </p:nvSpPr>
        <p:spPr>
          <a:xfrm>
            <a:off x="8869680" y="2834640"/>
            <a:ext cx="1828800" cy="274320"/>
          </a:xfrm>
          <a:prstGeom prst="rect">
            <a:avLst/>
          </a:prstGeom>
          <a:noFill/>
        </p:spPr>
        <p:txBody>
          <a:bodyPr wrap="square">
            <a:spAutoFit/>
          </a:bodyPr>
          <a:lstStyle/>
          <a:p>
            <a:pPr algn="l"/>
            <a:r>
              <a:rPr sz="1100" b="0" i="0">
                <a:solidFill>
                  <a:srgbClr val="E0E0E0"/>
                </a:solidFill>
              </a:rPr>
              <a:t>Bottom 20%</a:t>
            </a:r>
          </a:p>
        </p:txBody>
      </p:sp>
      <p:sp>
        <p:nvSpPr>
          <p:cNvPr id="12" name="TextBox 11"/>
          <p:cNvSpPr txBox="1"/>
          <p:nvPr/>
        </p:nvSpPr>
        <p:spPr>
          <a:xfrm>
            <a:off x="10789920" y="2834640"/>
            <a:ext cx="1097280" cy="274320"/>
          </a:xfrm>
          <a:prstGeom prst="rect">
            <a:avLst/>
          </a:prstGeom>
          <a:noFill/>
        </p:spPr>
        <p:txBody>
          <a:bodyPr wrap="square">
            <a:spAutoFit/>
          </a:bodyPr>
          <a:lstStyle/>
          <a:p>
            <a:pPr algn="l"/>
            <a:r>
              <a:rPr sz="1300" b="1" i="0">
                <a:solidFill>
                  <a:srgbClr val="F75A5A"/>
                </a:solidFill>
              </a:rPr>
              <a:t>6.42</a:t>
            </a:r>
          </a:p>
        </p:txBody>
      </p:sp>
      <p:sp>
        <p:nvSpPr>
          <p:cNvPr id="13" name="TextBox 12"/>
          <p:cNvSpPr txBox="1"/>
          <p:nvPr/>
        </p:nvSpPr>
        <p:spPr>
          <a:xfrm>
            <a:off x="8869680" y="3218688"/>
            <a:ext cx="1828800" cy="274320"/>
          </a:xfrm>
          <a:prstGeom prst="rect">
            <a:avLst/>
          </a:prstGeom>
          <a:noFill/>
        </p:spPr>
        <p:txBody>
          <a:bodyPr wrap="square">
            <a:spAutoFit/>
          </a:bodyPr>
          <a:lstStyle/>
          <a:p>
            <a:pPr algn="l"/>
            <a:r>
              <a:rPr sz="1100" b="0" i="0">
                <a:solidFill>
                  <a:srgbClr val="E0E0E0"/>
                </a:solidFill>
              </a:rPr>
              <a:t>20–40%</a:t>
            </a:r>
          </a:p>
        </p:txBody>
      </p:sp>
      <p:sp>
        <p:nvSpPr>
          <p:cNvPr id="14" name="TextBox 13"/>
          <p:cNvSpPr txBox="1"/>
          <p:nvPr/>
        </p:nvSpPr>
        <p:spPr>
          <a:xfrm>
            <a:off x="10789920" y="3218688"/>
            <a:ext cx="1097280" cy="274320"/>
          </a:xfrm>
          <a:prstGeom prst="rect">
            <a:avLst/>
          </a:prstGeom>
          <a:noFill/>
        </p:spPr>
        <p:txBody>
          <a:bodyPr wrap="square">
            <a:spAutoFit/>
          </a:bodyPr>
          <a:lstStyle/>
          <a:p>
            <a:pPr algn="l"/>
            <a:r>
              <a:rPr sz="1300" b="1" i="0">
                <a:solidFill>
                  <a:srgbClr val="F7975A"/>
                </a:solidFill>
              </a:rPr>
              <a:t>6.64</a:t>
            </a:r>
          </a:p>
        </p:txBody>
      </p:sp>
      <p:sp>
        <p:nvSpPr>
          <p:cNvPr id="15" name="TextBox 14"/>
          <p:cNvSpPr txBox="1"/>
          <p:nvPr/>
        </p:nvSpPr>
        <p:spPr>
          <a:xfrm>
            <a:off x="8869680" y="3602736"/>
            <a:ext cx="1828800" cy="274320"/>
          </a:xfrm>
          <a:prstGeom prst="rect">
            <a:avLst/>
          </a:prstGeom>
          <a:noFill/>
        </p:spPr>
        <p:txBody>
          <a:bodyPr wrap="square">
            <a:spAutoFit/>
          </a:bodyPr>
          <a:lstStyle/>
          <a:p>
            <a:pPr algn="l"/>
            <a:r>
              <a:rPr sz="1100" b="0" i="0">
                <a:solidFill>
                  <a:srgbClr val="E0E0E0"/>
                </a:solidFill>
              </a:rPr>
              <a:t>40–60%</a:t>
            </a:r>
          </a:p>
        </p:txBody>
      </p:sp>
      <p:sp>
        <p:nvSpPr>
          <p:cNvPr id="16" name="TextBox 15"/>
          <p:cNvSpPr txBox="1"/>
          <p:nvPr/>
        </p:nvSpPr>
        <p:spPr>
          <a:xfrm>
            <a:off x="10789920" y="3602736"/>
            <a:ext cx="1097280" cy="274320"/>
          </a:xfrm>
          <a:prstGeom prst="rect">
            <a:avLst/>
          </a:prstGeom>
          <a:noFill/>
        </p:spPr>
        <p:txBody>
          <a:bodyPr wrap="square">
            <a:spAutoFit/>
          </a:bodyPr>
          <a:lstStyle/>
          <a:p>
            <a:pPr algn="l"/>
            <a:r>
              <a:rPr sz="1300" b="1" i="0">
                <a:solidFill>
                  <a:srgbClr val="B0B0B0"/>
                </a:solidFill>
              </a:rPr>
              <a:t>7.18</a:t>
            </a:r>
          </a:p>
        </p:txBody>
      </p:sp>
      <p:sp>
        <p:nvSpPr>
          <p:cNvPr id="17" name="TextBox 16"/>
          <p:cNvSpPr txBox="1"/>
          <p:nvPr/>
        </p:nvSpPr>
        <p:spPr>
          <a:xfrm>
            <a:off x="8869680" y="3986784"/>
            <a:ext cx="1828800" cy="274320"/>
          </a:xfrm>
          <a:prstGeom prst="rect">
            <a:avLst/>
          </a:prstGeom>
          <a:noFill/>
        </p:spPr>
        <p:txBody>
          <a:bodyPr wrap="square">
            <a:spAutoFit/>
          </a:bodyPr>
          <a:lstStyle/>
          <a:p>
            <a:pPr algn="l"/>
            <a:r>
              <a:rPr sz="1100" b="0" i="0">
                <a:solidFill>
                  <a:srgbClr val="E0E0E0"/>
                </a:solidFill>
              </a:rPr>
              <a:t>60–80%</a:t>
            </a:r>
          </a:p>
        </p:txBody>
      </p:sp>
      <p:sp>
        <p:nvSpPr>
          <p:cNvPr id="18" name="TextBox 17"/>
          <p:cNvSpPr txBox="1"/>
          <p:nvPr/>
        </p:nvSpPr>
        <p:spPr>
          <a:xfrm>
            <a:off x="10789920" y="3986784"/>
            <a:ext cx="1097280" cy="274320"/>
          </a:xfrm>
          <a:prstGeom prst="rect">
            <a:avLst/>
          </a:prstGeom>
          <a:noFill/>
        </p:spPr>
        <p:txBody>
          <a:bodyPr wrap="square">
            <a:spAutoFit/>
          </a:bodyPr>
          <a:lstStyle/>
          <a:p>
            <a:pPr algn="l"/>
            <a:r>
              <a:rPr sz="1300" b="1" i="0">
                <a:solidFill>
                  <a:srgbClr val="3FC1C9"/>
                </a:solidFill>
              </a:rPr>
              <a:t>7.61</a:t>
            </a:r>
          </a:p>
        </p:txBody>
      </p:sp>
      <p:sp>
        <p:nvSpPr>
          <p:cNvPr id="19" name="TextBox 18"/>
          <p:cNvSpPr txBox="1"/>
          <p:nvPr/>
        </p:nvSpPr>
        <p:spPr>
          <a:xfrm>
            <a:off x="8869680" y="4370832"/>
            <a:ext cx="1828800" cy="274320"/>
          </a:xfrm>
          <a:prstGeom prst="rect">
            <a:avLst/>
          </a:prstGeom>
          <a:noFill/>
        </p:spPr>
        <p:txBody>
          <a:bodyPr wrap="square">
            <a:spAutoFit/>
          </a:bodyPr>
          <a:lstStyle/>
          <a:p>
            <a:pPr algn="l"/>
            <a:r>
              <a:rPr sz="1100" b="0" i="0">
                <a:solidFill>
                  <a:srgbClr val="E0E0E0"/>
                </a:solidFill>
              </a:rPr>
              <a:t>Top 20%</a:t>
            </a:r>
          </a:p>
        </p:txBody>
      </p:sp>
      <p:sp>
        <p:nvSpPr>
          <p:cNvPr id="20" name="TextBox 19"/>
          <p:cNvSpPr txBox="1"/>
          <p:nvPr/>
        </p:nvSpPr>
        <p:spPr>
          <a:xfrm>
            <a:off x="10789920" y="4370832"/>
            <a:ext cx="1097280" cy="274320"/>
          </a:xfrm>
          <a:prstGeom prst="rect">
            <a:avLst/>
          </a:prstGeom>
          <a:noFill/>
        </p:spPr>
        <p:txBody>
          <a:bodyPr wrap="square">
            <a:spAutoFit/>
          </a:bodyPr>
          <a:lstStyle/>
          <a:p>
            <a:pPr algn="l"/>
            <a:r>
              <a:rPr sz="1300" b="1" i="0">
                <a:solidFill>
                  <a:srgbClr val="5AE68A"/>
                </a:solidFill>
              </a:rPr>
              <a:t>8.12</a:t>
            </a:r>
          </a:p>
        </p:txBody>
      </p:sp>
      <p:sp>
        <p:nvSpPr>
          <p:cNvPr id="21" name="TextBox 20"/>
          <p:cNvSpPr txBox="1"/>
          <p:nvPr/>
        </p:nvSpPr>
        <p:spPr>
          <a:xfrm>
            <a:off x="8823960" y="4892040"/>
            <a:ext cx="3108960" cy="457200"/>
          </a:xfrm>
          <a:prstGeom prst="rect">
            <a:avLst/>
          </a:prstGeom>
          <a:noFill/>
        </p:spPr>
        <p:txBody>
          <a:bodyPr wrap="square">
            <a:spAutoFit/>
          </a:bodyPr>
          <a:lstStyle/>
          <a:p>
            <a:pPr algn="l"/>
            <a:r>
              <a:rPr sz="1200" b="1" i="0">
                <a:solidFill>
                  <a:srgbClr val="7C6AF7"/>
                </a:solidFill>
              </a:rPr>
              <a:t>Top vs. Bottom gap:
1.70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B0B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B0B0B0"/>
                </a:solidFill>
              </a:rPr>
              <a:t>PHASE 8.5  —  MODEL DIAGNOSTICS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Checking Model Assumptions</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8_diagnostics.png"/>
          <p:cNvPicPr>
            <a:picLocks noChangeAspect="1"/>
          </p:cNvPicPr>
          <p:nvPr/>
        </p:nvPicPr>
        <p:blipFill>
          <a:blip r:embed="rId2"/>
          <a:stretch>
            <a:fillRect/>
          </a:stretch>
        </p:blipFill>
        <p:spPr>
          <a:xfrm>
            <a:off x="274320" y="1325880"/>
            <a:ext cx="8503920" cy="7083765"/>
          </a:xfrm>
          <a:prstGeom prst="rect">
            <a:avLst/>
          </a:prstGeom>
        </p:spPr>
      </p:pic>
      <p:sp>
        <p:nvSpPr>
          <p:cNvPr id="7" name="Rectangle 6"/>
          <p:cNvSpPr/>
          <p:nvPr/>
        </p:nvSpPr>
        <p:spPr>
          <a:xfrm>
            <a:off x="8778240" y="1325880"/>
            <a:ext cx="3246120" cy="51206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15400" y="1389888"/>
            <a:ext cx="3017520" cy="320040"/>
          </a:xfrm>
          <a:prstGeom prst="rect">
            <a:avLst/>
          </a:prstGeom>
          <a:noFill/>
        </p:spPr>
        <p:txBody>
          <a:bodyPr wrap="square">
            <a:spAutoFit/>
          </a:bodyPr>
          <a:lstStyle/>
          <a:p>
            <a:pPr algn="l"/>
            <a:r>
              <a:rPr sz="1300" b="1" i="0">
                <a:solidFill>
                  <a:srgbClr val="FFFFFF"/>
                </a:solidFill>
              </a:rPr>
              <a:t>Diagnostic Summary</a:t>
            </a:r>
          </a:p>
        </p:txBody>
      </p:sp>
      <p:sp>
        <p:nvSpPr>
          <p:cNvPr id="9" name="TextBox 8"/>
          <p:cNvSpPr txBox="1"/>
          <p:nvPr/>
        </p:nvSpPr>
        <p:spPr>
          <a:xfrm>
            <a:off x="8961120" y="1828800"/>
            <a:ext cx="1645920" cy="274320"/>
          </a:xfrm>
          <a:prstGeom prst="rect">
            <a:avLst/>
          </a:prstGeom>
          <a:noFill/>
        </p:spPr>
        <p:txBody>
          <a:bodyPr wrap="square">
            <a:spAutoFit/>
          </a:bodyPr>
          <a:lstStyle/>
          <a:p>
            <a:pPr algn="l"/>
            <a:r>
              <a:rPr sz="1100" b="1" i="0">
                <a:solidFill>
                  <a:srgbClr val="5AE68A"/>
                </a:solidFill>
              </a:rPr>
              <a:t>●  VIF</a:t>
            </a:r>
          </a:p>
        </p:txBody>
      </p:sp>
      <p:sp>
        <p:nvSpPr>
          <p:cNvPr id="10" name="TextBox 9"/>
          <p:cNvSpPr txBox="1"/>
          <p:nvPr/>
        </p:nvSpPr>
        <p:spPr>
          <a:xfrm>
            <a:off x="8961120" y="2103120"/>
            <a:ext cx="2926080" cy="292608"/>
          </a:xfrm>
          <a:prstGeom prst="rect">
            <a:avLst/>
          </a:prstGeom>
          <a:noFill/>
        </p:spPr>
        <p:txBody>
          <a:bodyPr wrap="square">
            <a:spAutoFit/>
          </a:bodyPr>
          <a:lstStyle/>
          <a:p>
            <a:pPr algn="l"/>
            <a:r>
              <a:rPr sz="1000" b="0" i="0">
                <a:solidFill>
                  <a:srgbClr val="E0E0E0"/>
                </a:solidFill>
              </a:rPr>
              <a:t>All &lt; 2.0 — No multicollinearity</a:t>
            </a:r>
          </a:p>
        </p:txBody>
      </p:sp>
      <p:sp>
        <p:nvSpPr>
          <p:cNvPr id="11" name="TextBox 10"/>
          <p:cNvSpPr txBox="1"/>
          <p:nvPr/>
        </p:nvSpPr>
        <p:spPr>
          <a:xfrm>
            <a:off x="8961120" y="2487168"/>
            <a:ext cx="1645920" cy="274320"/>
          </a:xfrm>
          <a:prstGeom prst="rect">
            <a:avLst/>
          </a:prstGeom>
          <a:noFill/>
        </p:spPr>
        <p:txBody>
          <a:bodyPr wrap="square">
            <a:spAutoFit/>
          </a:bodyPr>
          <a:lstStyle/>
          <a:p>
            <a:pPr algn="l"/>
            <a:r>
              <a:rPr sz="1100" b="1" i="0">
                <a:solidFill>
                  <a:srgbClr val="5AE68A"/>
                </a:solidFill>
              </a:rPr>
              <a:t>●  Linearity</a:t>
            </a:r>
          </a:p>
        </p:txBody>
      </p:sp>
      <p:sp>
        <p:nvSpPr>
          <p:cNvPr id="12" name="TextBox 11"/>
          <p:cNvSpPr txBox="1"/>
          <p:nvPr/>
        </p:nvSpPr>
        <p:spPr>
          <a:xfrm>
            <a:off x="8961120" y="2761488"/>
            <a:ext cx="2926080" cy="292608"/>
          </a:xfrm>
          <a:prstGeom prst="rect">
            <a:avLst/>
          </a:prstGeom>
          <a:noFill/>
        </p:spPr>
        <p:txBody>
          <a:bodyPr wrap="square">
            <a:spAutoFit/>
          </a:bodyPr>
          <a:lstStyle/>
          <a:p>
            <a:pPr algn="l"/>
            <a:r>
              <a:rPr sz="1000" b="0" i="0">
                <a:solidFill>
                  <a:srgbClr val="E0E0E0"/>
                </a:solidFill>
              </a:rPr>
              <a:t>Mild curvature at extremes — acceptable for bounded scale</a:t>
            </a:r>
          </a:p>
        </p:txBody>
      </p:sp>
      <p:sp>
        <p:nvSpPr>
          <p:cNvPr id="13" name="TextBox 12"/>
          <p:cNvSpPr txBox="1"/>
          <p:nvPr/>
        </p:nvSpPr>
        <p:spPr>
          <a:xfrm>
            <a:off x="8961120" y="3145536"/>
            <a:ext cx="1645920" cy="274320"/>
          </a:xfrm>
          <a:prstGeom prst="rect">
            <a:avLst/>
          </a:prstGeom>
          <a:noFill/>
        </p:spPr>
        <p:txBody>
          <a:bodyPr wrap="square">
            <a:spAutoFit/>
          </a:bodyPr>
          <a:lstStyle/>
          <a:p>
            <a:pPr algn="l"/>
            <a:r>
              <a:rPr sz="1100" b="1" i="0">
                <a:solidFill>
                  <a:srgbClr val="F7975A"/>
                </a:solidFill>
              </a:rPr>
              <a:t>●  Normality</a:t>
            </a:r>
          </a:p>
        </p:txBody>
      </p:sp>
      <p:sp>
        <p:nvSpPr>
          <p:cNvPr id="14" name="TextBox 13"/>
          <p:cNvSpPr txBox="1"/>
          <p:nvPr/>
        </p:nvSpPr>
        <p:spPr>
          <a:xfrm>
            <a:off x="8961120" y="3419856"/>
            <a:ext cx="2926080" cy="292608"/>
          </a:xfrm>
          <a:prstGeom prst="rect">
            <a:avLst/>
          </a:prstGeom>
          <a:noFill/>
        </p:spPr>
        <p:txBody>
          <a:bodyPr wrap="square">
            <a:spAutoFit/>
          </a:bodyPr>
          <a:lstStyle/>
          <a:p>
            <a:pPr algn="l"/>
            <a:r>
              <a:rPr sz="1000" b="0" i="0">
                <a:solidFill>
                  <a:srgbClr val="E0E0E0"/>
                </a:solidFill>
              </a:rPr>
              <a:t>S-W rejects (large N) — Q-Q visually acceptable</a:t>
            </a:r>
          </a:p>
        </p:txBody>
      </p:sp>
      <p:sp>
        <p:nvSpPr>
          <p:cNvPr id="15" name="TextBox 14"/>
          <p:cNvSpPr txBox="1"/>
          <p:nvPr/>
        </p:nvSpPr>
        <p:spPr>
          <a:xfrm>
            <a:off x="8961120" y="3803904"/>
            <a:ext cx="1645920" cy="274320"/>
          </a:xfrm>
          <a:prstGeom prst="rect">
            <a:avLst/>
          </a:prstGeom>
          <a:noFill/>
        </p:spPr>
        <p:txBody>
          <a:bodyPr wrap="square">
            <a:spAutoFit/>
          </a:bodyPr>
          <a:lstStyle/>
          <a:p>
            <a:pPr algn="l"/>
            <a:r>
              <a:rPr sz="1100" b="1" i="0">
                <a:solidFill>
                  <a:srgbClr val="F7975A"/>
                </a:solidFill>
              </a:rPr>
              <a:t>●  Homoscedasticity</a:t>
            </a:r>
          </a:p>
        </p:txBody>
      </p:sp>
      <p:sp>
        <p:nvSpPr>
          <p:cNvPr id="16" name="TextBox 15"/>
          <p:cNvSpPr txBox="1"/>
          <p:nvPr/>
        </p:nvSpPr>
        <p:spPr>
          <a:xfrm>
            <a:off x="8961120" y="4078224"/>
            <a:ext cx="2926080" cy="292608"/>
          </a:xfrm>
          <a:prstGeom prst="rect">
            <a:avLst/>
          </a:prstGeom>
          <a:noFill/>
        </p:spPr>
        <p:txBody>
          <a:bodyPr wrap="square">
            <a:spAutoFit/>
          </a:bodyPr>
          <a:lstStyle/>
          <a:p>
            <a:pPr algn="l"/>
            <a:r>
              <a:rPr sz="1000" b="0" i="0">
                <a:solidFill>
                  <a:srgbClr val="E0E0E0"/>
                </a:solidFill>
              </a:rPr>
              <a:t>Mild heteroscedasticity — addressed by HC3 robust SE</a:t>
            </a:r>
          </a:p>
        </p:txBody>
      </p:sp>
      <p:sp>
        <p:nvSpPr>
          <p:cNvPr id="17" name="TextBox 16"/>
          <p:cNvSpPr txBox="1"/>
          <p:nvPr/>
        </p:nvSpPr>
        <p:spPr>
          <a:xfrm>
            <a:off x="8961120" y="4462272"/>
            <a:ext cx="1645920" cy="274320"/>
          </a:xfrm>
          <a:prstGeom prst="rect">
            <a:avLst/>
          </a:prstGeom>
          <a:noFill/>
        </p:spPr>
        <p:txBody>
          <a:bodyPr wrap="square">
            <a:spAutoFit/>
          </a:bodyPr>
          <a:lstStyle/>
          <a:p>
            <a:pPr algn="l"/>
            <a:r>
              <a:rPr sz="1100" b="1" i="0">
                <a:solidFill>
                  <a:srgbClr val="5AE68A"/>
                </a:solidFill>
              </a:rPr>
              <a:t>●  Influence</a:t>
            </a:r>
          </a:p>
        </p:txBody>
      </p:sp>
      <p:sp>
        <p:nvSpPr>
          <p:cNvPr id="18" name="TextBox 17"/>
          <p:cNvSpPr txBox="1"/>
          <p:nvPr/>
        </p:nvSpPr>
        <p:spPr>
          <a:xfrm>
            <a:off x="8961120" y="4736592"/>
            <a:ext cx="2926080" cy="292608"/>
          </a:xfrm>
          <a:prstGeom prst="rect">
            <a:avLst/>
          </a:prstGeom>
          <a:noFill/>
        </p:spPr>
        <p:txBody>
          <a:bodyPr wrap="square">
            <a:spAutoFit/>
          </a:bodyPr>
          <a:lstStyle/>
          <a:p>
            <a:pPr algn="l"/>
            <a:r>
              <a:rPr sz="1000" b="0" i="0">
                <a:solidFill>
                  <a:srgbClr val="E0E0E0"/>
                </a:solidFill>
              </a:rPr>
              <a:t>N=88,546 — no single influential point</a:t>
            </a:r>
          </a:p>
        </p:txBody>
      </p:sp>
      <p:sp>
        <p:nvSpPr>
          <p:cNvPr id="19" name="TextBox 18"/>
          <p:cNvSpPr txBox="1"/>
          <p:nvPr/>
        </p:nvSpPr>
        <p:spPr>
          <a:xfrm>
            <a:off x="8915400" y="5852160"/>
            <a:ext cx="3017520" cy="502920"/>
          </a:xfrm>
          <a:prstGeom prst="rect">
            <a:avLst/>
          </a:prstGeom>
          <a:noFill/>
        </p:spPr>
        <p:txBody>
          <a:bodyPr wrap="square">
            <a:spAutoFit/>
          </a:bodyPr>
          <a:lstStyle/>
          <a:p>
            <a:pPr algn="l"/>
            <a:r>
              <a:rPr sz="1100" b="1" i="0">
                <a:solidFill>
                  <a:srgbClr val="5AE68A"/>
                </a:solidFill>
              </a:rPr>
              <a:t>VERDICT: Assumptions reasonably met for
large-sample survey regression.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F7975A"/>
                </a:solidFill>
              </a:rPr>
              <a:t>PHASE 8.9  —  KEY FINDINGS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What the Data Tells Us</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1274552" cy="868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457200" cy="868680"/>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54480"/>
            <a:ext cx="320040" cy="457200"/>
          </a:xfrm>
          <a:prstGeom prst="rect">
            <a:avLst/>
          </a:prstGeom>
          <a:noFill/>
        </p:spPr>
        <p:txBody>
          <a:bodyPr wrap="square">
            <a:spAutoFit/>
          </a:bodyPr>
          <a:lstStyle/>
          <a:p>
            <a:pPr algn="ctr"/>
            <a:r>
              <a:rPr sz="2000" b="1" i="0">
                <a:solidFill>
                  <a:srgbClr val="FFFFFF"/>
                </a:solidFill>
              </a:rPr>
              <a:t>1</a:t>
            </a:r>
          </a:p>
        </p:txBody>
      </p:sp>
      <p:sp>
        <p:nvSpPr>
          <p:cNvPr id="9" name="TextBox 8"/>
          <p:cNvSpPr txBox="1"/>
          <p:nvPr/>
        </p:nvSpPr>
        <p:spPr>
          <a:xfrm>
            <a:off x="1005840" y="1435608"/>
            <a:ext cx="5029200" cy="320040"/>
          </a:xfrm>
          <a:prstGeom prst="rect">
            <a:avLst/>
          </a:prstGeom>
          <a:noFill/>
        </p:spPr>
        <p:txBody>
          <a:bodyPr wrap="square">
            <a:spAutoFit/>
          </a:bodyPr>
          <a:lstStyle/>
          <a:p>
            <a:pPr algn="l"/>
            <a:r>
              <a:rPr sz="1300" b="1" i="0">
                <a:solidFill>
                  <a:srgbClr val="F7975A"/>
                </a:solidFill>
              </a:rPr>
              <a:t>Financial well-being is the dominant predictor</a:t>
            </a:r>
          </a:p>
        </p:txBody>
      </p:sp>
      <p:sp>
        <p:nvSpPr>
          <p:cNvPr id="10" name="TextBox 9"/>
          <p:cNvSpPr txBox="1"/>
          <p:nvPr/>
        </p:nvSpPr>
        <p:spPr>
          <a:xfrm>
            <a:off x="1005840" y="1810512"/>
            <a:ext cx="10515600" cy="320040"/>
          </a:xfrm>
          <a:prstGeom prst="rect">
            <a:avLst/>
          </a:prstGeom>
          <a:noFill/>
        </p:spPr>
        <p:txBody>
          <a:bodyPr wrap="square">
            <a:spAutoFit/>
          </a:bodyPr>
          <a:lstStyle/>
          <a:p>
            <a:pPr algn="l"/>
            <a:r>
              <a:rPr sz="1100" b="0" i="0">
                <a:solidFill>
                  <a:srgbClr val="E0E0E0"/>
                </a:solidFill>
              </a:rPr>
              <a:t>β_std = +1.26  —  Adding wealth proxies raises R² from 0.046 to 0.320 (ΔR² = +0.274)</a:t>
            </a:r>
          </a:p>
        </p:txBody>
      </p:sp>
      <p:sp>
        <p:nvSpPr>
          <p:cNvPr id="11" name="Rectangle 10"/>
          <p:cNvSpPr/>
          <p:nvPr/>
        </p:nvSpPr>
        <p:spPr>
          <a:xfrm>
            <a:off x="457200" y="2313432"/>
            <a:ext cx="11274552" cy="868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313432"/>
            <a:ext cx="457200" cy="868680"/>
          </a:xfrm>
          <a:prstGeom prst="rect">
            <a:avLst/>
          </a:prstGeom>
          <a:solidFill>
            <a:srgbClr val="F7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96312"/>
            <a:ext cx="320040" cy="457200"/>
          </a:xfrm>
          <a:prstGeom prst="rect">
            <a:avLst/>
          </a:prstGeom>
          <a:noFill/>
        </p:spPr>
        <p:txBody>
          <a:bodyPr wrap="square">
            <a:spAutoFit/>
          </a:bodyPr>
          <a:lstStyle/>
          <a:p>
            <a:pPr algn="ctr"/>
            <a:r>
              <a:rPr sz="2000" b="1" i="0">
                <a:solidFill>
                  <a:srgbClr val="FFFFFF"/>
                </a:solidFill>
              </a:rPr>
              <a:t>2</a:t>
            </a:r>
          </a:p>
        </p:txBody>
      </p:sp>
      <p:sp>
        <p:nvSpPr>
          <p:cNvPr id="14" name="TextBox 13"/>
          <p:cNvSpPr txBox="1"/>
          <p:nvPr/>
        </p:nvSpPr>
        <p:spPr>
          <a:xfrm>
            <a:off x="1005840" y="2377440"/>
            <a:ext cx="5029200" cy="320040"/>
          </a:xfrm>
          <a:prstGeom prst="rect">
            <a:avLst/>
          </a:prstGeom>
          <a:noFill/>
        </p:spPr>
        <p:txBody>
          <a:bodyPr wrap="square">
            <a:spAutoFit/>
          </a:bodyPr>
          <a:lstStyle/>
          <a:p>
            <a:pPr algn="l"/>
            <a:r>
              <a:rPr sz="1300" b="1" i="0">
                <a:solidFill>
                  <a:srgbClr val="F75A5A"/>
                </a:solidFill>
              </a:rPr>
              <a:t>Unemployment carries a well-being penalty beyond income</a:t>
            </a:r>
          </a:p>
        </p:txBody>
      </p:sp>
      <p:sp>
        <p:nvSpPr>
          <p:cNvPr id="15" name="TextBox 14"/>
          <p:cNvSpPr txBox="1"/>
          <p:nvPr/>
        </p:nvSpPr>
        <p:spPr>
          <a:xfrm>
            <a:off x="1005840" y="2752344"/>
            <a:ext cx="10515600" cy="320040"/>
          </a:xfrm>
          <a:prstGeom prst="rect">
            <a:avLst/>
          </a:prstGeom>
          <a:noFill/>
        </p:spPr>
        <p:txBody>
          <a:bodyPr wrap="square">
            <a:spAutoFit/>
          </a:bodyPr>
          <a:lstStyle/>
          <a:p>
            <a:pPr algn="l"/>
            <a:r>
              <a:rPr sz="1100" b="0" i="0">
                <a:solidFill>
                  <a:srgbClr val="E0E0E0"/>
                </a:solidFill>
              </a:rPr>
              <a:t>β = −0.147  —  13× larger than income coefficient  —  independent of income</a:t>
            </a:r>
          </a:p>
        </p:txBody>
      </p:sp>
      <p:sp>
        <p:nvSpPr>
          <p:cNvPr id="16" name="Rectangle 15"/>
          <p:cNvSpPr/>
          <p:nvPr/>
        </p:nvSpPr>
        <p:spPr>
          <a:xfrm>
            <a:off x="457200" y="3255264"/>
            <a:ext cx="11274552" cy="868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255264"/>
            <a:ext cx="457200" cy="868680"/>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438144"/>
            <a:ext cx="320040" cy="457200"/>
          </a:xfrm>
          <a:prstGeom prst="rect">
            <a:avLst/>
          </a:prstGeom>
          <a:noFill/>
        </p:spPr>
        <p:txBody>
          <a:bodyPr wrap="square">
            <a:spAutoFit/>
          </a:bodyPr>
          <a:lstStyle/>
          <a:p>
            <a:pPr algn="ctr"/>
            <a:r>
              <a:rPr sz="2000" b="1" i="0">
                <a:solidFill>
                  <a:srgbClr val="FFFFFF"/>
                </a:solidFill>
              </a:rPr>
              <a:t>3</a:t>
            </a:r>
          </a:p>
        </p:txBody>
      </p:sp>
      <p:sp>
        <p:nvSpPr>
          <p:cNvPr id="19" name="TextBox 18"/>
          <p:cNvSpPr txBox="1"/>
          <p:nvPr/>
        </p:nvSpPr>
        <p:spPr>
          <a:xfrm>
            <a:off x="1005840" y="3319272"/>
            <a:ext cx="5029200" cy="320040"/>
          </a:xfrm>
          <a:prstGeom prst="rect">
            <a:avLst/>
          </a:prstGeom>
          <a:noFill/>
        </p:spPr>
        <p:txBody>
          <a:bodyPr wrap="square">
            <a:spAutoFit/>
          </a:bodyPr>
          <a:lstStyle/>
          <a:p>
            <a:pPr algn="l"/>
            <a:r>
              <a:rPr sz="1300" b="1" i="0">
                <a:solidFill>
                  <a:srgbClr val="3FC1C9"/>
                </a:solidFill>
              </a:rPr>
              <a:t>Income is positively but modestly associated</a:t>
            </a:r>
          </a:p>
        </p:txBody>
      </p:sp>
      <p:sp>
        <p:nvSpPr>
          <p:cNvPr id="20" name="TextBox 19"/>
          <p:cNvSpPr txBox="1"/>
          <p:nvPr/>
        </p:nvSpPr>
        <p:spPr>
          <a:xfrm>
            <a:off x="1005840" y="3694176"/>
            <a:ext cx="10515600" cy="320040"/>
          </a:xfrm>
          <a:prstGeom prst="rect">
            <a:avLst/>
          </a:prstGeom>
          <a:noFill/>
        </p:spPr>
        <p:txBody>
          <a:bodyPr wrap="square">
            <a:spAutoFit/>
          </a:bodyPr>
          <a:lstStyle/>
          <a:p>
            <a:pPr algn="l"/>
            <a:r>
              <a:rPr sz="1100" b="0" i="0">
                <a:solidFill>
                  <a:srgbClr val="E0E0E0"/>
                </a:solidFill>
              </a:rPr>
              <a:t>β = +0.011  —  Mean LS rises 6.38 → 8.33 across income deciles</a:t>
            </a:r>
          </a:p>
        </p:txBody>
      </p:sp>
      <p:sp>
        <p:nvSpPr>
          <p:cNvPr id="21" name="Rectangle 20"/>
          <p:cNvSpPr/>
          <p:nvPr/>
        </p:nvSpPr>
        <p:spPr>
          <a:xfrm>
            <a:off x="457200" y="4197096"/>
            <a:ext cx="11274552" cy="868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197096"/>
            <a:ext cx="457200" cy="868680"/>
          </a:xfrm>
          <a:prstGeom prst="rect">
            <a:avLst/>
          </a:prstGeom>
          <a:solidFill>
            <a:srgbClr val="5A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379976"/>
            <a:ext cx="320040" cy="457200"/>
          </a:xfrm>
          <a:prstGeom prst="rect">
            <a:avLst/>
          </a:prstGeom>
          <a:noFill/>
        </p:spPr>
        <p:txBody>
          <a:bodyPr wrap="square">
            <a:spAutoFit/>
          </a:bodyPr>
          <a:lstStyle/>
          <a:p>
            <a:pPr algn="ctr"/>
            <a:r>
              <a:rPr sz="2000" b="1" i="0">
                <a:solidFill>
                  <a:srgbClr val="FFFFFF"/>
                </a:solidFill>
              </a:rPr>
              <a:t>4</a:t>
            </a:r>
          </a:p>
        </p:txBody>
      </p:sp>
      <p:sp>
        <p:nvSpPr>
          <p:cNvPr id="24" name="TextBox 23"/>
          <p:cNvSpPr txBox="1"/>
          <p:nvPr/>
        </p:nvSpPr>
        <p:spPr>
          <a:xfrm>
            <a:off x="1005840" y="4261104"/>
            <a:ext cx="5029200" cy="320040"/>
          </a:xfrm>
          <a:prstGeom prst="rect">
            <a:avLst/>
          </a:prstGeom>
          <a:noFill/>
        </p:spPr>
        <p:txBody>
          <a:bodyPr wrap="square">
            <a:spAutoFit/>
          </a:bodyPr>
          <a:lstStyle/>
          <a:p>
            <a:pPr algn="l"/>
            <a:r>
              <a:rPr sz="1300" b="1" i="0">
                <a:solidFill>
                  <a:srgbClr val="5AE68A"/>
                </a:solidFill>
              </a:rPr>
              <a:t>Education's direct effect is partially mediated</a:t>
            </a:r>
          </a:p>
        </p:txBody>
      </p:sp>
      <p:sp>
        <p:nvSpPr>
          <p:cNvPr id="25" name="TextBox 24"/>
          <p:cNvSpPr txBox="1"/>
          <p:nvPr/>
        </p:nvSpPr>
        <p:spPr>
          <a:xfrm>
            <a:off x="1005840" y="4636008"/>
            <a:ext cx="10515600" cy="320040"/>
          </a:xfrm>
          <a:prstGeom prst="rect">
            <a:avLst/>
          </a:prstGeom>
          <a:noFill/>
        </p:spPr>
        <p:txBody>
          <a:bodyPr wrap="square">
            <a:spAutoFit/>
          </a:bodyPr>
          <a:lstStyle/>
          <a:p>
            <a:pPr algn="l"/>
            <a:r>
              <a:rPr sz="1100" b="0" i="0">
                <a:solidFill>
                  <a:srgbClr val="E0E0E0"/>
                </a:solidFill>
              </a:rPr>
              <a:t>Bivariate: positive. Controlled: small (operates via income &amp; social class)</a:t>
            </a:r>
          </a:p>
        </p:txBody>
      </p:sp>
      <p:sp>
        <p:nvSpPr>
          <p:cNvPr id="26" name="Rectangle 25"/>
          <p:cNvSpPr/>
          <p:nvPr/>
        </p:nvSpPr>
        <p:spPr>
          <a:xfrm>
            <a:off x="457200" y="5138928"/>
            <a:ext cx="11274552" cy="868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138928"/>
            <a:ext cx="457200" cy="868680"/>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5321808"/>
            <a:ext cx="320040" cy="457200"/>
          </a:xfrm>
          <a:prstGeom prst="rect">
            <a:avLst/>
          </a:prstGeom>
          <a:noFill/>
        </p:spPr>
        <p:txBody>
          <a:bodyPr wrap="square">
            <a:spAutoFit/>
          </a:bodyPr>
          <a:lstStyle/>
          <a:p>
            <a:pPr algn="ctr"/>
            <a:r>
              <a:rPr sz="2000" b="1" i="0">
                <a:solidFill>
                  <a:srgbClr val="FFFFFF"/>
                </a:solidFill>
              </a:rPr>
              <a:t>5</a:t>
            </a:r>
          </a:p>
        </p:txBody>
      </p:sp>
      <p:sp>
        <p:nvSpPr>
          <p:cNvPr id="29" name="TextBox 28"/>
          <p:cNvSpPr txBox="1"/>
          <p:nvPr/>
        </p:nvSpPr>
        <p:spPr>
          <a:xfrm>
            <a:off x="1005840" y="5202936"/>
            <a:ext cx="5029200" cy="320040"/>
          </a:xfrm>
          <a:prstGeom prst="rect">
            <a:avLst/>
          </a:prstGeom>
          <a:noFill/>
        </p:spPr>
        <p:txBody>
          <a:bodyPr wrap="square">
            <a:spAutoFit/>
          </a:bodyPr>
          <a:lstStyle/>
          <a:p>
            <a:pPr algn="l"/>
            <a:r>
              <a:rPr sz="1300" b="1" i="0">
                <a:solidFill>
                  <a:srgbClr val="7C6AF7"/>
                </a:solidFill>
              </a:rPr>
              <a:t>Socioeconomic factors explain ~32% of variance</a:t>
            </a:r>
          </a:p>
        </p:txBody>
      </p:sp>
      <p:sp>
        <p:nvSpPr>
          <p:cNvPr id="30" name="TextBox 29"/>
          <p:cNvSpPr txBox="1"/>
          <p:nvPr/>
        </p:nvSpPr>
        <p:spPr>
          <a:xfrm>
            <a:off x="1005840" y="5577840"/>
            <a:ext cx="10515600" cy="320040"/>
          </a:xfrm>
          <a:prstGeom prst="rect">
            <a:avLst/>
          </a:prstGeom>
          <a:noFill/>
        </p:spPr>
        <p:txBody>
          <a:bodyPr wrap="square">
            <a:spAutoFit/>
          </a:bodyPr>
          <a:lstStyle/>
          <a:p>
            <a:pPr algn="l"/>
            <a:r>
              <a:rPr sz="1100" b="0" i="0">
                <a:solidFill>
                  <a:srgbClr val="E0E0E0"/>
                </a:solidFill>
              </a:rPr>
              <a:t>R² = 0.320  —  Remaining ~68% = personality, health, relationships, culture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4008" cy="6858000"/>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972800" cy="365760"/>
          </a:xfrm>
          <a:prstGeom prst="rect">
            <a:avLst/>
          </a:prstGeom>
          <a:noFill/>
        </p:spPr>
        <p:txBody>
          <a:bodyPr wrap="square">
            <a:spAutoFit/>
          </a:bodyPr>
          <a:lstStyle/>
          <a:p>
            <a:pPr algn="l"/>
            <a:r>
              <a:rPr sz="1200" b="1" i="0">
                <a:solidFill>
                  <a:srgbClr val="3FC1C9"/>
                </a:solidFill>
              </a:rPr>
              <a:t>CONCLUSION</a:t>
            </a:r>
          </a:p>
        </p:txBody>
      </p:sp>
      <p:sp>
        <p:nvSpPr>
          <p:cNvPr id="5" name="TextBox 4"/>
          <p:cNvSpPr txBox="1"/>
          <p:nvPr/>
        </p:nvSpPr>
        <p:spPr>
          <a:xfrm>
            <a:off x="548640" y="868680"/>
            <a:ext cx="10972800" cy="548640"/>
          </a:xfrm>
          <a:prstGeom prst="rect">
            <a:avLst/>
          </a:prstGeom>
          <a:noFill/>
        </p:spPr>
        <p:txBody>
          <a:bodyPr wrap="square">
            <a:spAutoFit/>
          </a:bodyPr>
          <a:lstStyle/>
          <a:p>
            <a:pPr algn="l"/>
            <a:r>
              <a:rPr sz="2800" b="1" i="0">
                <a:solidFill>
                  <a:srgbClr val="FFFFFF"/>
                </a:solidFill>
              </a:rPr>
              <a:t>Answering the Research Question</a:t>
            </a:r>
          </a:p>
        </p:txBody>
      </p:sp>
      <p:sp>
        <p:nvSpPr>
          <p:cNvPr id="6" name="Rectangle 5"/>
          <p:cNvSpPr/>
          <p:nvPr/>
        </p:nvSpPr>
        <p:spPr>
          <a:xfrm>
            <a:off x="548640" y="1508760"/>
            <a:ext cx="10515600" cy="36576"/>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10972800" cy="685800"/>
          </a:xfrm>
          <a:prstGeom prst="rect">
            <a:avLst/>
          </a:prstGeom>
          <a:noFill/>
        </p:spPr>
        <p:txBody>
          <a:bodyPr wrap="square">
            <a:spAutoFit/>
          </a:bodyPr>
          <a:lstStyle/>
          <a:p>
            <a:pPr algn="l"/>
            <a:r>
              <a:rPr sz="1700" b="0" i="1">
                <a:solidFill>
                  <a:srgbClr val="B0B0B0"/>
                </a:solidFill>
              </a:rPr>
              <a:t>“How strongly are income, education, employment, and wealth
associated with life satisfaction?”</a:t>
            </a:r>
          </a:p>
        </p:txBody>
      </p:sp>
      <p:sp>
        <p:nvSpPr>
          <p:cNvPr id="8" name="Rectangle 7"/>
          <p:cNvSpPr/>
          <p:nvPr/>
        </p:nvSpPr>
        <p:spPr>
          <a:xfrm>
            <a:off x="548640" y="2514600"/>
            <a:ext cx="10515600" cy="7315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4008" cy="731520"/>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87752"/>
            <a:ext cx="1371600" cy="274320"/>
          </a:xfrm>
          <a:prstGeom prst="rect">
            <a:avLst/>
          </a:prstGeom>
          <a:noFill/>
        </p:spPr>
        <p:txBody>
          <a:bodyPr wrap="square">
            <a:spAutoFit/>
          </a:bodyPr>
          <a:lstStyle/>
          <a:p>
            <a:pPr algn="l"/>
            <a:r>
              <a:rPr sz="1300" b="1" i="0">
                <a:solidFill>
                  <a:srgbClr val="F7975A"/>
                </a:solidFill>
              </a:rPr>
              <a:t>WEALTH</a:t>
            </a:r>
          </a:p>
        </p:txBody>
      </p:sp>
      <p:sp>
        <p:nvSpPr>
          <p:cNvPr id="11" name="TextBox 10"/>
          <p:cNvSpPr txBox="1"/>
          <p:nvPr/>
        </p:nvSpPr>
        <p:spPr>
          <a:xfrm>
            <a:off x="2286000" y="2587752"/>
            <a:ext cx="1645920" cy="274320"/>
          </a:xfrm>
          <a:prstGeom prst="rect">
            <a:avLst/>
          </a:prstGeom>
          <a:noFill/>
        </p:spPr>
        <p:txBody>
          <a:bodyPr wrap="square">
            <a:spAutoFit/>
          </a:bodyPr>
          <a:lstStyle/>
          <a:p>
            <a:pPr algn="l"/>
            <a:r>
              <a:rPr sz="1300" b="1" i="0">
                <a:solidFill>
                  <a:srgbClr val="FFFFFF"/>
                </a:solidFill>
              </a:rPr>
              <a:t>+1.26 β_std</a:t>
            </a:r>
          </a:p>
        </p:txBody>
      </p:sp>
      <p:sp>
        <p:nvSpPr>
          <p:cNvPr id="12" name="TextBox 11"/>
          <p:cNvSpPr txBox="1"/>
          <p:nvPr/>
        </p:nvSpPr>
        <p:spPr>
          <a:xfrm>
            <a:off x="4023360" y="2587752"/>
            <a:ext cx="6858000" cy="502920"/>
          </a:xfrm>
          <a:prstGeom prst="rect">
            <a:avLst/>
          </a:prstGeom>
          <a:noFill/>
        </p:spPr>
        <p:txBody>
          <a:bodyPr wrap="square">
            <a:spAutoFit/>
          </a:bodyPr>
          <a:lstStyle/>
          <a:p>
            <a:pPr algn="l"/>
            <a:r>
              <a:rPr sz="1100" b="0" i="0">
                <a:solidFill>
                  <a:srgbClr val="E0E0E0"/>
                </a:solidFill>
              </a:rPr>
              <a:t>Dominant factor — subjective financial well-being far outweighs income rank</a:t>
            </a:r>
          </a:p>
        </p:txBody>
      </p:sp>
      <p:sp>
        <p:nvSpPr>
          <p:cNvPr id="13" name="Rectangle 12"/>
          <p:cNvSpPr/>
          <p:nvPr/>
        </p:nvSpPr>
        <p:spPr>
          <a:xfrm>
            <a:off x="548640" y="3319272"/>
            <a:ext cx="10515600" cy="7315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319272"/>
            <a:ext cx="64008" cy="731520"/>
          </a:xfrm>
          <a:prstGeom prst="rect">
            <a:avLst/>
          </a:prstGeom>
          <a:solidFill>
            <a:srgbClr val="F7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92424"/>
            <a:ext cx="1371600" cy="274320"/>
          </a:xfrm>
          <a:prstGeom prst="rect">
            <a:avLst/>
          </a:prstGeom>
          <a:noFill/>
        </p:spPr>
        <p:txBody>
          <a:bodyPr wrap="square">
            <a:spAutoFit/>
          </a:bodyPr>
          <a:lstStyle/>
          <a:p>
            <a:pPr algn="l"/>
            <a:r>
              <a:rPr sz="1300" b="1" i="0">
                <a:solidFill>
                  <a:srgbClr val="F75A5A"/>
                </a:solidFill>
              </a:rPr>
              <a:t>EMPLOYMENT</a:t>
            </a:r>
          </a:p>
        </p:txBody>
      </p:sp>
      <p:sp>
        <p:nvSpPr>
          <p:cNvPr id="16" name="TextBox 15"/>
          <p:cNvSpPr txBox="1"/>
          <p:nvPr/>
        </p:nvSpPr>
        <p:spPr>
          <a:xfrm>
            <a:off x="2286000" y="3392424"/>
            <a:ext cx="1645920" cy="274320"/>
          </a:xfrm>
          <a:prstGeom prst="rect">
            <a:avLst/>
          </a:prstGeom>
          <a:noFill/>
        </p:spPr>
        <p:txBody>
          <a:bodyPr wrap="square">
            <a:spAutoFit/>
          </a:bodyPr>
          <a:lstStyle/>
          <a:p>
            <a:pPr algn="l"/>
            <a:r>
              <a:rPr sz="1300" b="1" i="0">
                <a:solidFill>
                  <a:srgbClr val="FFFFFF"/>
                </a:solidFill>
              </a:rPr>
              <a:t>−0.147 β</a:t>
            </a:r>
          </a:p>
        </p:txBody>
      </p:sp>
      <p:sp>
        <p:nvSpPr>
          <p:cNvPr id="17" name="TextBox 16"/>
          <p:cNvSpPr txBox="1"/>
          <p:nvPr/>
        </p:nvSpPr>
        <p:spPr>
          <a:xfrm>
            <a:off x="4023360" y="3392424"/>
            <a:ext cx="6858000" cy="502920"/>
          </a:xfrm>
          <a:prstGeom prst="rect">
            <a:avLst/>
          </a:prstGeom>
          <a:noFill/>
        </p:spPr>
        <p:txBody>
          <a:bodyPr wrap="square">
            <a:spAutoFit/>
          </a:bodyPr>
          <a:lstStyle/>
          <a:p>
            <a:pPr algn="l"/>
            <a:r>
              <a:rPr sz="1100" b="0" i="0">
                <a:solidFill>
                  <a:srgbClr val="E0E0E0"/>
                </a:solidFill>
              </a:rPr>
              <a:t>Unemployment penalizes satisfaction independently of income</a:t>
            </a:r>
          </a:p>
        </p:txBody>
      </p:sp>
      <p:sp>
        <p:nvSpPr>
          <p:cNvPr id="18" name="Rectangle 17"/>
          <p:cNvSpPr/>
          <p:nvPr/>
        </p:nvSpPr>
        <p:spPr>
          <a:xfrm>
            <a:off x="548640" y="4123944"/>
            <a:ext cx="10515600" cy="7315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123944"/>
            <a:ext cx="64008" cy="731520"/>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197096"/>
            <a:ext cx="1371600" cy="274320"/>
          </a:xfrm>
          <a:prstGeom prst="rect">
            <a:avLst/>
          </a:prstGeom>
          <a:noFill/>
        </p:spPr>
        <p:txBody>
          <a:bodyPr wrap="square">
            <a:spAutoFit/>
          </a:bodyPr>
          <a:lstStyle/>
          <a:p>
            <a:pPr algn="l"/>
            <a:r>
              <a:rPr sz="1300" b="1" i="0">
                <a:solidFill>
                  <a:srgbClr val="3FC1C9"/>
                </a:solidFill>
              </a:rPr>
              <a:t>INCOME</a:t>
            </a:r>
          </a:p>
        </p:txBody>
      </p:sp>
      <p:sp>
        <p:nvSpPr>
          <p:cNvPr id="21" name="TextBox 20"/>
          <p:cNvSpPr txBox="1"/>
          <p:nvPr/>
        </p:nvSpPr>
        <p:spPr>
          <a:xfrm>
            <a:off x="2286000" y="4197096"/>
            <a:ext cx="1645920" cy="274320"/>
          </a:xfrm>
          <a:prstGeom prst="rect">
            <a:avLst/>
          </a:prstGeom>
          <a:noFill/>
        </p:spPr>
        <p:txBody>
          <a:bodyPr wrap="square">
            <a:spAutoFit/>
          </a:bodyPr>
          <a:lstStyle/>
          <a:p>
            <a:pPr algn="l"/>
            <a:r>
              <a:rPr sz="1300" b="1" i="0">
                <a:solidFill>
                  <a:srgbClr val="FFFFFF"/>
                </a:solidFill>
              </a:rPr>
              <a:t>+0.023 β_std</a:t>
            </a:r>
          </a:p>
        </p:txBody>
      </p:sp>
      <p:sp>
        <p:nvSpPr>
          <p:cNvPr id="22" name="TextBox 21"/>
          <p:cNvSpPr txBox="1"/>
          <p:nvPr/>
        </p:nvSpPr>
        <p:spPr>
          <a:xfrm>
            <a:off x="4023360" y="4197096"/>
            <a:ext cx="6858000" cy="502920"/>
          </a:xfrm>
          <a:prstGeom prst="rect">
            <a:avLst/>
          </a:prstGeom>
          <a:noFill/>
        </p:spPr>
        <p:txBody>
          <a:bodyPr wrap="square">
            <a:spAutoFit/>
          </a:bodyPr>
          <a:lstStyle/>
          <a:p>
            <a:pPr algn="l"/>
            <a:r>
              <a:rPr sz="1100" b="0" i="0">
                <a:solidFill>
                  <a:srgbClr val="E0E0E0"/>
                </a:solidFill>
              </a:rPr>
              <a:t>Positively associated but modest; 1.95-point LS spread across deciles</a:t>
            </a:r>
          </a:p>
        </p:txBody>
      </p:sp>
      <p:sp>
        <p:nvSpPr>
          <p:cNvPr id="23" name="Rectangle 22"/>
          <p:cNvSpPr/>
          <p:nvPr/>
        </p:nvSpPr>
        <p:spPr>
          <a:xfrm>
            <a:off x="548640" y="4928616"/>
            <a:ext cx="10515600" cy="73152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928616"/>
            <a:ext cx="64008" cy="731520"/>
          </a:xfrm>
          <a:prstGeom prst="rect">
            <a:avLst/>
          </a:prstGeom>
          <a:solidFill>
            <a:srgbClr val="5A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001768"/>
            <a:ext cx="1371600" cy="274320"/>
          </a:xfrm>
          <a:prstGeom prst="rect">
            <a:avLst/>
          </a:prstGeom>
          <a:noFill/>
        </p:spPr>
        <p:txBody>
          <a:bodyPr wrap="square">
            <a:spAutoFit/>
          </a:bodyPr>
          <a:lstStyle/>
          <a:p>
            <a:pPr algn="l"/>
            <a:r>
              <a:rPr sz="1300" b="1" i="0">
                <a:solidFill>
                  <a:srgbClr val="5AE68A"/>
                </a:solidFill>
              </a:rPr>
              <a:t>EDUCATION</a:t>
            </a:r>
          </a:p>
        </p:txBody>
      </p:sp>
      <p:sp>
        <p:nvSpPr>
          <p:cNvPr id="26" name="TextBox 25"/>
          <p:cNvSpPr txBox="1"/>
          <p:nvPr/>
        </p:nvSpPr>
        <p:spPr>
          <a:xfrm>
            <a:off x="2286000" y="5001768"/>
            <a:ext cx="1645920" cy="274320"/>
          </a:xfrm>
          <a:prstGeom prst="rect">
            <a:avLst/>
          </a:prstGeom>
          <a:noFill/>
        </p:spPr>
        <p:txBody>
          <a:bodyPr wrap="square">
            <a:spAutoFit/>
          </a:bodyPr>
          <a:lstStyle/>
          <a:p>
            <a:pPr algn="l"/>
            <a:r>
              <a:rPr sz="1300" b="1" i="0">
                <a:solidFill>
                  <a:srgbClr val="FFFFFF"/>
                </a:solidFill>
              </a:rPr>
              <a:t>Partial</a:t>
            </a:r>
          </a:p>
        </p:txBody>
      </p:sp>
      <p:sp>
        <p:nvSpPr>
          <p:cNvPr id="27" name="TextBox 26"/>
          <p:cNvSpPr txBox="1"/>
          <p:nvPr/>
        </p:nvSpPr>
        <p:spPr>
          <a:xfrm>
            <a:off x="4023360" y="5001768"/>
            <a:ext cx="6858000" cy="502920"/>
          </a:xfrm>
          <a:prstGeom prst="rect">
            <a:avLst/>
          </a:prstGeom>
          <a:noFill/>
        </p:spPr>
        <p:txBody>
          <a:bodyPr wrap="square">
            <a:spAutoFit/>
          </a:bodyPr>
          <a:lstStyle/>
          <a:p>
            <a:pPr algn="l"/>
            <a:r>
              <a:rPr sz="1100" b="0" i="0">
                <a:solidFill>
                  <a:srgbClr val="E0E0E0"/>
                </a:solidFill>
              </a:rPr>
              <a:t>Direct effect smaller; partly mediated through income &amp; social class</a:t>
            </a:r>
          </a:p>
        </p:txBody>
      </p:sp>
      <p:sp>
        <p:nvSpPr>
          <p:cNvPr id="28" name="Rectangle 27"/>
          <p:cNvSpPr/>
          <p:nvPr/>
        </p:nvSpPr>
        <p:spPr>
          <a:xfrm>
            <a:off x="548640" y="5852160"/>
            <a:ext cx="10515600" cy="6858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961888"/>
            <a:ext cx="10241280" cy="502920"/>
          </a:xfrm>
          <a:prstGeom prst="rect">
            <a:avLst/>
          </a:prstGeom>
          <a:noFill/>
        </p:spPr>
        <p:txBody>
          <a:bodyPr wrap="square">
            <a:spAutoFit/>
          </a:bodyPr>
          <a:lstStyle/>
          <a:p>
            <a:pPr algn="l"/>
            <a:r>
              <a:rPr sz="1200" b="0" i="1">
                <a:solidFill>
                  <a:srgbClr val="E0E0E0"/>
                </a:solidFill>
              </a:rPr>
              <a:t>Together: R² = 0.32 — Socioeconomic factors explain ~32% of life satisfaction. The remaining ~68% lies in personality, health, relationships, culture, and meaning.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7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320040"/>
          </a:xfrm>
          <a:prstGeom prst="rect">
            <a:avLst/>
          </a:prstGeom>
          <a:noFill/>
        </p:spPr>
        <p:txBody>
          <a:bodyPr wrap="square">
            <a:spAutoFit/>
          </a:bodyPr>
          <a:lstStyle/>
          <a:p>
            <a:pPr algn="l"/>
            <a:r>
              <a:rPr sz="1100" b="1" i="0">
                <a:solidFill>
                  <a:srgbClr val="F75A5A"/>
                </a:solidFill>
              </a:rPr>
              <a:t>LIMITATIONS</a:t>
            </a:r>
          </a:p>
        </p:txBody>
      </p:sp>
      <p:sp>
        <p:nvSpPr>
          <p:cNvPr id="4" name="TextBox 3"/>
          <p:cNvSpPr txBox="1"/>
          <p:nvPr/>
        </p:nvSpPr>
        <p:spPr>
          <a:xfrm>
            <a:off x="457200" y="502920"/>
            <a:ext cx="11247120" cy="640080"/>
          </a:xfrm>
          <a:prstGeom prst="rect">
            <a:avLst/>
          </a:prstGeom>
          <a:noFill/>
        </p:spPr>
        <p:txBody>
          <a:bodyPr wrap="square">
            <a:spAutoFit/>
          </a:bodyPr>
          <a:lstStyle/>
          <a:p>
            <a:pPr algn="l"/>
            <a:r>
              <a:rPr sz="3400" b="1" i="0">
                <a:solidFill>
                  <a:srgbClr val="FFFFFF"/>
                </a:solidFill>
              </a:rPr>
              <a:t>What We Cannot Conclude</a:t>
            </a:r>
          </a:p>
        </p:txBody>
      </p:sp>
      <p:sp>
        <p:nvSpPr>
          <p:cNvPr id="5" name="Rectangle 4"/>
          <p:cNvSpPr/>
          <p:nvPr/>
        </p:nvSpPr>
        <p:spPr>
          <a:xfrm>
            <a:off x="457200" y="1188720"/>
            <a:ext cx="11274552" cy="22860"/>
          </a:xfrm>
          <a:prstGeom prst="rect">
            <a:avLst/>
          </a:prstGeom>
          <a:solidFill>
            <a:srgbClr val="3A3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11274552" cy="804672"/>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64008" cy="804672"/>
          </a:xfrm>
          <a:prstGeom prst="rect">
            <a:avLst/>
          </a:prstGeom>
          <a:solidFill>
            <a:srgbClr val="F7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81328"/>
            <a:ext cx="2103120" cy="274320"/>
          </a:xfrm>
          <a:prstGeom prst="rect">
            <a:avLst/>
          </a:prstGeom>
          <a:noFill/>
        </p:spPr>
        <p:txBody>
          <a:bodyPr wrap="square">
            <a:spAutoFit/>
          </a:bodyPr>
          <a:lstStyle/>
          <a:p>
            <a:pPr algn="l"/>
            <a:r>
              <a:rPr sz="1200" b="1" i="0">
                <a:solidFill>
                  <a:srgbClr val="F75A5A"/>
                </a:solidFill>
              </a:rPr>
              <a:t>No Causation</a:t>
            </a:r>
          </a:p>
        </p:txBody>
      </p:sp>
      <p:sp>
        <p:nvSpPr>
          <p:cNvPr id="9" name="TextBox 8"/>
          <p:cNvSpPr txBox="1"/>
          <p:nvPr/>
        </p:nvSpPr>
        <p:spPr>
          <a:xfrm>
            <a:off x="2834640" y="1481328"/>
            <a:ext cx="8686800" cy="594360"/>
          </a:xfrm>
          <a:prstGeom prst="rect">
            <a:avLst/>
          </a:prstGeom>
          <a:noFill/>
        </p:spPr>
        <p:txBody>
          <a:bodyPr wrap="square">
            <a:spAutoFit/>
          </a:bodyPr>
          <a:lstStyle/>
          <a:p>
            <a:pPr algn="l"/>
            <a:r>
              <a:rPr sz="1100" b="0" i="0">
                <a:solidFill>
                  <a:srgbClr val="E0E0E0"/>
                </a:solidFill>
              </a:rPr>
              <a:t>This is cross-sectional observational data. We measure associations, not causes. "Higher income causes happiness" cannot be concluded.</a:t>
            </a:r>
          </a:p>
        </p:txBody>
      </p:sp>
      <p:sp>
        <p:nvSpPr>
          <p:cNvPr id="10" name="Rectangle 9"/>
          <p:cNvSpPr/>
          <p:nvPr/>
        </p:nvSpPr>
        <p:spPr>
          <a:xfrm>
            <a:off x="457200" y="2304288"/>
            <a:ext cx="11274552" cy="804672"/>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04288"/>
            <a:ext cx="64008" cy="804672"/>
          </a:xfrm>
          <a:prstGeom prst="rect">
            <a:avLst/>
          </a:prstGeom>
          <a:solidFill>
            <a:srgbClr val="F79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368296"/>
            <a:ext cx="2103120" cy="274320"/>
          </a:xfrm>
          <a:prstGeom prst="rect">
            <a:avLst/>
          </a:prstGeom>
          <a:noFill/>
        </p:spPr>
        <p:txBody>
          <a:bodyPr wrap="square">
            <a:spAutoFit/>
          </a:bodyPr>
          <a:lstStyle/>
          <a:p>
            <a:pPr algn="l"/>
            <a:r>
              <a:rPr sz="1200" b="1" i="0">
                <a:solidFill>
                  <a:srgbClr val="F7975A"/>
                </a:solidFill>
              </a:rPr>
              <a:t>Reverse Causality</a:t>
            </a:r>
          </a:p>
        </p:txBody>
      </p:sp>
      <p:sp>
        <p:nvSpPr>
          <p:cNvPr id="13" name="TextBox 12"/>
          <p:cNvSpPr txBox="1"/>
          <p:nvPr/>
        </p:nvSpPr>
        <p:spPr>
          <a:xfrm>
            <a:off x="2834640" y="2368296"/>
            <a:ext cx="8686800" cy="594360"/>
          </a:xfrm>
          <a:prstGeom prst="rect">
            <a:avLst/>
          </a:prstGeom>
          <a:noFill/>
        </p:spPr>
        <p:txBody>
          <a:bodyPr wrap="square">
            <a:spAutoFit/>
          </a:bodyPr>
          <a:lstStyle/>
          <a:p>
            <a:pPr algn="l"/>
            <a:r>
              <a:rPr sz="1100" b="0" i="0">
                <a:solidFill>
                  <a:srgbClr val="E0E0E0"/>
                </a:solidFill>
              </a:rPr>
              <a:t>Financial satisfaction may reflect life satisfaction rather than predict it. Happy people may rate finances more positively.</a:t>
            </a:r>
          </a:p>
        </p:txBody>
      </p:sp>
      <p:sp>
        <p:nvSpPr>
          <p:cNvPr id="14" name="Rectangle 13"/>
          <p:cNvSpPr/>
          <p:nvPr/>
        </p:nvSpPr>
        <p:spPr>
          <a:xfrm>
            <a:off x="457200" y="3191256"/>
            <a:ext cx="11274552" cy="804672"/>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191256"/>
            <a:ext cx="64008" cy="804672"/>
          </a:xfrm>
          <a:prstGeom prst="rect">
            <a:avLst/>
          </a:prstGeom>
          <a:solidFill>
            <a:srgbClr val="3FC1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55264"/>
            <a:ext cx="2103120" cy="274320"/>
          </a:xfrm>
          <a:prstGeom prst="rect">
            <a:avLst/>
          </a:prstGeom>
          <a:noFill/>
        </p:spPr>
        <p:txBody>
          <a:bodyPr wrap="square">
            <a:spAutoFit/>
          </a:bodyPr>
          <a:lstStyle/>
          <a:p>
            <a:pPr algn="l"/>
            <a:r>
              <a:rPr sz="1200" b="1" i="0">
                <a:solidFill>
                  <a:srgbClr val="3FC1C9"/>
                </a:solidFill>
              </a:rPr>
              <a:t>Country Effects</a:t>
            </a:r>
          </a:p>
        </p:txBody>
      </p:sp>
      <p:sp>
        <p:nvSpPr>
          <p:cNvPr id="17" name="TextBox 16"/>
          <p:cNvSpPr txBox="1"/>
          <p:nvPr/>
        </p:nvSpPr>
        <p:spPr>
          <a:xfrm>
            <a:off x="2834640" y="3255264"/>
            <a:ext cx="8686800" cy="594360"/>
          </a:xfrm>
          <a:prstGeom prst="rect">
            <a:avLst/>
          </a:prstGeom>
          <a:noFill/>
        </p:spPr>
        <p:txBody>
          <a:bodyPr wrap="square">
            <a:spAutoFit/>
          </a:bodyPr>
          <a:lstStyle/>
          <a:p>
            <a:pPr algn="l"/>
            <a:r>
              <a:rPr sz="1100" b="0" i="0">
                <a:solidFill>
                  <a:srgbClr val="E0E0E0"/>
                </a:solidFill>
              </a:rPr>
              <a:t>66 countries are pooled without fixed effects. Between-country differences (culture, GDP) are unmodelled.</a:t>
            </a:r>
          </a:p>
        </p:txBody>
      </p:sp>
      <p:sp>
        <p:nvSpPr>
          <p:cNvPr id="18" name="Rectangle 17"/>
          <p:cNvSpPr/>
          <p:nvPr/>
        </p:nvSpPr>
        <p:spPr>
          <a:xfrm>
            <a:off x="457200" y="4078224"/>
            <a:ext cx="11274552" cy="804672"/>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078224"/>
            <a:ext cx="64008" cy="804672"/>
          </a:xfrm>
          <a:prstGeom prst="rect">
            <a:avLst/>
          </a:prstGeom>
          <a:solidFill>
            <a:srgbClr val="7C6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142232"/>
            <a:ext cx="2103120" cy="274320"/>
          </a:xfrm>
          <a:prstGeom prst="rect">
            <a:avLst/>
          </a:prstGeom>
          <a:noFill/>
        </p:spPr>
        <p:txBody>
          <a:bodyPr wrap="square">
            <a:spAutoFit/>
          </a:bodyPr>
          <a:lstStyle/>
          <a:p>
            <a:pPr algn="l"/>
            <a:r>
              <a:rPr sz="1200" b="1" i="0">
                <a:solidFill>
                  <a:srgbClr val="7C6AF7"/>
                </a:solidFill>
              </a:rPr>
              <a:t>No Direct Wealth</a:t>
            </a:r>
          </a:p>
        </p:txBody>
      </p:sp>
      <p:sp>
        <p:nvSpPr>
          <p:cNvPr id="21" name="TextBox 20"/>
          <p:cNvSpPr txBox="1"/>
          <p:nvPr/>
        </p:nvSpPr>
        <p:spPr>
          <a:xfrm>
            <a:off x="2834640" y="4142232"/>
            <a:ext cx="8686800" cy="594360"/>
          </a:xfrm>
          <a:prstGeom prst="rect">
            <a:avLst/>
          </a:prstGeom>
          <a:noFill/>
        </p:spPr>
        <p:txBody>
          <a:bodyPr wrap="square">
            <a:spAutoFit/>
          </a:bodyPr>
          <a:lstStyle/>
          <a:p>
            <a:pPr algn="l"/>
            <a:r>
              <a:rPr sz="1100" b="0" i="0">
                <a:solidFill>
                  <a:srgbClr val="E0E0E0"/>
                </a:solidFill>
              </a:rPr>
              <a:t>WVS Wave 7 has no monetary wealth variable. We used subjective proxies (social class, financial satisfaction).</a:t>
            </a:r>
          </a:p>
        </p:txBody>
      </p:sp>
      <p:sp>
        <p:nvSpPr>
          <p:cNvPr id="22" name="Rectangle 21"/>
          <p:cNvSpPr/>
          <p:nvPr/>
        </p:nvSpPr>
        <p:spPr>
          <a:xfrm>
            <a:off x="457200" y="4965192"/>
            <a:ext cx="11274552" cy="804672"/>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965192"/>
            <a:ext cx="64008" cy="804672"/>
          </a:xfrm>
          <a:prstGeom prst="rect">
            <a:avLst/>
          </a:prstGeom>
          <a:solidFill>
            <a:srgbClr val="B0B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029200"/>
            <a:ext cx="2103120" cy="274320"/>
          </a:xfrm>
          <a:prstGeom prst="rect">
            <a:avLst/>
          </a:prstGeom>
          <a:noFill/>
        </p:spPr>
        <p:txBody>
          <a:bodyPr wrap="square">
            <a:spAutoFit/>
          </a:bodyPr>
          <a:lstStyle/>
          <a:p>
            <a:pPr algn="l"/>
            <a:r>
              <a:rPr sz="1200" b="1" i="0">
                <a:solidFill>
                  <a:srgbClr val="B0B0B0"/>
                </a:solidFill>
              </a:rPr>
              <a:t>Omitted Variables</a:t>
            </a:r>
          </a:p>
        </p:txBody>
      </p:sp>
      <p:sp>
        <p:nvSpPr>
          <p:cNvPr id="25" name="TextBox 24"/>
          <p:cNvSpPr txBox="1"/>
          <p:nvPr/>
        </p:nvSpPr>
        <p:spPr>
          <a:xfrm>
            <a:off x="2834640" y="5029200"/>
            <a:ext cx="8686800" cy="594360"/>
          </a:xfrm>
          <a:prstGeom prst="rect">
            <a:avLst/>
          </a:prstGeom>
          <a:noFill/>
        </p:spPr>
        <p:txBody>
          <a:bodyPr wrap="square">
            <a:spAutoFit/>
          </a:bodyPr>
          <a:lstStyle/>
          <a:p>
            <a:pPr algn="l"/>
            <a:r>
              <a:rPr sz="1100" b="0" i="0">
                <a:solidFill>
                  <a:srgbClr val="E0E0E0"/>
                </a:solidFill>
              </a:rPr>
              <a:t>Health and relationships are known strong predictors of well-being but are not in this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